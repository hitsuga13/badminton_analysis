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f753145aaa41d6" /><Relationship Type="http://schemas.openxmlformats.org/officeDocument/2006/relationships/extended-properties" Target="/docProps/app.xml" Id="R209128487ba64058" /><Relationship Type="http://schemas.openxmlformats.org/officeDocument/2006/relationships/officeDocument" Target="/ppt/presentation.xml" Id="Ra7b69b5fee2d4e92" /></Relationships>
</file>

<file path=ppt/presentation.xml><?xml version="1.0" encoding="utf-8"?>
<p:presentation xmlns:p="http://schemas.openxmlformats.org/presentationml/2006/main">
  <p:sldMasterIdLst>
    <p:sldMasterId xmlns:r="http://schemas.openxmlformats.org/officeDocument/2006/relationships" id="2147483648" r:id="R2d56c7c46a4546d1"/>
  </p:sldMasterIdLst>
  <p:notesMasterIdLst>
    <p:notesMasterId xmlns:r="http://schemas.openxmlformats.org/officeDocument/2006/relationships" r:id="Ra356e444c1c64065"/>
  </p:notesMasterIdLst>
  <p:sldIdLst>
    <p:sldId xmlns:r="http://schemas.openxmlformats.org/officeDocument/2006/relationships" id="256" r:id="R037d836a3f9f4f6a"/>
    <p:sldId xmlns:r="http://schemas.openxmlformats.org/officeDocument/2006/relationships" id="257" r:id="Rf39aad5127234f9e"/>
    <p:sldId xmlns:r="http://schemas.openxmlformats.org/officeDocument/2006/relationships" id="258" r:id="R2863fd5e462c4f53"/>
    <p:sldId xmlns:r="http://schemas.openxmlformats.org/officeDocument/2006/relationships" id="259" r:id="Rfe68db74a34c409e"/>
    <p:sldId xmlns:r="http://schemas.openxmlformats.org/officeDocument/2006/relationships" id="260" r:id="Rc16f400316634fcf"/>
    <p:sldId xmlns:r="http://schemas.openxmlformats.org/officeDocument/2006/relationships" id="261" r:id="Rf197ce632f694c0e"/>
    <p:sldId xmlns:r="http://schemas.openxmlformats.org/officeDocument/2006/relationships" id="262" r:id="Rc66f73b5838c4c34"/>
    <p:sldId xmlns:r="http://schemas.openxmlformats.org/officeDocument/2006/relationships" id="263" r:id="Rebda55b7155b417c"/>
    <p:sldId xmlns:r="http://schemas.openxmlformats.org/officeDocument/2006/relationships" id="264" r:id="Re25305192e0341fd"/>
    <p:sldId xmlns:r="http://schemas.openxmlformats.org/officeDocument/2006/relationships" id="265" r:id="Rc039465b683f4086"/>
    <p:sldId xmlns:r="http://schemas.openxmlformats.org/officeDocument/2006/relationships" id="266" r:id="R328ed0f963ad429c"/>
    <p:sldId xmlns:r="http://schemas.openxmlformats.org/officeDocument/2006/relationships" id="267" r:id="R4bb1d73c6b1341b5"/>
    <p:sldId xmlns:r="http://schemas.openxmlformats.org/officeDocument/2006/relationships" id="268" r:id="R70d70ae281574709"/>
    <p:sldId xmlns:r="http://schemas.openxmlformats.org/officeDocument/2006/relationships" id="269" r:id="Rfc136d0f53b54cb8"/>
    <p:sldId xmlns:r="http://schemas.openxmlformats.org/officeDocument/2006/relationships" id="270" r:id="R8e6b073b6dad451d"/>
    <p:sldId xmlns:r="http://schemas.openxmlformats.org/officeDocument/2006/relationships" id="271" r:id="Rbd121e2b49ad424d"/>
    <p:sldId xmlns:r="http://schemas.openxmlformats.org/officeDocument/2006/relationships" id="272" r:id="Rd0da6738465e4b1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ec024bf303144a2" /><Relationship Type="http://schemas.openxmlformats.org/officeDocument/2006/relationships/slideMaster" Target="/ppt/slideMasters/slideMaster1.xml" Id="R2d56c7c46a4546d1" /><Relationship Type="http://schemas.openxmlformats.org/officeDocument/2006/relationships/notesMaster" Target="/ppt/notesMasters/notesMaster1.xml" Id="Ra356e444c1c64065" /><Relationship Type="http://schemas.openxmlformats.org/officeDocument/2006/relationships/presProps" Target="/ppt/presProps.xml" Id="Rcdcfb0ab157a40c5" /><Relationship Type="http://schemas.openxmlformats.org/officeDocument/2006/relationships/viewProps" Target="/ppt/viewProps.xml" Id="Rd5bdd65639a64786" /><Relationship Type="http://schemas.openxmlformats.org/officeDocument/2006/relationships/tableStyles" Target="/ppt/tableStyles.xml" Id="R983e5f5c020046f0" /><Relationship Type="http://schemas.openxmlformats.org/officeDocument/2006/relationships/slide" Target="/ppt/slides/slide1.xml" Id="R037d836a3f9f4f6a" /><Relationship Type="http://schemas.openxmlformats.org/officeDocument/2006/relationships/slide" Target="/ppt/slides/slide2.xml" Id="Rf39aad5127234f9e" /><Relationship Type="http://schemas.openxmlformats.org/officeDocument/2006/relationships/slide" Target="/ppt/slides/slide3.xml" Id="R2863fd5e462c4f53" /><Relationship Type="http://schemas.openxmlformats.org/officeDocument/2006/relationships/slide" Target="/ppt/slides/slide4.xml" Id="Rfe68db74a34c409e" /><Relationship Type="http://schemas.openxmlformats.org/officeDocument/2006/relationships/slide" Target="/ppt/slides/slide5.xml" Id="Rc16f400316634fcf" /><Relationship Type="http://schemas.openxmlformats.org/officeDocument/2006/relationships/slide" Target="/ppt/slides/slide6.xml" Id="Rf197ce632f694c0e" /><Relationship Type="http://schemas.openxmlformats.org/officeDocument/2006/relationships/slide" Target="/ppt/slides/slide7.xml" Id="Rc66f73b5838c4c34" /><Relationship Type="http://schemas.openxmlformats.org/officeDocument/2006/relationships/slide" Target="/ppt/slides/slide8.xml" Id="Rebda55b7155b417c" /><Relationship Type="http://schemas.openxmlformats.org/officeDocument/2006/relationships/slide" Target="/ppt/slides/slide9.xml" Id="Re25305192e0341fd" /><Relationship Type="http://schemas.openxmlformats.org/officeDocument/2006/relationships/slide" Target="/ppt/slides/slide10.xml" Id="Rc039465b683f4086" /><Relationship Type="http://schemas.openxmlformats.org/officeDocument/2006/relationships/slide" Target="/ppt/slides/slide11.xml" Id="R328ed0f963ad429c" /><Relationship Type="http://schemas.openxmlformats.org/officeDocument/2006/relationships/slide" Target="/ppt/slides/slide12.xml" Id="R4bb1d73c6b1341b5" /><Relationship Type="http://schemas.openxmlformats.org/officeDocument/2006/relationships/slide" Target="/ppt/slides/slide13.xml" Id="R70d70ae281574709" /><Relationship Type="http://schemas.openxmlformats.org/officeDocument/2006/relationships/slide" Target="/ppt/slides/slide14.xml" Id="Rfc136d0f53b54cb8" /><Relationship Type="http://schemas.openxmlformats.org/officeDocument/2006/relationships/slide" Target="/ppt/slides/slide15.xml" Id="R8e6b073b6dad451d" /><Relationship Type="http://schemas.openxmlformats.org/officeDocument/2006/relationships/slide" Target="/ppt/slides/slide16.xml" Id="Rbd121e2b49ad424d" /><Relationship Type="http://schemas.openxmlformats.org/officeDocument/2006/relationships/slide" Target="/ppt/slides/slide17.xml" Id="Rd0da6738465e4b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c3de58edf740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9c608e4efc4463" /><Relationship Type="http://schemas.openxmlformats.org/officeDocument/2006/relationships/notesMaster" Target="/ppt/notesMasters/notesMaster1.xml" Id="R8708de3e3239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5512ee0725493d" /><Relationship Type="http://schemas.openxmlformats.org/officeDocument/2006/relationships/notesMaster" Target="/ppt/notesMasters/notesMaster1.xml" Id="Rfc668fb78e2549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6c6a59bea44e97" /><Relationship Type="http://schemas.openxmlformats.org/officeDocument/2006/relationships/notesMaster" Target="/ppt/notesMasters/notesMaster1.xml" Id="R88e29c64d09d4f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cf5df01bd44620" /><Relationship Type="http://schemas.openxmlformats.org/officeDocument/2006/relationships/notesMaster" Target="/ppt/notesMasters/notesMaster1.xml" Id="R0d81ce211e5a4e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fa4817798446d7" /><Relationship Type="http://schemas.openxmlformats.org/officeDocument/2006/relationships/notesMaster" Target="/ppt/notesMasters/notesMaster1.xml" Id="Rfafd8c62317f4d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5eb871e5c64512" /><Relationship Type="http://schemas.openxmlformats.org/officeDocument/2006/relationships/notesMaster" Target="/ppt/notesMasters/notesMaster1.xml" Id="R48fa7fe4be4f40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f85145c3724a20" /><Relationship Type="http://schemas.openxmlformats.org/officeDocument/2006/relationships/notesMaster" Target="/ppt/notesMasters/notesMaster1.xml" Id="R95a79aee42d94a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3a6b6da32546a7" /><Relationship Type="http://schemas.openxmlformats.org/officeDocument/2006/relationships/notesMaster" Target="/ppt/notesMasters/notesMaster1.xml" Id="R0edf9335f3b64b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37a8b11b8541b0" /><Relationship Type="http://schemas.openxmlformats.org/officeDocument/2006/relationships/notesMaster" Target="/ppt/notesMasters/notesMaster1.xml" Id="R6380ad89e77c41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da9bb23deb41ef" /><Relationship Type="http://schemas.openxmlformats.org/officeDocument/2006/relationships/notesMaster" Target="/ppt/notesMasters/notesMaster1.xml" Id="R17a163c5fbdf44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702789b13e44b8" /><Relationship Type="http://schemas.openxmlformats.org/officeDocument/2006/relationships/notesMaster" Target="/ppt/notesMasters/notesMaster1.xml" Id="R03b64a056bbc40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29ae8d8a264d39" /><Relationship Type="http://schemas.openxmlformats.org/officeDocument/2006/relationships/notesMaster" Target="/ppt/notesMasters/notesMaster1.xml" Id="R204fbc1c2c3248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2e344b08074241" /><Relationship Type="http://schemas.openxmlformats.org/officeDocument/2006/relationships/notesMaster" Target="/ppt/notesMasters/notesMaster1.xml" Id="R675ac1bbd7434e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d9e35400724f1a" /><Relationship Type="http://schemas.openxmlformats.org/officeDocument/2006/relationships/notesMaster" Target="/ppt/notesMasters/notesMaster1.xml" Id="Ra8c74cd614a246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ae12e66d784b42" /><Relationship Type="http://schemas.openxmlformats.org/officeDocument/2006/relationships/notesMaster" Target="/ppt/notesMasters/notesMaster1.xml" Id="R1388c348e59f4d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1cc6c0d5f84940" /><Relationship Type="http://schemas.openxmlformats.org/officeDocument/2006/relationships/notesMaster" Target="/ppt/notesMasters/notesMaster1.xml" Id="R8d14773d42014c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6f8f0286bd415d" /><Relationship Type="http://schemas.openxmlformats.org/officeDocument/2006/relationships/notesMaster" Target="/ppt/notesMasters/notesMaster1.xml" Id="R7aae465509f141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Lee Chong Wei photograph — Antony Stanley, CC BY-SA 2.0 — https://commons.wikimedia.org/wiki/File:Lee_Chong_Wei_Prepares_To_Smash_cropped.jpg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Highlight that traditional paper-based notation limits real-time tactical adjustments. Coaches cannot calculate percentages on the fly during a tight 11-point break, making raw tallies useless in the moment.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interfaces supplied by the project team: post-match analytics and live-match player selection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novelty is simplicity itself. Most technology tries to overcomplicate things with cameras and expensive tracking. ShuttleTrace modernizes the classic coaching clipboard digitally and at absolute zero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Lin Dan photograph — Antony Stanley, CC BY-SA 2.0 — https://commons.wikimedia.org/wiki/File:Lin_Dan_Returns_The_Shuttlecock_(7758849992).jpg</a:t>
            </a:r>
          </a:p>
          <a:p xmlns:a="http://schemas.openxmlformats.org/drawingml/2006/main">
            <a:r>
              <a:t>Kento Momota photograph — Nardisoero, CC BY-SA 4.0 — https://commons.wikimedia.org/wiki/File:Kento_Momota_from_Japan.jpg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to the judges that the technology is highly feasible because we rely on React Native (runs everywhere) and simple databases. No hardware issues to debug, ensuring the product can launch in weeks, not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benefit addresses a key sports development need: immediate stats, effortless organization, zero cost barrier, and player motivation through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we sell software (SaaS), our profit margins are incredibly high. Explain that our free tier drives massive adoption, which naturally funnel-converts larger private academies to our premium analytics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interfaces supplied by the project team: Training Mode and Post-Match Analytics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Taufik Hidayat photograph — Tsutomu Takasu, CC BY 2.0 — https://commons.wikimedia.org/wiki/File:Flickr_-_tpower1978_-_Yonex_Open.jpg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judges and open the floor to any of their questions about technology, scalability, or target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a:p xmlns:a="http://schemas.openxmlformats.org/drawingml/2006/main">
            <a:r>
              <a:t>Slide added as a new requirement addendum; original pitch content is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a:p xmlns:a="http://schemas.openxmlformats.org/drawingml/2006/main">
            <a:r>
              <a:t>Diagram is an editable summary of the requested database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Product interface screenshots supplied in the source deck.</a:t>
            </a:r>
          </a:p>
          <a:p xmlns:a="http://schemas.openxmlformats.org/drawingml/2006/main">
            <a:r>
              <a:t>Project requirements derived from the AKP ShuttleTrace project specification requested by the user and the current repository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72954d4aa14a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4be4e15ee744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5e669eb4d84f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9985e5244241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5724bad3684e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504d8bb834472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590cf54573d45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8ee077cf94464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6aa13f1f8be420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be3b897fb46485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241fba0cb72492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71D463-6737-4100-8E78-2A130A3B6A0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665E74C-A928-4846-A43E-8C3D301D020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EB17B4E-11CC-4B14-A135-E55CA1A157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D67EBEC-C401-4259-A86C-C0017A1159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21569BA-19D1-4B7D-8A8E-9128424484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85F72F-949F-4BDD-B9B0-418420F8F2E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CC65240-90DF-4517-BC70-431F6BFD09B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892182A-4077-4FDC-B0CC-7337AD4451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EE0F694-2559-4377-BDC0-E0A7BCFE9F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457D1D8-2829-4F49-8A23-618DAA3671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A91EA0-CAC6-43A1-9FF4-2F8734B97F8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605BEC7-D4C6-453B-9D47-49FDF373B81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A2A5A18-9008-4B7D-9934-131E9BBE4D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9054F0F-41F1-476E-8151-9196F3BA2C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DF2E81-E6AB-45DE-BDAD-6AD4C3760B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D4215C-7CDD-4D2E-B06E-253D9774AC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3269186-508A-4053-A907-C6A39290441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41293E6A-2BD7-4D49-9C41-61F90893473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D568372-1413-4CC5-A23A-1A52631AF6C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61F91F8-1808-4759-8D19-517CC70A66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EEA58D1-4CD9-4BB8-AA85-231AD24F50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DD009A-F025-4B52-B6AF-0122EFF70A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311CAA9-2506-484C-ACD6-48460CC3558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BDA1B62-CC11-4C51-BA70-D97A14DDD16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3A8B2BB-EE8A-463A-84A4-48AFF6C2FF7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5797CDD-07FF-4353-A57C-644820B70CB8}"/>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3DF8D74C-87B0-4567-995D-6485C9D504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D91982ED-10A8-4E44-A985-B8221BDA56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5A78E37-CA34-48CD-9FA5-EDE3D3D712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F5EC9E-FF12-4668-9A5E-C3BB2936FF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DB0503F-022F-4CD8-8613-8A950E41C4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A1DFD15-68DD-4A5D-ADF2-DC6CFE55D9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E50B295-19B2-4EC4-A922-59B9B4C4E3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92ACE60-257D-4B8A-A056-09ABE645E1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6F0BC9D-4D7D-4537-A5AB-AC82E85311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BFF16C5-84E2-4332-8ECB-6CB82ACA9F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DB7190E-152C-4ABF-B453-85127B6B0A0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B936302-28D7-475F-9EE0-98167E0ED9A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2B732B3-254A-4B6C-B8FF-8754D668F67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DDCC370-A7F0-47A1-B0B1-343A3A9C9C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845852B-CEDB-4C33-BB2F-999B221010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27F6E2C-7A7B-4654-A00F-AF30CE7358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C0B4AA-FD8D-4F62-A884-30F6E598158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009BCAF-8945-4D42-BCA6-E6789F2A951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9617FF5-5AB0-4298-831D-28BED2DBF71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A423C6A-94F4-4C74-8479-7A2D952A62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5D0EF25-0B61-4212-A5DE-D27CD2ABC9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0A84030-0451-48C8-A2EE-AC019CE5FD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69D4F9-6D2C-4CC1-A453-C24D524AF3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7F1A0B6-7820-48C9-B68D-558296EB25F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84EA925-D7BD-4D57-8DEA-3F20DDDC70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6A3ACFC-00A9-42CE-8FD1-9BAA0073F7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865C00-8823-4713-83D3-C6D53CDE0C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44042EC-D267-45EE-95FD-26E74BA183A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59DACC0-363F-49AF-8C9A-BF5AF5BBF56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1E473FD-C232-4155-ACCF-11293AA71C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8C40311-69F0-4CEC-96D1-DDA8BE4EBE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A94793-44A6-4A94-8AE2-6B8A2E8295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8edd70ef8542d7" /><Relationship Type="http://schemas.openxmlformats.org/officeDocument/2006/relationships/slideLayout" Target="/ppt/slideLayouts/slideLayout1.xml" Id="Re97e3e17aa4646c3" /><Relationship Type="http://schemas.openxmlformats.org/officeDocument/2006/relationships/slideLayout" Target="/ppt/slideLayouts/slideLayout2.xml" Id="R8ac3bfa24f794e06" /><Relationship Type="http://schemas.openxmlformats.org/officeDocument/2006/relationships/slideLayout" Target="/ppt/slideLayouts/slideLayout3.xml" Id="R69357caa07ee419b" /><Relationship Type="http://schemas.openxmlformats.org/officeDocument/2006/relationships/slideLayout" Target="/ppt/slideLayouts/slideLayout4.xml" Id="R4e2547543eb64962" /><Relationship Type="http://schemas.openxmlformats.org/officeDocument/2006/relationships/slideLayout" Target="/ppt/slideLayouts/slideLayout5.xml" Id="R0906b88e2657436c" /><Relationship Type="http://schemas.openxmlformats.org/officeDocument/2006/relationships/slideLayout" Target="/ppt/slideLayouts/slideLayout6.xml" Id="R57d99e3ef31843ce" /><Relationship Type="http://schemas.openxmlformats.org/officeDocument/2006/relationships/slideLayout" Target="/ppt/slideLayouts/slideLayout7.xml" Id="R619962e1d8264b42" /><Relationship Type="http://schemas.openxmlformats.org/officeDocument/2006/relationships/slideLayout" Target="/ppt/slideLayouts/slideLayout8.xml" Id="R60cc6f22b1624701" /><Relationship Type="http://schemas.openxmlformats.org/officeDocument/2006/relationships/slideLayout" Target="/ppt/slideLayouts/slideLayout9.xml" Id="Rc0d799672cbc4f20" /><Relationship Type="http://schemas.openxmlformats.org/officeDocument/2006/relationships/slideLayout" Target="/ppt/slideLayouts/slideLayout10.xml" Id="Rd3f8f8b2018b4f66" /><Relationship Type="http://schemas.openxmlformats.org/officeDocument/2006/relationships/slideLayout" Target="/ppt/slideLayouts/slideLayout11.xml" Id="Rf4cddfd3ed7d44c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9458189-38EA-4350-81BB-7F1A0174EB2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1892251-FD12-4CA0-9F1D-B555D8F1715E}"/>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7A26394-5D5B-42A9-8198-65965FADF1A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8C2B290-5725-41EF-8803-BC2E8139947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4F6B2BB-A9DD-47C5-8CC2-CF5E8FB05CD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7e3e17aa4646c3"/>
    <p:sldLayoutId xmlns:r="http://schemas.openxmlformats.org/officeDocument/2006/relationships" id="2147483650" r:id="R8ac3bfa24f794e06"/>
    <p:sldLayoutId xmlns:r="http://schemas.openxmlformats.org/officeDocument/2006/relationships" id="2147483651" r:id="R69357caa07ee419b"/>
    <p:sldLayoutId xmlns:r="http://schemas.openxmlformats.org/officeDocument/2006/relationships" id="2147483652" r:id="R4e2547543eb64962"/>
    <p:sldLayoutId xmlns:r="http://schemas.openxmlformats.org/officeDocument/2006/relationships" id="2147483653" r:id="R0906b88e2657436c"/>
    <p:sldLayoutId xmlns:r="http://schemas.openxmlformats.org/officeDocument/2006/relationships" id="2147483654" r:id="R57d99e3ef31843ce"/>
    <p:sldLayoutId xmlns:r="http://schemas.openxmlformats.org/officeDocument/2006/relationships" id="2147483655" r:id="R619962e1d8264b42"/>
    <p:sldLayoutId xmlns:r="http://schemas.openxmlformats.org/officeDocument/2006/relationships" id="2147483656" r:id="R60cc6f22b1624701"/>
    <p:sldLayoutId xmlns:r="http://schemas.openxmlformats.org/officeDocument/2006/relationships" id="2147483657" r:id="Rc0d799672cbc4f20"/>
    <p:sldLayoutId xmlns:r="http://schemas.openxmlformats.org/officeDocument/2006/relationships" id="2147483658" r:id="Rd3f8f8b2018b4f66"/>
    <p:sldLayoutId xmlns:r="http://schemas.openxmlformats.org/officeDocument/2006/relationships" id="2147483659" r:id="Rf4cddfd3ed7d44c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998f1726ddb45fe" /><Relationship Type="http://schemas.openxmlformats.org/officeDocument/2006/relationships/image" Target="/ppt/media/image.jpeg" Id="R2a8ee8038ab94c06" /><Relationship Type="http://schemas.openxmlformats.org/officeDocument/2006/relationships/notesSlide" Target="/ppt/notesSlides/notesSlide1.xml" Id="R239d3034346946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d2fe6d9b2e94e92" /><Relationship Type="http://schemas.openxmlformats.org/officeDocument/2006/relationships/notesSlide" Target="/ppt/notesSlides/notesSlide2.xml" Id="Rfb10a21e618242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2de81b8ddb84ec4" /><Relationship Type="http://schemas.openxmlformats.org/officeDocument/2006/relationships/image" Target="/ppt/media/image.png" Id="Re5d368db698b4d50" /><Relationship Type="http://schemas.openxmlformats.org/officeDocument/2006/relationships/image" Target="/ppt/media/image2.png" Id="R137d22d0dd6a4590" /><Relationship Type="http://schemas.openxmlformats.org/officeDocument/2006/relationships/notesSlide" Target="/ppt/notesSlides/notesSlide3.xml" Id="R1c037cd1eb654c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65c7306be49469d" /><Relationship Type="http://schemas.openxmlformats.org/officeDocument/2006/relationships/notesSlide" Target="/ppt/notesSlides/notesSlide4.xml" Id="R24f6cc389ebb4f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2b39dc872ae4fed" /><Relationship Type="http://schemas.openxmlformats.org/officeDocument/2006/relationships/image" Target="/ppt/media/image2.jpeg" Id="Rad6f248b06bd42a5" /><Relationship Type="http://schemas.openxmlformats.org/officeDocument/2006/relationships/image" Target="/ppt/media/image3.jpeg" Id="Reef69e8ef98942a2" /><Relationship Type="http://schemas.openxmlformats.org/officeDocument/2006/relationships/notesSlide" Target="/ppt/notesSlides/notesSlide5.xml" Id="Rf6d4c379a8fd40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fc9c4d2d07541d2" /><Relationship Type="http://schemas.openxmlformats.org/officeDocument/2006/relationships/notesSlide" Target="/ppt/notesSlides/notesSlide6.xml" Id="R86c3fd0f1ab040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4c2120511204e77" /><Relationship Type="http://schemas.openxmlformats.org/officeDocument/2006/relationships/notesSlide" Target="/ppt/notesSlides/notesSlide7.xml" Id="Rb48b0b980beb4c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b3e647223234ddc" /><Relationship Type="http://schemas.openxmlformats.org/officeDocument/2006/relationships/notesSlide" Target="/ppt/notesSlides/notesSlide8.xml" Id="R7c572ab690104c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29ba328c2994b92" /><Relationship Type="http://schemas.openxmlformats.org/officeDocument/2006/relationships/image" Target="/ppt/media/image3.png" Id="Ra093939645744b62" /><Relationship Type="http://schemas.openxmlformats.org/officeDocument/2006/relationships/image" Target="/ppt/media/image4.png" Id="Ra3c7d76ab0514ed1" /><Relationship Type="http://schemas.openxmlformats.org/officeDocument/2006/relationships/notesSlide" Target="/ppt/notesSlides/notesSlide9.xml" Id="R39b03442b5cb45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7489a734de643d6" /><Relationship Type="http://schemas.openxmlformats.org/officeDocument/2006/relationships/image" Target="/ppt/media/image4.jpeg" Id="R634e110e0c9945be" /><Relationship Type="http://schemas.openxmlformats.org/officeDocument/2006/relationships/notesSlide" Target="/ppt/notesSlides/notesSlide10.xml" Id="Rfe9eb369cc8a44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c66e1a287704819" /><Relationship Type="http://schemas.openxmlformats.org/officeDocument/2006/relationships/notesSlide" Target="/ppt/notesSlides/notesSlide11.xml" Id="R9a2169b3df634f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69258aa4cb4886" /><Relationship Type="http://schemas.openxmlformats.org/officeDocument/2006/relationships/image" Target="/ppt/media/image5.png" Id="Re61356d7bcac4546" /><Relationship Type="http://schemas.openxmlformats.org/officeDocument/2006/relationships/notesSlide" Target="/ppt/notesSlides/notesSlide12.xml" Id="Rb2ed6322a0b84a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b9db5d95f54324" /><Relationship Type="http://schemas.openxmlformats.org/officeDocument/2006/relationships/notesSlide" Target="/ppt/notesSlides/notesSlide13.xml" Id="R0a382d540ae54b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3fd35c5170456a" /><Relationship Type="http://schemas.openxmlformats.org/officeDocument/2006/relationships/image" Target="/ppt/media/image6.png" Id="Ref9b212f03254082" /><Relationship Type="http://schemas.openxmlformats.org/officeDocument/2006/relationships/notesSlide" Target="/ppt/notesSlides/notesSlide14.xml" Id="R8719e4ed612b49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09497549ce4ae6" /><Relationship Type="http://schemas.openxmlformats.org/officeDocument/2006/relationships/image" Target="/ppt/media/image7.png" Id="Re92fb55678f64353" /><Relationship Type="http://schemas.openxmlformats.org/officeDocument/2006/relationships/notesSlide" Target="/ppt/notesSlides/notesSlide15.xml" Id="R90a50c52bfd543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819c5359b624696" /><Relationship Type="http://schemas.openxmlformats.org/officeDocument/2006/relationships/notesSlide" Target="/ppt/notesSlides/notesSlide16.xml" Id="R4ec62b535d5549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ed13bfb446476d" /><Relationship Type="http://schemas.openxmlformats.org/officeDocument/2006/relationships/image" Target="/ppt/media/image8.png" Id="R5863419337544b34" /><Relationship Type="http://schemas.openxmlformats.org/officeDocument/2006/relationships/notesSlide" Target="/ppt/notesSlides/notesSlide17.xml" Id="R25b7c6fdfc934383" /></Relationships>
</file>

<file path=ppt/slides/slide1.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a8ee8038ab94c06"/>
          <a:srcRect xmlns:a="http://schemas.openxmlformats.org/drawingml/2006/main" l="0" t="8555" r="0" b="8555"/>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F841563E-4CD7-4951-A258-60E5AAE5F2F9}"/>
              </a:ext>
            </a:extLst>
          </p:cNvPr>
          <p:cNvSpPr>
            <a:spLocks xmlns:a="http://schemas.openxmlformats.org/drawingml/2006/main" noGrp="1"/>
          </p:cNvSpPr>
          <p:nvPr/>
        </p:nvSpPr>
        <p:spPr>
          <a:xfrm xmlns:a="http://schemas.openxmlformats.org/drawingml/2006/main">
            <a:off x="590550" y="704850"/>
            <a:ext cx="66675" cy="704850"/>
          </a:xfrm>
          <a:prstGeom xmlns:a="http://schemas.openxmlformats.org/drawingml/2006/main" prst="rect">
            <a:avLst/>
          </a:prstGeom>
          <a:solidFill xmlns:a="http://schemas.openxmlformats.org/drawingml/2006/main">
            <a:srgbClr val="D7FF00"/>
          </a:solidFill>
          <a:ln xmlns:a="http://schemas.openxmlformats.org/drawingml/2006/main" w="0">
            <a:noFill/>
            <a:prstDash val="solid"/>
          </a:ln>
        </p:spPr>
      </p:sp>
      <p:sp>
        <p:nvSpPr>
          <p:cNvPr id="3" name="cover-eyebrow">
            <a:extLst xmlns:a="http://schemas.openxmlformats.org/drawingml/2006/main">
              <a:ext uri="{FF2B5EF4-FFF2-40B4-BE49-F238E27FC236}">
                <a16:creationId xmlns:a16="http://schemas.microsoft.com/office/drawing/2014/main" id="{796E2A3D-2287-45B3-9AE3-1139DDF5D55A}"/>
              </a:ext>
            </a:extLst>
          </p:cNvPr>
          <p:cNvSpPr>
            <a:spLocks xmlns:a="http://schemas.openxmlformats.org/drawingml/2006/main" noGrp="1"/>
          </p:cNvSpPr>
          <p:nvPr/>
        </p:nvSpPr>
        <p:spPr>
          <a:xfrm xmlns:a="http://schemas.openxmlformats.org/drawingml/2006/main">
            <a:off x="819150" y="6286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AKP / BADMINTON PERFORMANCE INTELLIGENCE</a:t>
            </a:r>
          </a:p>
        </p:txBody>
      </p:sp>
      <p:sp>
        <p:nvSpPr>
          <p:cNvPr id="4" name="cover-title">
            <a:extLst xmlns:a="http://schemas.openxmlformats.org/drawingml/2006/main">
              <a:ext uri="{FF2B5EF4-FFF2-40B4-BE49-F238E27FC236}">
                <a16:creationId xmlns:a16="http://schemas.microsoft.com/office/drawing/2014/main" id="{95FE3EAF-FDDE-488D-BB9C-231D583777EF}"/>
              </a:ext>
            </a:extLst>
          </p:cNvPr>
          <p:cNvSpPr>
            <a:spLocks xmlns:a="http://schemas.openxmlformats.org/drawingml/2006/main" noGrp="1"/>
          </p:cNvSpPr>
          <p:nvPr/>
        </p:nvSpPr>
        <p:spPr>
          <a:xfrm xmlns:a="http://schemas.openxmlformats.org/drawingml/2006/main">
            <a:off x="742950" y="1409700"/>
            <a:ext cx="538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350" b="1">
                <a:solidFill>
                  <a:srgbClr val="F8FAFC"/>
                </a:solidFill>
                <a:latin typeface="Georgia"/>
                <a:ea typeface="Georgia"/>
                <a:cs typeface="Georgia"/>
              </a:defRPr>
            </a:pPr>
            <a:r>
              <a:rPr sz="4350" b="1">
                <a:solidFill>
                  <a:srgbClr val="F8FAFC"/>
                </a:solidFill>
                <a:latin typeface="Georgia"/>
                <a:ea typeface="Georgia"/>
                <a:cs typeface="Georgia"/>
              </a:rPr>
              <a:t>SHUTTLETRACE</a:t>
            </a:r>
          </a:p>
        </p:txBody>
      </p:sp>
      <p:sp>
        <p:nvSpPr>
          <p:cNvPr id="5" name="cover-claim">
            <a:extLst xmlns:a="http://schemas.openxmlformats.org/drawingml/2006/main">
              <a:ext uri="{FF2B5EF4-FFF2-40B4-BE49-F238E27FC236}">
                <a16:creationId xmlns:a16="http://schemas.microsoft.com/office/drawing/2014/main" id="{E5EA545D-2CB4-45FF-8BF8-165773EC4E11}"/>
              </a:ext>
            </a:extLst>
          </p:cNvPr>
          <p:cNvSpPr>
            <a:spLocks xmlns:a="http://schemas.openxmlformats.org/drawingml/2006/main" noGrp="1"/>
          </p:cNvSpPr>
          <p:nvPr/>
        </p:nvSpPr>
        <p:spPr>
          <a:xfrm xmlns:a="http://schemas.openxmlformats.org/drawingml/2006/main">
            <a:off x="762000" y="2352675"/>
            <a:ext cx="50958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75" b="1">
                <a:solidFill>
                  <a:srgbClr val="F8FAFC"/>
                </a:solidFill>
                <a:latin typeface="Georgia"/>
                <a:ea typeface="Georgia"/>
                <a:cs typeface="Georgia"/>
              </a:defRPr>
            </a:pPr>
            <a:r>
              <a:rPr sz="2775" b="1">
                <a:solidFill>
                  <a:srgbClr val="F8FAFC"/>
                </a:solidFill>
                <a:latin typeface="Georgia"/>
                <a:ea typeface="Georgia"/>
                <a:cs typeface="Georgia"/>
              </a:rPr>
              <a:t>Turn every rally into</a:t>
            </a:r>
          </a:p>
          <a:p xmlns:a="http://schemas.openxmlformats.org/drawingml/2006/main">
            <a:pPr algn="l">
              <a:buNone/>
              <a:defRPr sz="2775" b="1">
                <a:solidFill>
                  <a:srgbClr val="F8FAFC"/>
                </a:solidFill>
                <a:latin typeface="Georgia"/>
                <a:ea typeface="Georgia"/>
                <a:cs typeface="Georgia"/>
              </a:defRPr>
            </a:pPr>
            <a:r>
              <a:rPr sz="2775" b="1">
                <a:solidFill>
                  <a:srgbClr val="F8FAFC"/>
                </a:solidFill>
                <a:latin typeface="Georgia"/>
                <a:ea typeface="Georgia"/>
                <a:cs typeface="Georgia"/>
              </a:rPr>
              <a:t>a coaching decision.</a:t>
            </a:r>
          </a:p>
        </p:txBody>
      </p:sp>
      <p:sp>
        <p:nvSpPr>
          <p:cNvPr id="6" name="cover-subtitle">
            <a:extLst xmlns:a="http://schemas.openxmlformats.org/drawingml/2006/main">
              <a:ext uri="{FF2B5EF4-FFF2-40B4-BE49-F238E27FC236}">
                <a16:creationId xmlns:a16="http://schemas.microsoft.com/office/drawing/2014/main" id="{C74D445A-1C0D-42F0-B74C-96682D81ED33}"/>
              </a:ext>
            </a:extLst>
          </p:cNvPr>
          <p:cNvSpPr>
            <a:spLocks xmlns:a="http://schemas.openxmlformats.org/drawingml/2006/main" noGrp="1"/>
          </p:cNvSpPr>
          <p:nvPr/>
        </p:nvSpPr>
        <p:spPr>
          <a:xfrm xmlns:a="http://schemas.openxmlformats.org/drawingml/2006/main">
            <a:off x="781050" y="37623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9CA3AF"/>
                </a:solidFill>
                <a:latin typeface="Arial"/>
                <a:ea typeface="Arial"/>
                <a:cs typeface="Arial"/>
              </a:defRPr>
            </a:pPr>
            <a:r>
              <a:rPr sz="1500" b="0">
                <a:solidFill>
                  <a:srgbClr val="9CA3AF"/>
                </a:solidFill>
                <a:latin typeface="Arial"/>
                <a:ea typeface="Arial"/>
                <a:cs typeface="Arial"/>
              </a:rPr>
              <a:t>Real-time badminton notation, player tracking and post-match analytics — using the devices coaches already own.</a:t>
            </a:r>
          </a:p>
        </p:txBody>
      </p:sp>
      <p:sp>
        <p:nvSpPr>
          <p:cNvPr id="7" name="cover-proof">
            <a:extLst xmlns:a="http://schemas.openxmlformats.org/drawingml/2006/main">
              <a:ext uri="{FF2B5EF4-FFF2-40B4-BE49-F238E27FC236}">
                <a16:creationId xmlns:a16="http://schemas.microsoft.com/office/drawing/2014/main" id="{7F95F1EE-4746-4D44-953C-780DF4A32D39}"/>
              </a:ext>
            </a:extLst>
          </p:cNvPr>
          <p:cNvSpPr>
            <a:spLocks xmlns:a="http://schemas.openxmlformats.org/drawingml/2006/main" noGrp="1"/>
          </p:cNvSpPr>
          <p:nvPr/>
        </p:nvSpPr>
        <p:spPr>
          <a:xfrm xmlns:a="http://schemas.openxmlformats.org/drawingml/2006/main">
            <a:off x="762000" y="4972050"/>
            <a:ext cx="4000500" cy="514350"/>
          </a:xfrm>
          <a:prstGeom xmlns:a="http://schemas.openxmlformats.org/drawingml/2006/main" prst="roundRect">
            <a:avLst>
              <a:gd name="adj" fmla="val 22222"/>
            </a:avLst>
          </a:prstGeom>
          <a:solidFill xmlns:a="http://schemas.openxmlformats.org/drawingml/2006/main">
            <a:srgbClr val="D7FF00"/>
          </a:solidFill>
          <a:ln xmlns:a="http://schemas.openxmlformats.org/drawingml/2006/main" w="0">
            <a:noFill/>
            <a:prstDash val="solid"/>
          </a:ln>
        </p:spPr>
      </p:sp>
      <p:sp>
        <p:nvSpPr>
          <p:cNvPr id="8" name="cover-proof-text">
            <a:extLst xmlns:a="http://schemas.openxmlformats.org/drawingml/2006/main">
              <a:ext uri="{FF2B5EF4-FFF2-40B4-BE49-F238E27FC236}">
                <a16:creationId xmlns:a16="http://schemas.microsoft.com/office/drawing/2014/main" id="{7E95EF29-BB72-498F-BE4C-1BFAA4089D0D}"/>
              </a:ext>
            </a:extLst>
          </p:cNvPr>
          <p:cNvSpPr>
            <a:spLocks xmlns:a="http://schemas.openxmlformats.org/drawingml/2006/main" noGrp="1"/>
          </p:cNvSpPr>
          <p:nvPr/>
        </p:nvSpPr>
        <p:spPr>
          <a:xfrm xmlns:a="http://schemas.openxmlformats.org/drawingml/2006/main">
            <a:off x="876300" y="5038725"/>
            <a:ext cx="3771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90B0E"/>
                </a:solidFill>
                <a:latin typeface="Arial"/>
                <a:ea typeface="Arial"/>
                <a:cs typeface="Arial"/>
              </a:defRPr>
            </a:pPr>
            <a:r>
              <a:rPr sz="1125" b="1">
                <a:solidFill>
                  <a:srgbClr val="090B0E"/>
                </a:solidFill>
                <a:latin typeface="Arial"/>
                <a:ea typeface="Arial"/>
                <a:cs typeface="Arial"/>
              </a:rPr>
              <a:t>LIVE MATCH  •  TRAINING  •  ANALYTICS</a:t>
            </a:r>
          </a:p>
        </p:txBody>
      </p:sp>
      <p:sp>
        <p:nvSpPr>
          <p:cNvPr id="9" name="cover-draft">
            <a:extLst xmlns:a="http://schemas.openxmlformats.org/drawingml/2006/main">
              <a:ext uri="{FF2B5EF4-FFF2-40B4-BE49-F238E27FC236}">
                <a16:creationId xmlns:a16="http://schemas.microsoft.com/office/drawing/2014/main" id="{5BFCC028-1192-443E-83D2-546306A9EB0F}"/>
              </a:ext>
            </a:extLst>
          </p:cNvPr>
          <p:cNvSpPr>
            <a:spLocks xmlns:a="http://schemas.openxmlformats.org/drawingml/2006/main" noGrp="1"/>
          </p:cNvSpPr>
          <p:nvPr/>
        </p:nvSpPr>
        <p:spPr>
          <a:xfrm xmlns:a="http://schemas.openxmlformats.org/drawingml/2006/main">
            <a:off x="762000" y="61150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626873"/>
                </a:solidFill>
                <a:latin typeface="Arial"/>
                <a:ea typeface="Arial"/>
                <a:cs typeface="Arial"/>
              </a:defRPr>
            </a:pPr>
            <a:r>
              <a:rPr sz="900" b="1">
                <a:solidFill>
                  <a:srgbClr val="626873"/>
                </a:solidFill>
                <a:latin typeface="Arial"/>
                <a:ea typeface="Arial"/>
                <a:cs typeface="Arial"/>
              </a:rPr>
              <a:t>VISUAL DRAFT</a:t>
            </a:r>
          </a:p>
        </p:txBody>
      </p:sp>
    </p:spTree>
    <p:extLst>
      <p:ext uri="{BB962C8B-B14F-4D97-AF65-F5344CB8AC3E}">
        <p14:creationId xmlns:p14="http://schemas.microsoft.com/office/powerpoint/2010/main" val="938825152"/>
      </p:ext>
    </p:extLst>
  </p:cSld>
</p:sld>
</file>

<file path=ppt/slides/slide2.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089D40E-9FC9-433C-AA06-661C3A770DF2}"/>
              </a:ext>
            </a:extLst>
          </p:cNvPr>
          <p:cNvSpPr>
            <a:spLocks xmlns:a="http://schemas.openxmlformats.org/drawingml/2006/main" noGrp="1"/>
          </p:cNvSpPr>
          <p:nvPr/>
        </p:nvSpPr>
        <p:spPr>
          <a:xfrm xmlns:a="http://schemas.openxmlformats.org/drawingml/2006/main">
            <a:off x="457200" y="457200"/>
            <a:ext cx="112772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latin typeface="Georgia"/>
                <a:ea typeface="Georgia"/>
                <a:cs typeface="Georgia"/>
              </a:defRPr>
            </a:pPr>
            <a:r>
              <a:t>1. PROBLEM: Traditional Pen-and-Paper Notation is Slow and Inefficient</a:t>
            </a:r>
          </a:p>
        </p:txBody>
      </p:sp>
      <p:sp>
        <p:nvSpPr>
          <p:cNvPr id="3" name="Rectangle 2">
            <a:extLst xmlns:a="http://schemas.openxmlformats.org/drawingml/2006/main">
              <a:ext uri="{FF2B5EF4-FFF2-40B4-BE49-F238E27FC236}">
                <a16:creationId xmlns:a16="http://schemas.microsoft.com/office/drawing/2014/main" id="{0FD3E0EA-0EF0-4C35-8E6E-618BDC0F960A}"/>
              </a:ext>
            </a:extLst>
          </p:cNvPr>
          <p:cNvSpPr>
            <a:spLocks xmlns:a="http://schemas.openxmlformats.org/drawingml/2006/main" noGrp="1"/>
          </p:cNvSpPr>
          <p:nvPr/>
        </p:nvSpPr>
        <p:spPr>
          <a:xfrm xmlns:a="http://schemas.openxmlformats.org/drawingml/2006/main">
            <a:off x="457200" y="1188720"/>
            <a:ext cx="11277295" cy="25400"/>
          </a:xfrm>
          <a:prstGeom xmlns:a="http://schemas.openxmlformats.org/drawingml/2006/main" prst="rect">
            <a:avLst/>
          </a:prstGeom>
          <a:solidFill xmlns:a="http://schemas.openxmlformats.org/drawingml/2006/main">
            <a:srgbClr val="00D2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0F5981E-D54E-4F6B-9671-B3D44EB684CF}"/>
              </a:ext>
            </a:extLst>
          </p:cNvPr>
          <p:cNvSpPr>
            <a:spLocks xmlns:a="http://schemas.openxmlformats.org/drawingml/2006/main" noGrp="1"/>
          </p:cNvSpPr>
          <p:nvPr/>
        </p:nvSpPr>
        <p:spPr>
          <a:xfrm xmlns:a="http://schemas.openxmlformats.org/drawingml/2006/main">
            <a:off x="457200" y="1645920"/>
            <a:ext cx="530352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2200" b="1">
                <a:solidFill>
                  <a:srgbClr val="00D2C4"/>
                </a:solidFill>
                <a:latin typeface="Georgia"/>
                <a:ea typeface="Georgia"/>
                <a:cs typeface="Georgia"/>
              </a:defRPr>
            </a:pPr>
            <a:r>
              <a:t>The Coaching Bottleneck</a:t>
            </a:r>
          </a:p>
          <a:p xmlns:a="http://schemas.openxmlformats.org/drawingml/2006/main">
            <a:pPr>
              <a:spcAft>
                <a:spcPts val="1200"/>
              </a:spcAft>
              <a:buNone/>
              <a:defRPr sz="1500">
                <a:solidFill>
                  <a:srgbClr val="F8FAFC"/>
                </a:solidFill>
                <a:latin typeface="Arial"/>
                <a:ea typeface="Arial"/>
                <a:cs typeface="Arial"/>
              </a:defRPr>
            </a:pPr>
            <a:r>
              <a:t>• Coaches are distracted by manually writing tallies, losing valuable face-time with players.</a:t>
            </a:r>
          </a:p>
          <a:p xmlns:a="http://schemas.openxmlformats.org/drawingml/2006/main">
            <a:pPr>
              <a:spcAft>
                <a:spcPts val="1200"/>
              </a:spcAft>
              <a:buNone/>
              <a:defRPr sz="1500">
                <a:solidFill>
                  <a:srgbClr val="F8FAFC"/>
                </a:solidFill>
                <a:latin typeface="Arial"/>
                <a:ea typeface="Arial"/>
                <a:cs typeface="Arial"/>
              </a:defRPr>
            </a:pPr>
            <a:r>
              <a:t>• No immediate statistics can be calculated during the critical 11-point break or between sets.</a:t>
            </a:r>
          </a:p>
          <a:p xmlns:a="http://schemas.openxmlformats.org/drawingml/2006/main">
            <a:pPr>
              <a:spcAft>
                <a:spcPts val="1200"/>
              </a:spcAft>
              <a:buNone/>
              <a:defRPr sz="1500">
                <a:solidFill>
                  <a:srgbClr val="F8FAFC"/>
                </a:solidFill>
                <a:latin typeface="Arial"/>
                <a:ea typeface="Arial"/>
                <a:cs typeface="Arial"/>
              </a:defRPr>
            </a:pPr>
            <a:r>
              <a:t>• Paper records are easily lost, unorganized, and fail to track player progress over time.</a:t>
            </a:r>
          </a:p>
          <a:p xmlns:a="http://schemas.openxmlformats.org/drawingml/2006/main">
            <a:pPr>
              <a:spcAft>
                <a:spcPts val="1200"/>
              </a:spcAft>
              <a:buNone/>
              <a:defRPr sz="1500">
                <a:solidFill>
                  <a:srgbClr val="F8FAFC"/>
                </a:solidFill>
                <a:latin typeface="Arial"/>
                <a:ea typeface="Arial"/>
                <a:cs typeface="Arial"/>
              </a:defRPr>
            </a:pPr>
            <a:r>
              <a:t>• Existing commercial tech options are locked behind heavy subscription and equipment walls.</a:t>
            </a:r>
          </a:p>
        </p:txBody>
      </p:sp>
      <p:sp>
        <p:nvSpPr>
          <p:cNvPr id="5" name="Rounded Rectangle 4">
            <a:extLst xmlns:a="http://schemas.openxmlformats.org/drawingml/2006/main">
              <a:ext uri="{FF2B5EF4-FFF2-40B4-BE49-F238E27FC236}">
                <a16:creationId xmlns:a16="http://schemas.microsoft.com/office/drawing/2014/main" id="{D707E81A-9F63-4CB6-B0F0-788FCC986FA4}"/>
              </a:ext>
            </a:extLst>
          </p:cNvPr>
          <p:cNvSpPr>
            <a:spLocks xmlns:a="http://schemas.openxmlformats.org/drawingml/2006/main" noGrp="1"/>
          </p:cNvSpPr>
          <p:nvPr/>
        </p:nvSpPr>
        <p:spPr>
          <a:xfrm xmlns:a="http://schemas.openxmlformats.org/drawingml/2006/main">
            <a:off x="6217920" y="1645920"/>
            <a:ext cx="5486400" cy="4389120"/>
          </a:xfrm>
          <a:prstGeom xmlns:a="http://schemas.openxmlformats.org/drawingml/2006/main" prst="roundRect">
            <a:avLst/>
          </a:prstGeom>
          <a:solidFill xmlns:a="http://schemas.openxmlformats.org/drawingml/2006/main">
            <a:srgbClr val="1E293B"/>
          </a:solidFill>
          <a:ln xmlns:a="http://schemas.openxmlformats.org/drawingml/2006/main">
            <a:solidFill>
              <a:srgbClr val="00D2C4"/>
            </a:solid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2000"/>
              </a:spcAft>
              <a:buNone/>
              <a:defRPr sz="1400" b="1">
                <a:solidFill>
                  <a:srgbClr val="00D2C4"/>
                </a:solidFill>
                <a:latin typeface="Arial"/>
                <a:ea typeface="Arial"/>
                <a:cs typeface="Arial"/>
              </a:defRPr>
            </a:pPr>
            <a:r>
              <a:t>THE MANUAL CHAOS WE ARE ELIMINATING:</a:t>
            </a:r>
          </a:p>
          <a:p xmlns:a="http://schemas.openxmlformats.org/drawingml/2006/main">
            <a:pPr>
              <a:buNone/>
              <a:defRPr sz="1600" b="1">
                <a:solidFill>
                  <a:srgbClr val="EF4444"/>
                </a:solidFill>
                <a:latin typeface="Arial"/>
                <a:ea typeface="Arial"/>
                <a:cs typeface="Arial"/>
              </a:defRPr>
            </a:pPr>
            <a:r>
              <a:t>❌ Tally Marks on Paper</a:t>
            </a:r>
          </a:p>
          <a:p xmlns:a="http://schemas.openxmlformats.org/drawingml/2006/main">
            <a:pPr>
              <a:spcAft>
                <a:spcPts val="1400"/>
              </a:spcAft>
              <a:buNone/>
              <a:defRPr sz="1300">
                <a:solidFill>
                  <a:srgbClr val="94A3B8"/>
                </a:solidFill>
                <a:latin typeface="Arial"/>
                <a:ea typeface="Arial"/>
                <a:cs typeface="Arial"/>
              </a:defRPr>
            </a:pPr>
            <a:r>
              <a:t>   Messy handwriting that coaches must count and calculate by hand after games.</a:t>
            </a:r>
          </a:p>
          <a:p xmlns:a="http://schemas.openxmlformats.org/drawingml/2006/main">
            <a:pPr>
              <a:buNone/>
              <a:defRPr sz="1600" b="1">
                <a:solidFill>
                  <a:srgbClr val="EF4444"/>
                </a:solidFill>
                <a:latin typeface="Arial"/>
                <a:ea typeface="Arial"/>
                <a:cs typeface="Arial"/>
              </a:defRPr>
            </a:pPr>
            <a:r>
              <a:t>❌ Zero Real-Time Action</a:t>
            </a:r>
          </a:p>
          <a:p xmlns:a="http://schemas.openxmlformats.org/drawingml/2006/main">
            <a:pPr>
              <a:spcAft>
                <a:spcPts val="1400"/>
              </a:spcAft>
              <a:buNone/>
              <a:defRPr sz="1300">
                <a:solidFill>
                  <a:srgbClr val="94A3B8"/>
                </a:solidFill>
                <a:latin typeface="Arial"/>
                <a:ea typeface="Arial"/>
                <a:cs typeface="Arial"/>
              </a:defRPr>
            </a:pPr>
            <a:r>
              <a:t>   Insights arrive too late (usually days after a match) to adjust ongoing game strategies.</a:t>
            </a:r>
          </a:p>
          <a:p xmlns:a="http://schemas.openxmlformats.org/drawingml/2006/main">
            <a:pPr>
              <a:buNone/>
              <a:defRPr sz="1600" b="1">
                <a:solidFill>
                  <a:srgbClr val="EF4444"/>
                </a:solidFill>
                <a:latin typeface="Arial"/>
                <a:ea typeface="Arial"/>
                <a:cs typeface="Arial"/>
              </a:defRPr>
            </a:pPr>
            <a:r>
              <a:t>❌ Fragile &amp; Lost Data</a:t>
            </a:r>
          </a:p>
          <a:p xmlns:a="http://schemas.openxmlformats.org/drawingml/2006/main">
            <a:pPr>
              <a:spcAft>
                <a:spcPts val="1400"/>
              </a:spcAft>
              <a:buNone/>
              <a:defRPr sz="1300">
                <a:solidFill>
                  <a:srgbClr val="94A3B8"/>
                </a:solidFill>
                <a:latin typeface="Arial"/>
                <a:ea typeface="Arial"/>
                <a:cs typeface="Arial"/>
              </a:defRPr>
            </a:pPr>
            <a:r>
              <a:t>   Physical binders that pile up and offer no historical progress search capability.</a:t>
            </a:r>
          </a:p>
        </p:txBody>
      </p:sp>
    </p:spTree>
    <p:extLst>
      <p:ext uri="{BB962C8B-B14F-4D97-AF65-F5344CB8AC3E}">
        <p14:creationId xmlns:p14="http://schemas.microsoft.com/office/powerpoint/2010/main" val="1709381132"/>
      </p:ext>
    </p:extLst>
  </p:cSld>
</p:sld>
</file>

<file path=ppt/slides/slide3.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24" name="section-2">
            <a:extLst xmlns:a="http://schemas.openxmlformats.org/drawingml/2006/main">
              <a:ext uri="{FF2B5EF4-FFF2-40B4-BE49-F238E27FC236}">
                <a16:creationId xmlns:a16="http://schemas.microsoft.com/office/drawing/2014/main" id="{CB23DE30-0841-44AF-81B8-56B4AC52F6DE}"/>
              </a:ext>
            </a:extLst>
          </p:cNvPr>
          <p:cNvSpPr>
            <a:spLocks xmlns:a="http://schemas.openxmlformats.org/drawingml/2006/main" noGrp="1"/>
          </p:cNvSpPr>
          <p:nvPr/>
        </p:nvSpPr>
        <p:spPr>
          <a:xfrm xmlns:a="http://schemas.openxmlformats.org/drawingml/2006/main">
            <a:off x="457200" y="304800"/>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02</a:t>
            </a:r>
          </a:p>
        </p:txBody>
      </p:sp>
      <p:sp>
        <p:nvSpPr>
          <p:cNvPr id="2" name="eyebrow-2">
            <a:extLst xmlns:a="http://schemas.openxmlformats.org/drawingml/2006/main">
              <a:ext uri="{FF2B5EF4-FFF2-40B4-BE49-F238E27FC236}">
                <a16:creationId xmlns:a16="http://schemas.microsoft.com/office/drawing/2014/main" id="{A3BF5328-357E-4AFC-977D-D67B04455B65}"/>
              </a:ext>
            </a:extLst>
          </p:cNvPr>
          <p:cNvSpPr>
            <a:spLocks xmlns:a="http://schemas.openxmlformats.org/drawingml/2006/main" noGrp="1"/>
          </p:cNvSpPr>
          <p:nvPr/>
        </p:nvSpPr>
        <p:spPr>
          <a:xfrm xmlns:a="http://schemas.openxmlformats.org/drawingml/2006/main">
            <a:off x="933450" y="304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9CA3AF"/>
                </a:solidFill>
                <a:latin typeface="Arial"/>
                <a:ea typeface="Arial"/>
                <a:cs typeface="Arial"/>
              </a:defRPr>
            </a:pPr>
            <a:r>
              <a:rPr sz="1050" b="1">
                <a:solidFill>
                  <a:srgbClr val="9CA3AF"/>
                </a:solidFill>
                <a:latin typeface="Arial"/>
                <a:ea typeface="Arial"/>
                <a:cs typeface="Arial"/>
              </a:rPr>
              <a:t>PROPOSED INNOVATION</a:t>
            </a:r>
          </a:p>
        </p:txBody>
      </p:sp>
      <p:sp>
        <p:nvSpPr>
          <p:cNvPr id="3" name="innovation-title">
            <a:extLst xmlns:a="http://schemas.openxmlformats.org/drawingml/2006/main">
              <a:ext uri="{FF2B5EF4-FFF2-40B4-BE49-F238E27FC236}">
                <a16:creationId xmlns:a16="http://schemas.microsoft.com/office/drawing/2014/main" id="{6E2A3F5C-E9B2-4A50-B785-D201822C661B}"/>
              </a:ext>
            </a:extLst>
          </p:cNvPr>
          <p:cNvSpPr>
            <a:spLocks xmlns:a="http://schemas.openxmlformats.org/drawingml/2006/main" noGrp="1"/>
          </p:cNvSpPr>
          <p:nvPr/>
        </p:nvSpPr>
        <p:spPr>
          <a:xfrm xmlns:a="http://schemas.openxmlformats.org/drawingml/2006/main">
            <a:off x="476250" y="781050"/>
            <a:ext cx="4095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F8FAFC"/>
                </a:solidFill>
                <a:latin typeface="Georgia"/>
                <a:ea typeface="Georgia"/>
                <a:cs typeface="Georgia"/>
              </a:defRPr>
            </a:pPr>
            <a:r>
              <a:rPr sz="2700" b="1">
                <a:solidFill>
                  <a:srgbClr val="F8FAFC"/>
                </a:solidFill>
                <a:latin typeface="Georgia"/>
                <a:ea typeface="Georgia"/>
                <a:cs typeface="Georgia"/>
              </a:rPr>
              <a:t>One tap turns</a:t>
            </a:r>
          </a:p>
          <a:p xmlns:a="http://schemas.openxmlformats.org/drawingml/2006/main">
            <a:pPr algn="l">
              <a:buNone/>
              <a:defRPr sz="2700" b="1">
                <a:solidFill>
                  <a:srgbClr val="F8FAFC"/>
                </a:solidFill>
                <a:latin typeface="Georgia"/>
                <a:ea typeface="Georgia"/>
                <a:cs typeface="Georgia"/>
              </a:defRPr>
            </a:pPr>
            <a:r>
              <a:rPr sz="2700" b="1">
                <a:solidFill>
                  <a:srgbClr val="F8FAFC"/>
                </a:solidFill>
                <a:latin typeface="Georgia"/>
                <a:ea typeface="Georgia"/>
                <a:cs typeface="Georgia"/>
              </a:rPr>
              <a:t>court action into</a:t>
            </a:r>
          </a:p>
          <a:p xmlns:a="http://schemas.openxmlformats.org/drawingml/2006/main">
            <a:pPr algn="l">
              <a:buNone/>
              <a:defRPr sz="2700" b="1">
                <a:solidFill>
                  <a:srgbClr val="F8FAFC"/>
                </a:solidFill>
                <a:latin typeface="Georgia"/>
                <a:ea typeface="Georgia"/>
                <a:cs typeface="Georgia"/>
              </a:defRPr>
            </a:pPr>
            <a:r>
              <a:rPr sz="2700" b="1">
                <a:solidFill>
                  <a:srgbClr val="F8FAFC"/>
                </a:solidFill>
                <a:latin typeface="Georgia"/>
                <a:ea typeface="Georgia"/>
                <a:cs typeface="Georgia"/>
              </a:rPr>
              <a:t>usable insight.</a:t>
            </a:r>
          </a:p>
        </p:txBody>
      </p:sp>
      <p:sp>
        <p:nvSpPr>
          <p:cNvPr id="4" name="innovation-subtitle">
            <a:extLst xmlns:a="http://schemas.openxmlformats.org/drawingml/2006/main">
              <a:ext uri="{FF2B5EF4-FFF2-40B4-BE49-F238E27FC236}">
                <a16:creationId xmlns:a16="http://schemas.microsoft.com/office/drawing/2014/main" id="{F04FEC8E-D4C5-4862-B1B4-CD0444C1BFD0}"/>
              </a:ext>
            </a:extLst>
          </p:cNvPr>
          <p:cNvSpPr>
            <a:spLocks xmlns:a="http://schemas.openxmlformats.org/drawingml/2006/main" noGrp="1"/>
          </p:cNvSpPr>
          <p:nvPr/>
        </p:nvSpPr>
        <p:spPr>
          <a:xfrm xmlns:a="http://schemas.openxmlformats.org/drawingml/2006/main">
            <a:off x="495300" y="21336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9CA3AF"/>
                </a:solidFill>
                <a:latin typeface="Arial"/>
                <a:ea typeface="Arial"/>
                <a:cs typeface="Arial"/>
              </a:defRPr>
            </a:pPr>
            <a:r>
              <a:rPr sz="1275" b="0">
                <a:solidFill>
                  <a:srgbClr val="9CA3AF"/>
                </a:solidFill>
                <a:latin typeface="Arial"/>
                <a:ea typeface="Arial"/>
                <a:cs typeface="Arial"/>
              </a:rPr>
              <a:t>The working interface already connects three jobs that coaches normally perform separately.</a:t>
            </a:r>
          </a:p>
        </p:txBody>
      </p:sp>
      <p:sp>
        <p:nvSpPr>
          <p:cNvPr id="5" name="benefit-01">
            <a:extLst xmlns:a="http://schemas.openxmlformats.org/drawingml/2006/main">
              <a:ext uri="{FF2B5EF4-FFF2-40B4-BE49-F238E27FC236}">
                <a16:creationId xmlns:a16="http://schemas.microsoft.com/office/drawing/2014/main" id="{BF61B735-74E9-4894-82D1-5966FA5C43DC}"/>
              </a:ext>
            </a:extLst>
          </p:cNvPr>
          <p:cNvSpPr>
            <a:spLocks xmlns:a="http://schemas.openxmlformats.org/drawingml/2006/main" noGrp="1"/>
          </p:cNvSpPr>
          <p:nvPr/>
        </p:nvSpPr>
        <p:spPr>
          <a:xfrm xmlns:a="http://schemas.openxmlformats.org/drawingml/2006/main">
            <a:off x="495300" y="3067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01</a:t>
            </a:r>
          </a:p>
        </p:txBody>
      </p:sp>
      <p:sp>
        <p:nvSpPr>
          <p:cNvPr id="6" name="benefit-h-01">
            <a:extLst xmlns:a="http://schemas.openxmlformats.org/drawingml/2006/main">
              <a:ext uri="{FF2B5EF4-FFF2-40B4-BE49-F238E27FC236}">
                <a16:creationId xmlns:a16="http://schemas.microsoft.com/office/drawing/2014/main" id="{85971349-444E-4358-B9FC-53ACDD3E3184}"/>
              </a:ext>
            </a:extLst>
          </p:cNvPr>
          <p:cNvSpPr>
            <a:spLocks xmlns:a="http://schemas.openxmlformats.org/drawingml/2006/main" noGrp="1"/>
          </p:cNvSpPr>
          <p:nvPr/>
        </p:nvSpPr>
        <p:spPr>
          <a:xfrm xmlns:a="http://schemas.openxmlformats.org/drawingml/2006/main">
            <a:off x="971550" y="3048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F8FAFC"/>
                </a:solidFill>
                <a:latin typeface="Arial"/>
                <a:ea typeface="Arial"/>
                <a:cs typeface="Arial"/>
              </a:defRPr>
            </a:pPr>
            <a:r>
              <a:rPr sz="1275" b="1">
                <a:solidFill>
                  <a:srgbClr val="F8FAFC"/>
                </a:solidFill>
                <a:latin typeface="Arial"/>
                <a:ea typeface="Arial"/>
                <a:cs typeface="Arial"/>
              </a:rPr>
              <a:t>CAPTURE</a:t>
            </a:r>
          </a:p>
        </p:txBody>
      </p:sp>
      <p:sp>
        <p:nvSpPr>
          <p:cNvPr id="7" name="benefit-b-01">
            <a:extLst xmlns:a="http://schemas.openxmlformats.org/drawingml/2006/main">
              <a:ext uri="{FF2B5EF4-FFF2-40B4-BE49-F238E27FC236}">
                <a16:creationId xmlns:a16="http://schemas.microsoft.com/office/drawing/2014/main" id="{4F3647A7-0FD3-48AF-9760-C2EBA5A9788B}"/>
              </a:ext>
            </a:extLst>
          </p:cNvPr>
          <p:cNvSpPr>
            <a:spLocks xmlns:a="http://schemas.openxmlformats.org/drawingml/2006/main" noGrp="1"/>
          </p:cNvSpPr>
          <p:nvPr/>
        </p:nvSpPr>
        <p:spPr>
          <a:xfrm xmlns:a="http://schemas.openxmlformats.org/drawingml/2006/main">
            <a:off x="971550" y="333375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9CA3AF"/>
                </a:solidFill>
                <a:latin typeface="Arial"/>
                <a:ea typeface="Arial"/>
                <a:cs typeface="Arial"/>
              </a:defRPr>
            </a:pPr>
            <a:r>
              <a:rPr sz="1125" b="0">
                <a:solidFill>
                  <a:srgbClr val="9CA3AF"/>
                </a:solidFill>
                <a:latin typeface="Arial"/>
                <a:ea typeface="Arial"/>
                <a:cs typeface="Arial"/>
              </a:rPr>
              <a:t>Record live shots and player actions court-side.</a:t>
            </a:r>
          </a:p>
        </p:txBody>
      </p:sp>
      <p:sp>
        <p:nvSpPr>
          <p:cNvPr id="8" name="benefit-02">
            <a:extLst xmlns:a="http://schemas.openxmlformats.org/drawingml/2006/main">
              <a:ext uri="{FF2B5EF4-FFF2-40B4-BE49-F238E27FC236}">
                <a16:creationId xmlns:a16="http://schemas.microsoft.com/office/drawing/2014/main" id="{75A6F3F2-11DE-4163-A4F0-4A6F95A86020}"/>
              </a:ext>
            </a:extLst>
          </p:cNvPr>
          <p:cNvSpPr>
            <a:spLocks xmlns:a="http://schemas.openxmlformats.org/drawingml/2006/main" noGrp="1"/>
          </p:cNvSpPr>
          <p:nvPr/>
        </p:nvSpPr>
        <p:spPr>
          <a:xfrm xmlns:a="http://schemas.openxmlformats.org/drawingml/2006/main">
            <a:off x="4953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02</a:t>
            </a:r>
          </a:p>
        </p:txBody>
      </p:sp>
      <p:sp>
        <p:nvSpPr>
          <p:cNvPr id="9" name="benefit-h-02">
            <a:extLst xmlns:a="http://schemas.openxmlformats.org/drawingml/2006/main">
              <a:ext uri="{FF2B5EF4-FFF2-40B4-BE49-F238E27FC236}">
                <a16:creationId xmlns:a16="http://schemas.microsoft.com/office/drawing/2014/main" id="{4346BCB0-41FC-47C2-A0BA-399F2D2CE619}"/>
              </a:ext>
            </a:extLst>
          </p:cNvPr>
          <p:cNvSpPr>
            <a:spLocks xmlns:a="http://schemas.openxmlformats.org/drawingml/2006/main" noGrp="1"/>
          </p:cNvSpPr>
          <p:nvPr/>
        </p:nvSpPr>
        <p:spPr>
          <a:xfrm xmlns:a="http://schemas.openxmlformats.org/drawingml/2006/main">
            <a:off x="971550" y="4000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F8FAFC"/>
                </a:solidFill>
                <a:latin typeface="Arial"/>
                <a:ea typeface="Arial"/>
                <a:cs typeface="Arial"/>
              </a:defRPr>
            </a:pPr>
            <a:r>
              <a:rPr sz="1275" b="1">
                <a:solidFill>
                  <a:srgbClr val="F8FAFC"/>
                </a:solidFill>
                <a:latin typeface="Arial"/>
                <a:ea typeface="Arial"/>
                <a:cs typeface="Arial"/>
              </a:rPr>
              <a:t>ANALYZE</a:t>
            </a:r>
          </a:p>
        </p:txBody>
      </p:sp>
      <p:sp>
        <p:nvSpPr>
          <p:cNvPr id="10" name="benefit-b-02">
            <a:extLst xmlns:a="http://schemas.openxmlformats.org/drawingml/2006/main">
              <a:ext uri="{FF2B5EF4-FFF2-40B4-BE49-F238E27FC236}">
                <a16:creationId xmlns:a16="http://schemas.microsoft.com/office/drawing/2014/main" id="{93D53AB6-A7EF-485E-9B78-37C609B2EB51}"/>
              </a:ext>
            </a:extLst>
          </p:cNvPr>
          <p:cNvSpPr>
            <a:spLocks xmlns:a="http://schemas.openxmlformats.org/drawingml/2006/main" noGrp="1"/>
          </p:cNvSpPr>
          <p:nvPr/>
        </p:nvSpPr>
        <p:spPr>
          <a:xfrm xmlns:a="http://schemas.openxmlformats.org/drawingml/2006/main">
            <a:off x="971550" y="428625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9CA3AF"/>
                </a:solidFill>
                <a:latin typeface="Arial"/>
                <a:ea typeface="Arial"/>
                <a:cs typeface="Arial"/>
              </a:defRPr>
            </a:pPr>
            <a:r>
              <a:rPr sz="1125" b="0">
                <a:solidFill>
                  <a:srgbClr val="9CA3AF"/>
                </a:solidFill>
                <a:latin typeface="Arial"/>
                <a:ea typeface="Arial"/>
                <a:cs typeface="Arial"/>
              </a:rPr>
              <a:t>See distribution, attack ratio and rally patterns.</a:t>
            </a:r>
          </a:p>
        </p:txBody>
      </p:sp>
      <p:sp>
        <p:nvSpPr>
          <p:cNvPr id="11" name="benefit-03">
            <a:extLst xmlns:a="http://schemas.openxmlformats.org/drawingml/2006/main">
              <a:ext uri="{FF2B5EF4-FFF2-40B4-BE49-F238E27FC236}">
                <a16:creationId xmlns:a16="http://schemas.microsoft.com/office/drawing/2014/main" id="{BD44A358-867E-4F6F-A2C0-A49AB3B5B3A1}"/>
              </a:ext>
            </a:extLst>
          </p:cNvPr>
          <p:cNvSpPr>
            <a:spLocks xmlns:a="http://schemas.openxmlformats.org/drawingml/2006/main" noGrp="1"/>
          </p:cNvSpPr>
          <p:nvPr/>
        </p:nvSpPr>
        <p:spPr>
          <a:xfrm xmlns:a="http://schemas.openxmlformats.org/drawingml/2006/main">
            <a:off x="495300" y="4972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03</a:t>
            </a:r>
          </a:p>
        </p:txBody>
      </p:sp>
      <p:sp>
        <p:nvSpPr>
          <p:cNvPr id="12" name="benefit-h-03">
            <a:extLst xmlns:a="http://schemas.openxmlformats.org/drawingml/2006/main">
              <a:ext uri="{FF2B5EF4-FFF2-40B4-BE49-F238E27FC236}">
                <a16:creationId xmlns:a16="http://schemas.microsoft.com/office/drawing/2014/main" id="{69543C3A-3063-428E-9580-DF9A165EA26B}"/>
              </a:ext>
            </a:extLst>
          </p:cNvPr>
          <p:cNvSpPr>
            <a:spLocks xmlns:a="http://schemas.openxmlformats.org/drawingml/2006/main" noGrp="1"/>
          </p:cNvSpPr>
          <p:nvPr/>
        </p:nvSpPr>
        <p:spPr>
          <a:xfrm xmlns:a="http://schemas.openxmlformats.org/drawingml/2006/main">
            <a:off x="971550" y="4953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F8FAFC"/>
                </a:solidFill>
                <a:latin typeface="Arial"/>
                <a:ea typeface="Arial"/>
                <a:cs typeface="Arial"/>
              </a:defRPr>
            </a:pPr>
            <a:r>
              <a:rPr sz="1275" b="1">
                <a:solidFill>
                  <a:srgbClr val="F8FAFC"/>
                </a:solidFill>
                <a:latin typeface="Arial"/>
                <a:ea typeface="Arial"/>
                <a:cs typeface="Arial"/>
              </a:rPr>
              <a:t>REVIEW</a:t>
            </a:r>
          </a:p>
        </p:txBody>
      </p:sp>
      <p:sp>
        <p:nvSpPr>
          <p:cNvPr id="13" name="benefit-b-03">
            <a:extLst xmlns:a="http://schemas.openxmlformats.org/drawingml/2006/main">
              <a:ext uri="{FF2B5EF4-FFF2-40B4-BE49-F238E27FC236}">
                <a16:creationId xmlns:a16="http://schemas.microsoft.com/office/drawing/2014/main" id="{45E79AC2-ACA0-4FC9-BB93-91187B0EEB79}"/>
              </a:ext>
            </a:extLst>
          </p:cNvPr>
          <p:cNvSpPr>
            <a:spLocks xmlns:a="http://schemas.openxmlformats.org/drawingml/2006/main" noGrp="1"/>
          </p:cNvSpPr>
          <p:nvPr/>
        </p:nvSpPr>
        <p:spPr>
          <a:xfrm xmlns:a="http://schemas.openxmlformats.org/drawingml/2006/main">
            <a:off x="971550" y="523875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9CA3AF"/>
                </a:solidFill>
                <a:latin typeface="Arial"/>
                <a:ea typeface="Arial"/>
                <a:cs typeface="Arial"/>
              </a:defRPr>
            </a:pPr>
            <a:r>
              <a:rPr sz="1125" b="0">
                <a:solidFill>
                  <a:srgbClr val="9CA3AF"/>
                </a:solidFill>
                <a:latin typeface="Arial"/>
                <a:ea typeface="Arial"/>
                <a:cs typeface="Arial"/>
              </a:rPr>
              <a:t>Store match history for structured player development.</a:t>
            </a:r>
          </a:p>
        </p:txBody>
      </p:sp>
      <p:sp>
        <p:nvSpPr>
          <p:cNvPr id="14" name="innovation-browser-frame">
            <a:extLst xmlns:a="http://schemas.openxmlformats.org/drawingml/2006/main">
              <a:ext uri="{FF2B5EF4-FFF2-40B4-BE49-F238E27FC236}">
                <a16:creationId xmlns:a16="http://schemas.microsoft.com/office/drawing/2014/main" id="{DEB61D35-0F98-4E42-AEDD-C0962350B5E6}"/>
              </a:ext>
            </a:extLst>
          </p:cNvPr>
          <p:cNvSpPr>
            <a:spLocks xmlns:a="http://schemas.openxmlformats.org/drawingml/2006/main" noGrp="1"/>
          </p:cNvSpPr>
          <p:nvPr/>
        </p:nvSpPr>
        <p:spPr>
          <a:xfrm xmlns:a="http://schemas.openxmlformats.org/drawingml/2006/main">
            <a:off x="5238750" y="1028700"/>
            <a:ext cx="6496050" cy="4000500"/>
          </a:xfrm>
          <a:prstGeom xmlns:a="http://schemas.openxmlformats.org/drawingml/2006/main" prst="roundRect">
            <a:avLst>
              <a:gd name="adj" fmla="val 3810"/>
            </a:avLst>
          </a:prstGeom>
          <a:noFill xmlns:a="http://schemas.openxmlformats.org/drawingml/2006/main"/>
          <a:ln xmlns:a="http://schemas.openxmlformats.org/drawingml/2006/main" w="9525">
            <a:solidFill>
              <a:srgbClr val="363941"/>
            </a:solidFill>
            <a:prstDash val="solid"/>
          </a:ln>
        </p:spPr>
      </p:sp>
      <p:sp>
        <p:nvSpPr>
          <p:cNvPr id="15" name="innovation-dot-0">
            <a:extLst xmlns:a="http://schemas.openxmlformats.org/drawingml/2006/main">
              <a:ext uri="{FF2B5EF4-FFF2-40B4-BE49-F238E27FC236}">
                <a16:creationId xmlns:a16="http://schemas.microsoft.com/office/drawing/2014/main" id="{DA657F6B-CC99-4E51-A812-39DEFB47A7C8}"/>
              </a:ext>
            </a:extLst>
          </p:cNvPr>
          <p:cNvSpPr>
            <a:spLocks xmlns:a="http://schemas.openxmlformats.org/drawingml/2006/main" noGrp="1"/>
          </p:cNvSpPr>
          <p:nvPr/>
        </p:nvSpPr>
        <p:spPr>
          <a:xfrm xmlns:a="http://schemas.openxmlformats.org/drawingml/2006/main">
            <a:off x="5391150" y="1152525"/>
            <a:ext cx="85725" cy="857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6" name="innovation-dot-1">
            <a:extLst xmlns:a="http://schemas.openxmlformats.org/drawingml/2006/main">
              <a:ext uri="{FF2B5EF4-FFF2-40B4-BE49-F238E27FC236}">
                <a16:creationId xmlns:a16="http://schemas.microsoft.com/office/drawing/2014/main" id="{29F941A5-FE4B-466E-97FB-6361DAD15887}"/>
              </a:ext>
            </a:extLst>
          </p:cNvPr>
          <p:cNvSpPr>
            <a:spLocks xmlns:a="http://schemas.openxmlformats.org/drawingml/2006/main" noGrp="1"/>
          </p:cNvSpPr>
          <p:nvPr/>
        </p:nvSpPr>
        <p:spPr>
          <a:xfrm xmlns:a="http://schemas.openxmlformats.org/drawingml/2006/main">
            <a:off x="5553075" y="1152525"/>
            <a:ext cx="85725" cy="85725"/>
          </a:xfrm>
          <a:prstGeom xmlns:a="http://schemas.openxmlformats.org/drawingml/2006/main" prst="ellipse">
            <a:avLst/>
          </a:prstGeom>
          <a:solidFill xmlns:a="http://schemas.openxmlformats.org/drawingml/2006/main">
            <a:srgbClr val="FEBB2E"/>
          </a:solidFill>
          <a:ln xmlns:a="http://schemas.openxmlformats.org/drawingml/2006/main" w="0">
            <a:noFill/>
            <a:prstDash val="solid"/>
          </a:ln>
        </p:spPr>
      </p:sp>
      <p:sp>
        <p:nvSpPr>
          <p:cNvPr id="17" name="innovation-dot-2">
            <a:extLst xmlns:a="http://schemas.openxmlformats.org/drawingml/2006/main">
              <a:ext uri="{FF2B5EF4-FFF2-40B4-BE49-F238E27FC236}">
                <a16:creationId xmlns:a16="http://schemas.microsoft.com/office/drawing/2014/main" id="{1B5B3207-2DD4-4519-B25F-F5EF7634ECBD}"/>
              </a:ext>
            </a:extLst>
          </p:cNvPr>
          <p:cNvSpPr>
            <a:spLocks xmlns:a="http://schemas.openxmlformats.org/drawingml/2006/main" noGrp="1"/>
          </p:cNvSpPr>
          <p:nvPr/>
        </p:nvSpPr>
        <p:spPr>
          <a:xfrm xmlns:a="http://schemas.openxmlformats.org/drawingml/2006/main">
            <a:off x="5715000" y="1152525"/>
            <a:ext cx="85725" cy="857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8" name="innovation-url">
            <a:extLst xmlns:a="http://schemas.openxmlformats.org/drawingml/2006/main">
              <a:ext uri="{FF2B5EF4-FFF2-40B4-BE49-F238E27FC236}">
                <a16:creationId xmlns:a16="http://schemas.microsoft.com/office/drawing/2014/main" id="{E74976F7-8B64-4FEC-9672-186D67174943}"/>
              </a:ext>
            </a:extLst>
          </p:cNvPr>
          <p:cNvSpPr>
            <a:spLocks xmlns:a="http://schemas.openxmlformats.org/drawingml/2006/main" noGrp="1"/>
          </p:cNvSpPr>
          <p:nvPr/>
        </p:nvSpPr>
        <p:spPr>
          <a:xfrm xmlns:a="http://schemas.openxmlformats.org/drawingml/2006/main">
            <a:off x="6057900" y="1104900"/>
            <a:ext cx="5353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0">
                <a:solidFill>
                  <a:srgbClr val="777B84"/>
                </a:solidFill>
                <a:latin typeface="Arial"/>
                <a:ea typeface="Arial"/>
                <a:cs typeface="Arial"/>
              </a:defRPr>
            </a:pPr>
            <a:r>
              <a:rPr sz="825" b="0">
                <a:solidFill>
                  <a:srgbClr val="777B84"/>
                </a:solidFill>
                <a:latin typeface="Arial"/>
                <a:ea typeface="Arial"/>
                <a:cs typeface="Arial"/>
              </a:rPr>
              <a:t>shuttletrace.ai</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5d368db698b4d50"/>
          <a:srcRect xmlns:a="http://schemas.openxmlformats.org/drawingml/2006/main" l="9915" t="0" r="9915" b="0"/>
          <a:stretch xmlns:a="http://schemas.openxmlformats.org/drawingml/2006/main">
            <a:fillRect l="0" t="0" r="0" b="0"/>
          </a:stretch>
        </p:blipFill>
        <p:spPr>
          <a:xfrm xmlns:a="http://schemas.openxmlformats.org/drawingml/2006/main">
            <a:off x="5314950" y="1352550"/>
            <a:ext cx="6343650" cy="3600450"/>
          </a:xfrm>
          <a:prstGeom xmlns:a="http://schemas.openxmlformats.org/drawingml/2006/main" prst="roundRect">
            <a:avLst>
              <a:gd name="adj" fmla="val 3175"/>
            </a:avLst>
          </a:prstGeom>
        </p:spPr>
      </p:pic>
      <p:sp>
        <p:nvSpPr>
          <p:cNvPr id="20" name="innovation-tablet-ipad-frame">
            <a:extLst xmlns:a="http://schemas.openxmlformats.org/drawingml/2006/main">
              <a:ext uri="{FF2B5EF4-FFF2-40B4-BE49-F238E27FC236}">
                <a16:creationId xmlns:a16="http://schemas.microsoft.com/office/drawing/2014/main" id="{4FC3EDA8-3771-4156-AB71-CF4DB9A8D118}"/>
              </a:ext>
            </a:extLst>
          </p:cNvPr>
          <p:cNvSpPr>
            <a:spLocks xmlns:a="http://schemas.openxmlformats.org/drawingml/2006/main" noGrp="1"/>
          </p:cNvSpPr>
          <p:nvPr/>
        </p:nvSpPr>
        <p:spPr>
          <a:xfrm xmlns:a="http://schemas.openxmlformats.org/drawingml/2006/main">
            <a:off x="7067550" y="4533900"/>
            <a:ext cx="4095750" cy="1971675"/>
          </a:xfrm>
          <a:prstGeom xmlns:a="http://schemas.openxmlformats.org/drawingml/2006/main" prst="roundRect">
            <a:avLst>
              <a:gd name="adj" fmla="val 11594"/>
            </a:avLst>
          </a:prstGeom>
          <a:noFill xmlns:a="http://schemas.openxmlformats.org/drawingml/2006/main"/>
          <a:ln xmlns:a="http://schemas.openxmlformats.org/drawingml/2006/main" w="9525">
            <a:solidFill>
              <a:srgbClr val="444852"/>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37d22d0dd6a4590"/>
          <a:srcRect xmlns:a="http://schemas.openxmlformats.org/drawingml/2006/main" l="76" t="0" r="76" b="0"/>
          <a:stretch xmlns:a="http://schemas.openxmlformats.org/drawingml/2006/main">
            <a:fillRect l="0" t="0" r="0" b="0"/>
          </a:stretch>
        </p:blipFill>
        <p:spPr>
          <a:xfrm xmlns:a="http://schemas.openxmlformats.org/drawingml/2006/main">
            <a:off x="7191375" y="4657725"/>
            <a:ext cx="3848100" cy="1724025"/>
          </a:xfrm>
          <a:prstGeom xmlns:a="http://schemas.openxmlformats.org/drawingml/2006/main" prst="roundRect">
            <a:avLst>
              <a:gd name="adj" fmla="val 8840"/>
            </a:avLst>
          </a:prstGeom>
        </p:spPr>
      </p:pic>
      <p:sp>
        <p:nvSpPr>
          <p:cNvPr id="22" name="innovation-tablet-camera">
            <a:extLst xmlns:a="http://schemas.openxmlformats.org/drawingml/2006/main">
              <a:ext uri="{FF2B5EF4-FFF2-40B4-BE49-F238E27FC236}">
                <a16:creationId xmlns:a16="http://schemas.microsoft.com/office/drawing/2014/main" id="{6263D421-65B1-4AB4-B383-A1998E12E1D1}"/>
              </a:ext>
            </a:extLst>
          </p:cNvPr>
          <p:cNvSpPr>
            <a:spLocks xmlns:a="http://schemas.openxmlformats.org/drawingml/2006/main" noGrp="1"/>
          </p:cNvSpPr>
          <p:nvPr/>
        </p:nvSpPr>
        <p:spPr>
          <a:xfrm xmlns:a="http://schemas.openxmlformats.org/drawingml/2006/main">
            <a:off x="11058525" y="5491163"/>
            <a:ext cx="47625" cy="47625"/>
          </a:xfrm>
          <a:prstGeom xmlns:a="http://schemas.openxmlformats.org/drawingml/2006/main" prst="ellipse">
            <a:avLst/>
          </a:prstGeom>
          <a:solidFill xmlns:a="http://schemas.openxmlformats.org/drawingml/2006/main">
            <a:srgbClr val="5F636B"/>
          </a:solidFill>
          <a:ln xmlns:a="http://schemas.openxmlformats.org/drawingml/2006/main" w="0">
            <a:noFill/>
            <a:prstDash val="solid"/>
          </a:ln>
        </p:spPr>
      </p:sp>
      <p:sp>
        <p:nvSpPr>
          <p:cNvPr id="23" name="innovation-proof-label">
            <a:extLst xmlns:a="http://schemas.openxmlformats.org/drawingml/2006/main">
              <a:ext uri="{FF2B5EF4-FFF2-40B4-BE49-F238E27FC236}">
                <a16:creationId xmlns:a16="http://schemas.microsoft.com/office/drawing/2014/main" id="{46D9C5E3-199A-49F2-B2FF-062CD557EA29}"/>
              </a:ext>
            </a:extLst>
          </p:cNvPr>
          <p:cNvSpPr>
            <a:spLocks xmlns:a="http://schemas.openxmlformats.org/drawingml/2006/main" noGrp="1"/>
          </p:cNvSpPr>
          <p:nvPr/>
        </p:nvSpPr>
        <p:spPr>
          <a:xfrm xmlns:a="http://schemas.openxmlformats.org/drawingml/2006/main">
            <a:off x="4953000" y="5467350"/>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00" b="1">
                <a:solidFill>
                  <a:srgbClr val="D7FF00"/>
                </a:solidFill>
                <a:latin typeface="Arial"/>
                <a:ea typeface="Arial"/>
                <a:cs typeface="Arial"/>
              </a:defRPr>
            </a:pPr>
            <a:r>
              <a:rPr sz="900" b="1">
                <a:solidFill>
                  <a:srgbClr val="D7FF00"/>
                </a:solidFill>
                <a:latin typeface="Arial"/>
                <a:ea typeface="Arial"/>
                <a:cs typeface="Arial"/>
              </a:rPr>
              <a:t>REAL WORKING INTERFACE</a:t>
            </a:r>
          </a:p>
        </p:txBody>
      </p:sp>
    </p:spTree>
    <p:extLst>
      <p:ext uri="{BB962C8B-B14F-4D97-AF65-F5344CB8AC3E}">
        <p14:creationId xmlns:p14="http://schemas.microsoft.com/office/powerpoint/2010/main" val="1034392286"/>
      </p:ext>
    </p:extLst>
  </p:cSld>
</p:sld>
</file>

<file path=ppt/slides/slide4.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7605873-97A8-49D8-B0D7-2C0E53CF368A}"/>
              </a:ext>
            </a:extLst>
          </p:cNvPr>
          <p:cNvSpPr>
            <a:spLocks xmlns:a="http://schemas.openxmlformats.org/drawingml/2006/main" noGrp="1"/>
          </p:cNvSpPr>
          <p:nvPr/>
        </p:nvSpPr>
        <p:spPr>
          <a:xfrm xmlns:a="http://schemas.openxmlformats.org/drawingml/2006/main">
            <a:off x="457200" y="457200"/>
            <a:ext cx="112772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latin typeface="Georgia"/>
                <a:ea typeface="Georgia"/>
                <a:cs typeface="Georgia"/>
              </a:defRPr>
            </a:pPr>
            <a:r>
              <a:t>3. NOVELTY: Digital Simplicity Over Outdated Manual Workflows</a:t>
            </a:r>
          </a:p>
        </p:txBody>
      </p:sp>
      <p:sp>
        <p:nvSpPr>
          <p:cNvPr id="3" name="Rectangle 2">
            <a:extLst xmlns:a="http://schemas.openxmlformats.org/drawingml/2006/main">
              <a:ext uri="{FF2B5EF4-FFF2-40B4-BE49-F238E27FC236}">
                <a16:creationId xmlns:a16="http://schemas.microsoft.com/office/drawing/2014/main" id="{A781B1F2-0F48-4B09-AE57-21A4D730AC3D}"/>
              </a:ext>
            </a:extLst>
          </p:cNvPr>
          <p:cNvSpPr>
            <a:spLocks xmlns:a="http://schemas.openxmlformats.org/drawingml/2006/main" noGrp="1"/>
          </p:cNvSpPr>
          <p:nvPr/>
        </p:nvSpPr>
        <p:spPr>
          <a:xfrm xmlns:a="http://schemas.openxmlformats.org/drawingml/2006/main">
            <a:off x="457200" y="1188720"/>
            <a:ext cx="11277295" cy="25400"/>
          </a:xfrm>
          <a:prstGeom xmlns:a="http://schemas.openxmlformats.org/drawingml/2006/main" prst="rect">
            <a:avLst/>
          </a:prstGeom>
          <a:solidFill xmlns:a="http://schemas.openxmlformats.org/drawingml/2006/main">
            <a:srgbClr val="00D2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41D876C5-C5C4-45DE-B371-D4E637A7B5A1}"/>
              </a:ext>
            </a:extLst>
          </p:cNvPr>
          <p:cNvSpPr>
            <a:spLocks xmlns:a="http://schemas.openxmlformats.org/drawingml/2006/main" noGrp="1"/>
          </p:cNvSpPr>
          <p:nvPr/>
        </p:nvSpPr>
        <p:spPr>
          <a:xfrm xmlns:a="http://schemas.openxmlformats.org/drawingml/2006/main">
            <a:off x="1371600" y="2011680"/>
            <a:ext cx="2926080" cy="2926080"/>
          </a:xfrm>
          <a:prstGeom xmlns:a="http://schemas.openxmlformats.org/drawingml/2006/main" prst="ellipse">
            <a:avLst/>
          </a:prstGeom>
          <a:solidFill xmlns:a="http://schemas.openxmlformats.org/drawingml/2006/main">
            <a:srgbClr val="1E293B"/>
          </a:solidFill>
          <a:ln xmlns:a="http://schemas.openxmlformats.org/drawingml/2006/main">
            <a:solidFill>
              <a:srgbClr val="EF444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defRPr sz="1800" b="1">
                <a:solidFill>
                  <a:srgbClr val="EF4444"/>
                </a:solidFill>
                <a:latin typeface="Georgia"/>
                <a:ea typeface="Georgia"/>
                <a:cs typeface="Georgia"/>
              </a:defRPr>
            </a:pPr>
            <a:r>
              <a:t>THE OLD WAY</a:t>
            </a:r>
            <a:br/>
          </a:p>
          <a:p xmlns:a="http://schemas.openxmlformats.org/drawingml/2006/main">
            <a:pPr algn="ctr">
              <a:buNone/>
              <a:defRPr sz="1300">
                <a:solidFill>
                  <a:srgbClr val="94A3B8"/>
                </a:solidFill>
                <a:latin typeface="Arial"/>
                <a:ea typeface="Arial"/>
                <a:cs typeface="Arial"/>
              </a:defRPr>
            </a:pPr>
            <a:r>
              <a:t>• Paper &amp; pen mess</a:t>
            </a:r>
          </a:p>
          <a:p xmlns:a="http://schemas.openxmlformats.org/drawingml/2006/main">
            <a:pPr algn="ctr">
              <a:buNone/>
              <a:defRPr sz="1300">
                <a:solidFill>
                  <a:srgbClr val="94A3B8"/>
                </a:solidFill>
                <a:latin typeface="Arial"/>
                <a:ea typeface="Arial"/>
                <a:cs typeface="Arial"/>
              </a:defRPr>
            </a:pPr>
            <a:r>
              <a:t>• Math during breaks</a:t>
            </a:r>
          </a:p>
          <a:p xmlns:a="http://schemas.openxmlformats.org/drawingml/2006/main">
            <a:pPr algn="ctr">
              <a:buNone/>
              <a:defRPr sz="1300">
                <a:solidFill>
                  <a:srgbClr val="94A3B8"/>
                </a:solidFill>
                <a:latin typeface="Arial"/>
                <a:ea typeface="Arial"/>
                <a:cs typeface="Arial"/>
              </a:defRPr>
            </a:pPr>
            <a:r>
              <a:t>• Easily lost sheets</a:t>
            </a:r>
          </a:p>
          <a:p xmlns:a="http://schemas.openxmlformats.org/drawingml/2006/main">
            <a:pPr algn="ctr">
              <a:buNone/>
              <a:defRPr sz="1300">
                <a:solidFill>
                  <a:srgbClr val="94A3B8"/>
                </a:solidFill>
                <a:latin typeface="Arial"/>
                <a:ea typeface="Arial"/>
                <a:cs typeface="Arial"/>
              </a:defRPr>
            </a:pPr>
            <a:r>
              <a:t>• Unorganized binder files</a:t>
            </a:r>
          </a:p>
        </p:txBody>
      </p:sp>
      <p:sp>
        <p:nvSpPr>
          <p:cNvPr id="5" name="TextBox 4">
            <a:extLst xmlns:a="http://schemas.openxmlformats.org/drawingml/2006/main">
              <a:ext uri="{FF2B5EF4-FFF2-40B4-BE49-F238E27FC236}">
                <a16:creationId xmlns:a16="http://schemas.microsoft.com/office/drawing/2014/main" id="{C57CF34F-7C16-46A4-A3E5-5C498A274545}"/>
              </a:ext>
            </a:extLst>
          </p:cNvPr>
          <p:cNvSpPr>
            <a:spLocks xmlns:a="http://schemas.openxmlformats.org/drawingml/2006/main" noGrp="1"/>
          </p:cNvSpPr>
          <p:nvPr/>
        </p:nvSpPr>
        <p:spPr>
          <a:xfrm xmlns:a="http://schemas.openxmlformats.org/drawingml/2006/main">
            <a:off x="4572000" y="2926080"/>
            <a:ext cx="3017520" cy="9144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defRPr sz="3600" b="1">
                <a:solidFill>
                  <a:srgbClr val="00D2C4"/>
                </a:solidFill>
                <a:latin typeface="Georgia"/>
                <a:ea typeface="Georgia"/>
                <a:cs typeface="Georgia"/>
              </a:defRPr>
            </a:pPr>
            <a:r>
              <a:t>VS</a:t>
            </a:r>
          </a:p>
        </p:txBody>
      </p:sp>
      <p:sp>
        <p:nvSpPr>
          <p:cNvPr id="6" name="Oval 5">
            <a:extLst xmlns:a="http://schemas.openxmlformats.org/drawingml/2006/main">
              <a:ext uri="{FF2B5EF4-FFF2-40B4-BE49-F238E27FC236}">
                <a16:creationId xmlns:a16="http://schemas.microsoft.com/office/drawing/2014/main" id="{D212E4CC-B20D-45B6-9F0F-AB3D2A2102B5}"/>
              </a:ext>
            </a:extLst>
          </p:cNvPr>
          <p:cNvSpPr>
            <a:spLocks xmlns:a="http://schemas.openxmlformats.org/drawingml/2006/main" noGrp="1"/>
          </p:cNvSpPr>
          <p:nvPr/>
        </p:nvSpPr>
        <p:spPr>
          <a:xfrm xmlns:a="http://schemas.openxmlformats.org/drawingml/2006/main">
            <a:off x="7772400" y="2011680"/>
            <a:ext cx="2926080" cy="2926080"/>
          </a:xfrm>
          <a:prstGeom xmlns:a="http://schemas.openxmlformats.org/drawingml/2006/main" prst="ellipse">
            <a:avLst/>
          </a:prstGeom>
          <a:solidFill xmlns:a="http://schemas.openxmlformats.org/drawingml/2006/main">
            <a:srgbClr val="1E293B"/>
          </a:solidFill>
          <a:ln xmlns:a="http://schemas.openxmlformats.org/drawingml/2006/main">
            <a:solidFill>
              <a:srgbClr val="00D2C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defRPr sz="1800" b="1">
                <a:solidFill>
                  <a:srgbClr val="00D2C4"/>
                </a:solidFill>
                <a:latin typeface="Georgia"/>
                <a:ea typeface="Georgia"/>
                <a:cs typeface="Georgia"/>
              </a:defRPr>
            </a:pPr>
            <a:r>
              <a:t>SHUTTLETRACE</a:t>
            </a:r>
            <a:br/>
          </a:p>
          <a:p xmlns:a="http://schemas.openxmlformats.org/drawingml/2006/main">
            <a:pPr algn="ctr">
              <a:buNone/>
              <a:defRPr sz="1300">
                <a:solidFill>
                  <a:srgbClr val="F8FAFC"/>
                </a:solidFill>
                <a:latin typeface="Arial"/>
                <a:ea typeface="Arial"/>
                <a:cs typeface="Arial"/>
              </a:defRPr>
            </a:pPr>
            <a:r>
              <a:t>• Tap-based mobile app</a:t>
            </a:r>
          </a:p>
          <a:p xmlns:a="http://schemas.openxmlformats.org/drawingml/2006/main">
            <a:pPr algn="ctr">
              <a:buNone/>
              <a:defRPr sz="1300">
                <a:solidFill>
                  <a:srgbClr val="F8FAFC"/>
                </a:solidFill>
                <a:latin typeface="Arial"/>
                <a:ea typeface="Arial"/>
                <a:cs typeface="Arial"/>
              </a:defRPr>
            </a:pPr>
            <a:r>
              <a:t>• Real-time dashboard</a:t>
            </a:r>
          </a:p>
          <a:p xmlns:a="http://schemas.openxmlformats.org/drawingml/2006/main">
            <a:pPr algn="ctr">
              <a:buNone/>
              <a:defRPr sz="1300">
                <a:solidFill>
                  <a:srgbClr val="F8FAFC"/>
                </a:solidFill>
                <a:latin typeface="Arial"/>
                <a:ea typeface="Arial"/>
                <a:cs typeface="Arial"/>
              </a:defRPr>
            </a:pPr>
            <a:r>
              <a:t>• Secure cloud archive</a:t>
            </a:r>
          </a:p>
          <a:p xmlns:a="http://schemas.openxmlformats.org/drawingml/2006/main">
            <a:pPr algn="ctr">
              <a:buNone/>
              <a:defRPr sz="1300">
                <a:solidFill>
                  <a:srgbClr val="F8FAFC"/>
                </a:solidFill>
                <a:latin typeface="Arial"/>
                <a:ea typeface="Arial"/>
                <a:cs typeface="Arial"/>
              </a:defRPr>
            </a:pPr>
            <a:r>
              <a:t>• Zero hardware costs (RM0)</a:t>
            </a:r>
          </a:p>
        </p:txBody>
      </p:sp>
      <p:sp>
        <p:nvSpPr>
          <p:cNvPr id="7" name="Rounded Rectangle 6">
            <a:extLst xmlns:a="http://schemas.openxmlformats.org/drawingml/2006/main">
              <a:ext uri="{FF2B5EF4-FFF2-40B4-BE49-F238E27FC236}">
                <a16:creationId xmlns:a16="http://schemas.microsoft.com/office/drawing/2014/main" id="{C9F71B12-8551-4E72-9B75-B60057216F9D}"/>
              </a:ext>
            </a:extLst>
          </p:cNvPr>
          <p:cNvSpPr>
            <a:spLocks xmlns:a="http://schemas.openxmlformats.org/drawingml/2006/main" noGrp="1"/>
          </p:cNvSpPr>
          <p:nvPr/>
        </p:nvSpPr>
        <p:spPr>
          <a:xfrm xmlns:a="http://schemas.openxmlformats.org/drawingml/2006/main">
            <a:off x="457200" y="5303520"/>
            <a:ext cx="11277295" cy="91440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defRPr sz="1400" b="1">
                <a:solidFill>
                  <a:srgbClr val="F8FAFC"/>
                </a:solidFill>
                <a:latin typeface="Arial"/>
                <a:ea typeface="Arial"/>
                <a:cs typeface="Arial"/>
              </a:defRPr>
            </a:pPr>
            <a:r>
              <a:t>Value Proposition: Replaces tedious pen-and-paper with immediate, error-free statistics using coaches' sedia ada mobile devices—requiring no technical setup or training.</a:t>
            </a:r>
          </a:p>
        </p:txBody>
      </p:sp>
    </p:spTree>
    <p:extLst>
      <p:ext uri="{BB962C8B-B14F-4D97-AF65-F5344CB8AC3E}">
        <p14:creationId xmlns:p14="http://schemas.microsoft.com/office/powerpoint/2010/main" val="1359743505"/>
      </p:ext>
    </p:extLst>
  </p:cSld>
</p:sld>
</file>

<file path=ppt/slides/slide5.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8" name="section-4">
            <a:extLst xmlns:a="http://schemas.openxmlformats.org/drawingml/2006/main">
              <a:ext uri="{FF2B5EF4-FFF2-40B4-BE49-F238E27FC236}">
                <a16:creationId xmlns:a16="http://schemas.microsoft.com/office/drawing/2014/main" id="{1A6A973D-F6EA-4F1A-AD65-FCE967FAA0C8}"/>
              </a:ext>
            </a:extLst>
          </p:cNvPr>
          <p:cNvSpPr>
            <a:spLocks xmlns:a="http://schemas.openxmlformats.org/drawingml/2006/main" noGrp="1"/>
          </p:cNvSpPr>
          <p:nvPr/>
        </p:nvSpPr>
        <p:spPr>
          <a:xfrm xmlns:a="http://schemas.openxmlformats.org/drawingml/2006/main">
            <a:off x="457200" y="304800"/>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04</a:t>
            </a:r>
          </a:p>
        </p:txBody>
      </p:sp>
      <p:sp>
        <p:nvSpPr>
          <p:cNvPr id="2" name="eyebrow-4">
            <a:extLst xmlns:a="http://schemas.openxmlformats.org/drawingml/2006/main">
              <a:ext uri="{FF2B5EF4-FFF2-40B4-BE49-F238E27FC236}">
                <a16:creationId xmlns:a16="http://schemas.microsoft.com/office/drawing/2014/main" id="{738B5D9C-608F-47A7-BD02-F3FF51896D81}"/>
              </a:ext>
            </a:extLst>
          </p:cNvPr>
          <p:cNvSpPr>
            <a:spLocks xmlns:a="http://schemas.openxmlformats.org/drawingml/2006/main" noGrp="1"/>
          </p:cNvSpPr>
          <p:nvPr/>
        </p:nvSpPr>
        <p:spPr>
          <a:xfrm xmlns:a="http://schemas.openxmlformats.org/drawingml/2006/main">
            <a:off x="933450" y="304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9CA3AF"/>
                </a:solidFill>
                <a:latin typeface="Arial"/>
                <a:ea typeface="Arial"/>
                <a:cs typeface="Arial"/>
              </a:defRPr>
            </a:pPr>
            <a:r>
              <a:rPr sz="1050" b="1">
                <a:solidFill>
                  <a:srgbClr val="9CA3AF"/>
                </a:solidFill>
                <a:latin typeface="Arial"/>
                <a:ea typeface="Arial"/>
                <a:cs typeface="Arial"/>
              </a:rPr>
              <a:t>TARGET USERS</a:t>
            </a:r>
          </a:p>
        </p:txBody>
      </p:sp>
      <p:sp>
        <p:nvSpPr>
          <p:cNvPr id="3" name="users-title">
            <a:extLst xmlns:a="http://schemas.openxmlformats.org/drawingml/2006/main">
              <a:ext uri="{FF2B5EF4-FFF2-40B4-BE49-F238E27FC236}">
                <a16:creationId xmlns:a16="http://schemas.microsoft.com/office/drawing/2014/main" id="{7D07E76B-3AA9-48F4-857B-74C518579813}"/>
              </a:ext>
            </a:extLst>
          </p:cNvPr>
          <p:cNvSpPr>
            <a:spLocks xmlns:a="http://schemas.openxmlformats.org/drawingml/2006/main" noGrp="1"/>
          </p:cNvSpPr>
          <p:nvPr/>
        </p:nvSpPr>
        <p:spPr>
          <a:xfrm xmlns:a="http://schemas.openxmlformats.org/drawingml/2006/main">
            <a:off x="476250" y="857250"/>
            <a:ext cx="561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925" b="1">
                <a:solidFill>
                  <a:srgbClr val="F8FAFC"/>
                </a:solidFill>
                <a:latin typeface="Georgia"/>
                <a:ea typeface="Georgia"/>
                <a:cs typeface="Georgia"/>
              </a:defRPr>
            </a:pPr>
            <a:r>
              <a:rPr sz="2925" b="1">
                <a:solidFill>
                  <a:srgbClr val="F8FAFC"/>
                </a:solidFill>
                <a:latin typeface="Georgia"/>
                <a:ea typeface="Georgia"/>
                <a:cs typeface="Georgia"/>
              </a:rPr>
              <a:t>Elite insight should not be</a:t>
            </a:r>
          </a:p>
          <a:p xmlns:a="http://schemas.openxmlformats.org/drawingml/2006/main">
            <a:pPr algn="l">
              <a:buNone/>
              <a:defRPr sz="2925" b="1">
                <a:solidFill>
                  <a:srgbClr val="F8FAFC"/>
                </a:solidFill>
                <a:latin typeface="Georgia"/>
                <a:ea typeface="Georgia"/>
                <a:cs typeface="Georgia"/>
              </a:defRPr>
            </a:pPr>
            <a:r>
              <a:rPr sz="2925" b="1">
                <a:solidFill>
                  <a:srgbClr val="F8FAFC"/>
                </a:solidFill>
                <a:latin typeface="Georgia"/>
                <a:ea typeface="Georgia"/>
                <a:cs typeface="Georgia"/>
              </a:rPr>
              <a:t>limited to elite budgets.</a:t>
            </a:r>
          </a:p>
        </p:txBody>
      </p:sp>
      <p:sp>
        <p:nvSpPr>
          <p:cNvPr id="4" name="users-subtitle">
            <a:extLst xmlns:a="http://schemas.openxmlformats.org/drawingml/2006/main">
              <a:ext uri="{FF2B5EF4-FFF2-40B4-BE49-F238E27FC236}">
                <a16:creationId xmlns:a16="http://schemas.microsoft.com/office/drawing/2014/main" id="{3D9B54EB-A27C-40A3-BCBA-8785C22B221F}"/>
              </a:ext>
            </a:extLst>
          </p:cNvPr>
          <p:cNvSpPr>
            <a:spLocks xmlns:a="http://schemas.openxmlformats.org/drawingml/2006/main" noGrp="1"/>
          </p:cNvSpPr>
          <p:nvPr/>
        </p:nvSpPr>
        <p:spPr>
          <a:xfrm xmlns:a="http://schemas.openxmlformats.org/drawingml/2006/main">
            <a:off x="495300" y="20764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9CA3AF"/>
                </a:solidFill>
                <a:latin typeface="Arial"/>
                <a:ea typeface="Arial"/>
                <a:cs typeface="Arial"/>
              </a:defRPr>
            </a:pPr>
            <a:r>
              <a:rPr sz="1350" b="0">
                <a:solidFill>
                  <a:srgbClr val="9CA3AF"/>
                </a:solidFill>
                <a:latin typeface="Arial"/>
                <a:ea typeface="Arial"/>
                <a:cs typeface="Arial"/>
              </a:rPr>
              <a:t>ShuttleTrace scales the same disciplined performance mindset from national-level badminton to everyday coaching environments.</a:t>
            </a:r>
          </a:p>
        </p:txBody>
      </p:sp>
      <p:sp>
        <p:nvSpPr>
          <p:cNvPr id="5" name="user-01">
            <a:extLst xmlns:a="http://schemas.openxmlformats.org/drawingml/2006/main">
              <a:ext uri="{FF2B5EF4-FFF2-40B4-BE49-F238E27FC236}">
                <a16:creationId xmlns:a16="http://schemas.microsoft.com/office/drawing/2014/main" id="{49BB75DF-9891-4425-A058-8D62F257A62F}"/>
              </a:ext>
            </a:extLst>
          </p:cNvPr>
          <p:cNvSpPr>
            <a:spLocks xmlns:a="http://schemas.openxmlformats.org/drawingml/2006/main" noGrp="1"/>
          </p:cNvSpPr>
          <p:nvPr/>
        </p:nvSpPr>
        <p:spPr>
          <a:xfrm xmlns:a="http://schemas.openxmlformats.org/drawingml/2006/main">
            <a:off x="495300" y="31432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01</a:t>
            </a:r>
          </a:p>
        </p:txBody>
      </p:sp>
      <p:sp>
        <p:nvSpPr>
          <p:cNvPr id="6" name="user-h-01">
            <a:extLst xmlns:a="http://schemas.openxmlformats.org/drawingml/2006/main">
              <a:ext uri="{FF2B5EF4-FFF2-40B4-BE49-F238E27FC236}">
                <a16:creationId xmlns:a16="http://schemas.microsoft.com/office/drawing/2014/main" id="{F9553D1E-965D-478C-8AF2-6D7F220CB02A}"/>
              </a:ext>
            </a:extLst>
          </p:cNvPr>
          <p:cNvSpPr>
            <a:spLocks xmlns:a="http://schemas.openxmlformats.org/drawingml/2006/main" noGrp="1"/>
          </p:cNvSpPr>
          <p:nvPr/>
        </p:nvSpPr>
        <p:spPr>
          <a:xfrm xmlns:a="http://schemas.openxmlformats.org/drawingml/2006/main">
            <a:off x="952500" y="31242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SCHOOL &amp; UNIVERSITY COACHES</a:t>
            </a:r>
          </a:p>
        </p:txBody>
      </p:sp>
      <p:sp>
        <p:nvSpPr>
          <p:cNvPr id="7" name="user-b-01">
            <a:extLst xmlns:a="http://schemas.openxmlformats.org/drawingml/2006/main">
              <a:ext uri="{FF2B5EF4-FFF2-40B4-BE49-F238E27FC236}">
                <a16:creationId xmlns:a16="http://schemas.microsoft.com/office/drawing/2014/main" id="{5698BABE-FFD0-4476-8734-457B095EBCC0}"/>
              </a:ext>
            </a:extLst>
          </p:cNvPr>
          <p:cNvSpPr>
            <a:spLocks xmlns:a="http://schemas.openxmlformats.org/drawingml/2006/main" noGrp="1"/>
          </p:cNvSpPr>
          <p:nvPr/>
        </p:nvSpPr>
        <p:spPr>
          <a:xfrm xmlns:a="http://schemas.openxmlformats.org/drawingml/2006/main">
            <a:off x="952500" y="341947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0">
                <a:solidFill>
                  <a:srgbClr val="9CA3AF"/>
                </a:solidFill>
                <a:latin typeface="Arial"/>
                <a:ea typeface="Arial"/>
                <a:cs typeface="Arial"/>
              </a:defRPr>
            </a:pPr>
            <a:r>
              <a:rPr sz="1050" b="0">
                <a:solidFill>
                  <a:srgbClr val="9CA3AF"/>
                </a:solidFill>
                <a:latin typeface="Arial"/>
                <a:ea typeface="Arial"/>
                <a:cs typeface="Arial"/>
              </a:rPr>
              <a:t>Track development without buying specialist hardware.</a:t>
            </a:r>
          </a:p>
        </p:txBody>
      </p:sp>
      <p:sp>
        <p:nvSpPr>
          <p:cNvPr id="8" name="user-02">
            <a:extLst xmlns:a="http://schemas.openxmlformats.org/drawingml/2006/main">
              <a:ext uri="{FF2B5EF4-FFF2-40B4-BE49-F238E27FC236}">
                <a16:creationId xmlns:a16="http://schemas.microsoft.com/office/drawing/2014/main" id="{67B575A3-84F4-4423-AEFD-8919B21F332B}"/>
              </a:ext>
            </a:extLst>
          </p:cNvPr>
          <p:cNvSpPr>
            <a:spLocks xmlns:a="http://schemas.openxmlformats.org/drawingml/2006/main" noGrp="1"/>
          </p:cNvSpPr>
          <p:nvPr/>
        </p:nvSpPr>
        <p:spPr>
          <a:xfrm xmlns:a="http://schemas.openxmlformats.org/drawingml/2006/main">
            <a:off x="495300" y="40386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02</a:t>
            </a:r>
          </a:p>
        </p:txBody>
      </p:sp>
      <p:sp>
        <p:nvSpPr>
          <p:cNvPr id="9" name="user-h-02">
            <a:extLst xmlns:a="http://schemas.openxmlformats.org/drawingml/2006/main">
              <a:ext uri="{FF2B5EF4-FFF2-40B4-BE49-F238E27FC236}">
                <a16:creationId xmlns:a16="http://schemas.microsoft.com/office/drawing/2014/main" id="{054201E8-FEFE-48D7-931D-3EF3B1CC5EE4}"/>
              </a:ext>
            </a:extLst>
          </p:cNvPr>
          <p:cNvSpPr>
            <a:spLocks xmlns:a="http://schemas.openxmlformats.org/drawingml/2006/main" noGrp="1"/>
          </p:cNvSpPr>
          <p:nvPr/>
        </p:nvSpPr>
        <p:spPr>
          <a:xfrm xmlns:a="http://schemas.openxmlformats.org/drawingml/2006/main">
            <a:off x="952500"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PRIVATE ACADEMIES</a:t>
            </a:r>
          </a:p>
        </p:txBody>
      </p:sp>
      <p:sp>
        <p:nvSpPr>
          <p:cNvPr id="10" name="user-b-02">
            <a:extLst xmlns:a="http://schemas.openxmlformats.org/drawingml/2006/main">
              <a:ext uri="{FF2B5EF4-FFF2-40B4-BE49-F238E27FC236}">
                <a16:creationId xmlns:a16="http://schemas.microsoft.com/office/drawing/2014/main" id="{E42E78EF-8B6E-4A70-8634-276A0CFEAEA0}"/>
              </a:ext>
            </a:extLst>
          </p:cNvPr>
          <p:cNvSpPr>
            <a:spLocks xmlns:a="http://schemas.openxmlformats.org/drawingml/2006/main" noGrp="1"/>
          </p:cNvSpPr>
          <p:nvPr/>
        </p:nvSpPr>
        <p:spPr>
          <a:xfrm xmlns:a="http://schemas.openxmlformats.org/drawingml/2006/main">
            <a:off x="952500" y="431482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0">
                <a:solidFill>
                  <a:srgbClr val="9CA3AF"/>
                </a:solidFill>
                <a:latin typeface="Arial"/>
                <a:ea typeface="Arial"/>
                <a:cs typeface="Arial"/>
              </a:defRPr>
            </a:pPr>
            <a:r>
              <a:rPr sz="1050" b="0">
                <a:solidFill>
                  <a:srgbClr val="9CA3AF"/>
                </a:solidFill>
                <a:latin typeface="Arial"/>
                <a:ea typeface="Arial"/>
                <a:cs typeface="Arial"/>
              </a:rPr>
              <a:t>Offer structured reports and measurable player progress.</a:t>
            </a:r>
          </a:p>
        </p:txBody>
      </p:sp>
      <p:sp>
        <p:nvSpPr>
          <p:cNvPr id="11" name="user-03">
            <a:extLst xmlns:a="http://schemas.openxmlformats.org/drawingml/2006/main">
              <a:ext uri="{FF2B5EF4-FFF2-40B4-BE49-F238E27FC236}">
                <a16:creationId xmlns:a16="http://schemas.microsoft.com/office/drawing/2014/main" id="{848AE61B-3E4A-4346-A894-99C9AE953DB5}"/>
              </a:ext>
            </a:extLst>
          </p:cNvPr>
          <p:cNvSpPr>
            <a:spLocks xmlns:a="http://schemas.openxmlformats.org/drawingml/2006/main" noGrp="1"/>
          </p:cNvSpPr>
          <p:nvPr/>
        </p:nvSpPr>
        <p:spPr>
          <a:xfrm xmlns:a="http://schemas.openxmlformats.org/drawingml/2006/main">
            <a:off x="495300" y="49339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03</a:t>
            </a:r>
          </a:p>
        </p:txBody>
      </p:sp>
      <p:sp>
        <p:nvSpPr>
          <p:cNvPr id="12" name="user-h-03">
            <a:extLst xmlns:a="http://schemas.openxmlformats.org/drawingml/2006/main">
              <a:ext uri="{FF2B5EF4-FFF2-40B4-BE49-F238E27FC236}">
                <a16:creationId xmlns:a16="http://schemas.microsoft.com/office/drawing/2014/main" id="{33A00386-836C-4C2B-AA87-82205054B69C}"/>
              </a:ext>
            </a:extLst>
          </p:cNvPr>
          <p:cNvSpPr>
            <a:spLocks xmlns:a="http://schemas.openxmlformats.org/drawingml/2006/main" noGrp="1"/>
          </p:cNvSpPr>
          <p:nvPr/>
        </p:nvSpPr>
        <p:spPr>
          <a:xfrm xmlns:a="http://schemas.openxmlformats.org/drawingml/2006/main">
            <a:off x="952500" y="49149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RECREATIONAL PLAYERS</a:t>
            </a:r>
          </a:p>
        </p:txBody>
      </p:sp>
      <p:sp>
        <p:nvSpPr>
          <p:cNvPr id="13" name="user-b-03">
            <a:extLst xmlns:a="http://schemas.openxmlformats.org/drawingml/2006/main">
              <a:ext uri="{FF2B5EF4-FFF2-40B4-BE49-F238E27FC236}">
                <a16:creationId xmlns:a16="http://schemas.microsoft.com/office/drawing/2014/main" id="{7D6A8A0B-263F-4A2E-B1E4-55A958FE63B6}"/>
              </a:ext>
            </a:extLst>
          </p:cNvPr>
          <p:cNvSpPr>
            <a:spLocks xmlns:a="http://schemas.openxmlformats.org/drawingml/2006/main" noGrp="1"/>
          </p:cNvSpPr>
          <p:nvPr/>
        </p:nvSpPr>
        <p:spPr>
          <a:xfrm xmlns:a="http://schemas.openxmlformats.org/drawingml/2006/main">
            <a:off x="952500" y="5210175"/>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0">
                <a:solidFill>
                  <a:srgbClr val="9CA3AF"/>
                </a:solidFill>
                <a:latin typeface="Arial"/>
                <a:ea typeface="Arial"/>
                <a:cs typeface="Arial"/>
              </a:defRPr>
            </a:pPr>
            <a:r>
              <a:rPr sz="1050" b="0">
                <a:solidFill>
                  <a:srgbClr val="9CA3AF"/>
                </a:solidFill>
                <a:latin typeface="Arial"/>
                <a:ea typeface="Arial"/>
                <a:cs typeface="Arial"/>
              </a:rPr>
              <a:t>Understand patterns, errors and strengths after every match.</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d6f248b06bd42a5"/>
          <a:srcRect xmlns:a="http://schemas.openxmlformats.org/drawingml/2006/main" l="14687" t="0" r="14687" b="0"/>
          <a:stretch xmlns:a="http://schemas.openxmlformats.org/drawingml/2006/main">
            <a:fillRect l="0" t="0" r="0" b="0"/>
          </a:stretch>
        </p:blipFill>
        <p:spPr>
          <a:xfrm xmlns:a="http://schemas.openxmlformats.org/drawingml/2006/main">
            <a:off x="6096000" y="781050"/>
            <a:ext cx="2628900" cy="5219700"/>
          </a:xfrm>
          <a:prstGeom xmlns:a="http://schemas.openxmlformats.org/drawingml/2006/main" prst="roundRect">
            <a:avLst>
              <a:gd name="adj" fmla="val 5797"/>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ef69e8ef98942a2"/>
          <a:srcRect xmlns:a="http://schemas.openxmlformats.org/drawingml/2006/main" l="18803" t="0" r="18803" b="0"/>
          <a:stretch xmlns:a="http://schemas.openxmlformats.org/drawingml/2006/main">
            <a:fillRect l="0" t="0" r="0" b="0"/>
          </a:stretch>
        </p:blipFill>
        <p:spPr>
          <a:xfrm xmlns:a="http://schemas.openxmlformats.org/drawingml/2006/main">
            <a:off x="8858250" y="1466850"/>
            <a:ext cx="2857500" cy="4533900"/>
          </a:xfrm>
          <a:prstGeom xmlns:a="http://schemas.openxmlformats.org/drawingml/2006/main" prst="roundRect">
            <a:avLst>
              <a:gd name="adj" fmla="val 5333"/>
            </a:avLst>
          </a:prstGeom>
        </p:spPr>
      </p:pic>
      <p:sp>
        <p:nvSpPr>
          <p:cNvPr id="16" name="users-photo-caption-bg">
            <a:extLst xmlns:a="http://schemas.openxmlformats.org/drawingml/2006/main">
              <a:ext uri="{FF2B5EF4-FFF2-40B4-BE49-F238E27FC236}">
                <a16:creationId xmlns:a16="http://schemas.microsoft.com/office/drawing/2014/main" id="{431F31E6-7102-4164-84BD-EA729AB164D2}"/>
              </a:ext>
            </a:extLst>
          </p:cNvPr>
          <p:cNvSpPr>
            <a:spLocks xmlns:a="http://schemas.openxmlformats.org/drawingml/2006/main" noGrp="1"/>
          </p:cNvSpPr>
          <p:nvPr/>
        </p:nvSpPr>
        <p:spPr>
          <a:xfrm xmlns:a="http://schemas.openxmlformats.org/drawingml/2006/main">
            <a:off x="6286500" y="5391150"/>
            <a:ext cx="5105400" cy="666750"/>
          </a:xfrm>
          <a:prstGeom xmlns:a="http://schemas.openxmlformats.org/drawingml/2006/main" prst="roundRect">
            <a:avLst>
              <a:gd name="adj" fmla="val 17143"/>
            </a:avLst>
          </a:prstGeom>
          <a:solidFill xmlns:a="http://schemas.openxmlformats.org/drawingml/2006/main">
            <a:srgbClr val="101217">
              <a:alpha val="90000"/>
            </a:srgbClr>
          </a:solidFill>
          <a:ln xmlns:a="http://schemas.openxmlformats.org/drawingml/2006/main" w="0">
            <a:noFill/>
            <a:prstDash val="solid"/>
          </a:ln>
        </p:spPr>
      </p:sp>
      <p:sp>
        <p:nvSpPr>
          <p:cNvPr id="17" name="users-photo-caption">
            <a:extLst xmlns:a="http://schemas.openxmlformats.org/drawingml/2006/main">
              <a:ext uri="{FF2B5EF4-FFF2-40B4-BE49-F238E27FC236}">
                <a16:creationId xmlns:a16="http://schemas.microsoft.com/office/drawing/2014/main" id="{B03FBB20-B793-4A7D-8C19-A0F3959C1C1C}"/>
              </a:ext>
            </a:extLst>
          </p:cNvPr>
          <p:cNvSpPr>
            <a:spLocks xmlns:a="http://schemas.openxmlformats.org/drawingml/2006/main" noGrp="1"/>
          </p:cNvSpPr>
          <p:nvPr/>
        </p:nvSpPr>
        <p:spPr>
          <a:xfrm xmlns:a="http://schemas.openxmlformats.org/drawingml/2006/main">
            <a:off x="6496050" y="5467350"/>
            <a:ext cx="4705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D7FF00"/>
                </a:solidFill>
                <a:latin typeface="Arial"/>
                <a:ea typeface="Arial"/>
                <a:cs typeface="Arial"/>
              </a:defRPr>
            </a:pPr>
            <a:r>
              <a:rPr sz="1125" b="1">
                <a:solidFill>
                  <a:srgbClr val="D7FF00"/>
                </a:solidFill>
                <a:latin typeface="Arial"/>
                <a:ea typeface="Arial"/>
                <a:cs typeface="Arial"/>
              </a:rPr>
              <a:t>INSPIRED BY THE HIGHEST LEVEL.</a:t>
            </a:r>
          </a:p>
          <a:p xmlns:a="http://schemas.openxmlformats.org/drawingml/2006/main">
            <a:pPr algn="ctr">
              <a:buNone/>
              <a:defRPr sz="1125" b="1">
                <a:solidFill>
                  <a:srgbClr val="D7FF00"/>
                </a:solidFill>
                <a:latin typeface="Arial"/>
                <a:ea typeface="Arial"/>
                <a:cs typeface="Arial"/>
              </a:defRPr>
            </a:pPr>
            <a:r>
              <a:rPr sz="1125" b="1">
                <a:solidFill>
                  <a:srgbClr val="D7FF00"/>
                </a:solidFill>
                <a:latin typeface="Arial"/>
                <a:ea typeface="Arial"/>
                <a:cs typeface="Arial"/>
              </a:rPr>
              <a:t>DESIGNED FOR EVERY LEVEL.</a:t>
            </a:r>
          </a:p>
        </p:txBody>
      </p:sp>
    </p:spTree>
    <p:extLst>
      <p:ext uri="{BB962C8B-B14F-4D97-AF65-F5344CB8AC3E}">
        <p14:creationId xmlns:p14="http://schemas.microsoft.com/office/powerpoint/2010/main" val="1909683770"/>
      </p:ext>
    </p:extLst>
  </p:cSld>
</p:sld>
</file>

<file path=ppt/slides/slide6.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200EC9-7AD0-43DB-AF84-AE5231B97E37}"/>
              </a:ext>
            </a:extLst>
          </p:cNvPr>
          <p:cNvSpPr>
            <a:spLocks xmlns:a="http://schemas.openxmlformats.org/drawingml/2006/main" noGrp="1"/>
          </p:cNvSpPr>
          <p:nvPr/>
        </p:nvSpPr>
        <p:spPr>
          <a:xfrm xmlns:a="http://schemas.openxmlformats.org/drawingml/2006/main">
            <a:off x="457200" y="457200"/>
            <a:ext cx="112772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latin typeface="Georgia"/>
                <a:ea typeface="Georgia"/>
                <a:cs typeface="Georgia"/>
              </a:defRPr>
            </a:pPr>
            <a:r>
              <a:t>5. TECHNICAL FEASIBILITY: Zero Hardware Costs, Highly Reliable Architecture</a:t>
            </a:r>
          </a:p>
        </p:txBody>
      </p:sp>
      <p:sp>
        <p:nvSpPr>
          <p:cNvPr id="3" name="Rectangle 2">
            <a:extLst xmlns:a="http://schemas.openxmlformats.org/drawingml/2006/main">
              <a:ext uri="{FF2B5EF4-FFF2-40B4-BE49-F238E27FC236}">
                <a16:creationId xmlns:a16="http://schemas.microsoft.com/office/drawing/2014/main" id="{19B08C12-73DA-4744-88AA-1730B00B5F04}"/>
              </a:ext>
            </a:extLst>
          </p:cNvPr>
          <p:cNvSpPr>
            <a:spLocks xmlns:a="http://schemas.openxmlformats.org/drawingml/2006/main" noGrp="1"/>
          </p:cNvSpPr>
          <p:nvPr/>
        </p:nvSpPr>
        <p:spPr>
          <a:xfrm xmlns:a="http://schemas.openxmlformats.org/drawingml/2006/main">
            <a:off x="457200" y="1188720"/>
            <a:ext cx="11277295" cy="25400"/>
          </a:xfrm>
          <a:prstGeom xmlns:a="http://schemas.openxmlformats.org/drawingml/2006/main" prst="rect">
            <a:avLst/>
          </a:prstGeom>
          <a:solidFill xmlns:a="http://schemas.openxmlformats.org/drawingml/2006/main">
            <a:srgbClr val="00D2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ounded Rectangle 3">
            <a:extLst xmlns:a="http://schemas.openxmlformats.org/drawingml/2006/main">
              <a:ext uri="{FF2B5EF4-FFF2-40B4-BE49-F238E27FC236}">
                <a16:creationId xmlns:a16="http://schemas.microsoft.com/office/drawing/2014/main" id="{35900010-3931-40F8-91C4-B03E537FA8AF}"/>
              </a:ext>
            </a:extLst>
          </p:cNvPr>
          <p:cNvSpPr>
            <a:spLocks xmlns:a="http://schemas.openxmlformats.org/drawingml/2006/main" noGrp="1"/>
          </p:cNvSpPr>
          <p:nvPr/>
        </p:nvSpPr>
        <p:spPr>
          <a:xfrm xmlns:a="http://schemas.openxmlformats.org/drawingml/2006/main">
            <a:off x="457200" y="1645920"/>
            <a:ext cx="5303520" cy="4389120"/>
          </a:xfrm>
          <a:prstGeom xmlns:a="http://schemas.openxmlformats.org/drawingml/2006/main" prst="roundRect">
            <a:avLst/>
          </a:prstGeom>
          <a:solidFill xmlns:a="http://schemas.openxmlformats.org/drawingml/2006/main">
            <a:srgbClr val="1E293B"/>
          </a:solidFill>
          <a:ln xmlns:a="http://schemas.openxmlformats.org/drawingml/2006/main">
            <a:solidFill>
              <a:srgbClr val="00D2C4"/>
            </a:solid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1400"/>
              </a:spcAft>
              <a:buNone/>
              <a:defRPr sz="2200" b="1">
                <a:solidFill>
                  <a:srgbClr val="00D2C4"/>
                </a:solidFill>
                <a:latin typeface="Georgia"/>
                <a:ea typeface="Georgia"/>
                <a:cs typeface="Georgia"/>
              </a:defRPr>
            </a:pPr>
            <a:r>
              <a:t>100% Bring Your Own Device (BYOD)</a:t>
            </a:r>
          </a:p>
          <a:p xmlns:a="http://schemas.openxmlformats.org/drawingml/2006/main">
            <a:pPr>
              <a:spcAft>
                <a:spcPts val="1200"/>
              </a:spcAft>
              <a:buNone/>
              <a:defRPr sz="1400">
                <a:solidFill>
                  <a:srgbClr val="F8FAFC"/>
                </a:solidFill>
                <a:latin typeface="Arial"/>
                <a:ea typeface="Arial"/>
                <a:cs typeface="Arial"/>
              </a:defRPr>
            </a:pPr>
            <a:r>
              <a:t>✔ Hardware Cost = RM0: Runs on iOS and Android smartphones or tablets already owned by coaches and players.</a:t>
            </a:r>
          </a:p>
          <a:p xmlns:a="http://schemas.openxmlformats.org/drawingml/2006/main">
            <a:pPr>
              <a:spcAft>
                <a:spcPts val="1200"/>
              </a:spcAft>
              <a:buNone/>
              <a:defRPr sz="1400">
                <a:solidFill>
                  <a:srgbClr val="F8FAFC"/>
                </a:solidFill>
                <a:latin typeface="Arial"/>
                <a:ea typeface="Arial"/>
                <a:cs typeface="Arial"/>
              </a:defRPr>
            </a:pPr>
            <a:r>
              <a:t>✔ No expensive high-speed cameras, smart rackets, or sensor devices to buy or calibrate.</a:t>
            </a:r>
          </a:p>
          <a:p xmlns:a="http://schemas.openxmlformats.org/drawingml/2006/main">
            <a:pPr>
              <a:spcAft>
                <a:spcPts val="1200"/>
              </a:spcAft>
              <a:buNone/>
              <a:defRPr sz="1400">
                <a:solidFill>
                  <a:srgbClr val="F8FAFC"/>
                </a:solidFill>
                <a:latin typeface="Arial"/>
                <a:ea typeface="Arial"/>
                <a:cs typeface="Arial"/>
              </a:defRPr>
            </a:pPr>
            <a:r>
              <a:t>✔ Extremely lightweight app install size that fits on older devices with low storage.</a:t>
            </a:r>
          </a:p>
          <a:p xmlns:a="http://schemas.openxmlformats.org/drawingml/2006/main">
            <a:pPr>
              <a:spcAft>
                <a:spcPts val="1200"/>
              </a:spcAft>
              <a:buNone/>
              <a:defRPr sz="1400">
                <a:solidFill>
                  <a:srgbClr val="F8FAFC"/>
                </a:solidFill>
                <a:latin typeface="Arial"/>
                <a:ea typeface="Arial"/>
                <a:cs typeface="Arial"/>
              </a:defRPr>
            </a:pPr>
            <a:r>
              <a:t>✔ Runs seamlessly in offline mode, auto-syncing to the database once a Wi-Fi connection is detected.</a:t>
            </a:r>
          </a:p>
        </p:txBody>
      </p:sp>
      <p:sp>
        <p:nvSpPr>
          <p:cNvPr id="5" name="Rounded Rectangle 4">
            <a:extLst xmlns:a="http://schemas.openxmlformats.org/drawingml/2006/main">
              <a:ext uri="{FF2B5EF4-FFF2-40B4-BE49-F238E27FC236}">
                <a16:creationId xmlns:a16="http://schemas.microsoft.com/office/drawing/2014/main" id="{77DE765C-1B2C-4E36-9E9C-422AD3559499}"/>
              </a:ext>
            </a:extLst>
          </p:cNvPr>
          <p:cNvSpPr>
            <a:spLocks xmlns:a="http://schemas.openxmlformats.org/drawingml/2006/main" noGrp="1"/>
          </p:cNvSpPr>
          <p:nvPr/>
        </p:nvSpPr>
        <p:spPr>
          <a:xfrm xmlns:a="http://schemas.openxmlformats.org/drawingml/2006/main">
            <a:off x="6217920" y="1645920"/>
            <a:ext cx="5486400" cy="438912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1400"/>
              </a:spcAft>
              <a:buNone/>
              <a:defRPr sz="2200" b="1">
                <a:solidFill>
                  <a:srgbClr val="F8FAFC"/>
                </a:solidFill>
                <a:latin typeface="Georgia"/>
                <a:ea typeface="Georgia"/>
                <a:cs typeface="Georgia"/>
              </a:defRPr>
            </a:pPr>
            <a:r>
              <a:t>Simple &amp; Scalable App Architecture</a:t>
            </a:r>
          </a:p>
          <a:p xmlns:a="http://schemas.openxmlformats.org/drawingml/2006/main">
            <a:pPr>
              <a:buNone/>
              <a:defRPr sz="1500" b="1">
                <a:solidFill>
                  <a:srgbClr val="00D2C4"/>
                </a:solidFill>
                <a:latin typeface="Arial"/>
                <a:ea typeface="Arial"/>
                <a:cs typeface="Arial"/>
              </a:defRPr>
            </a:pPr>
            <a:r>
              <a:t>☁ Mobile App (Frontend)</a:t>
            </a:r>
          </a:p>
          <a:p xmlns:a="http://schemas.openxmlformats.org/drawingml/2006/main">
            <a:pPr>
              <a:spcAft>
                <a:spcPts val="1000"/>
              </a:spcAft>
              <a:buNone/>
              <a:defRPr sz="1300">
                <a:solidFill>
                  <a:srgbClr val="94A3B8"/>
                </a:solidFill>
                <a:latin typeface="Arial"/>
                <a:ea typeface="Arial"/>
                <a:cs typeface="Arial"/>
              </a:defRPr>
            </a:pPr>
            <a:r>
              <a:t>   Optimized React Native app that ensures ultra-smooth UI tapping response and zero button lag during rapid badminton rallies.</a:t>
            </a:r>
          </a:p>
          <a:p xmlns:a="http://schemas.openxmlformats.org/drawingml/2006/main">
            <a:pPr>
              <a:buNone/>
              <a:defRPr sz="1500" b="1">
                <a:solidFill>
                  <a:srgbClr val="00D2C4"/>
                </a:solidFill>
                <a:latin typeface="Arial"/>
                <a:ea typeface="Arial"/>
                <a:cs typeface="Arial"/>
              </a:defRPr>
            </a:pPr>
            <a:r>
              <a:t>☁ Cloud Server &amp; Database (Backend)</a:t>
            </a:r>
          </a:p>
          <a:p xmlns:a="http://schemas.openxmlformats.org/drawingml/2006/main">
            <a:pPr>
              <a:spcAft>
                <a:spcPts val="1000"/>
              </a:spcAft>
              <a:buNone/>
              <a:defRPr sz="1300">
                <a:solidFill>
                  <a:srgbClr val="94A3B8"/>
                </a:solidFill>
                <a:latin typeface="Arial"/>
                <a:ea typeface="Arial"/>
                <a:cs typeface="Arial"/>
              </a:defRPr>
            </a:pPr>
            <a:r>
              <a:t>   Stat tallies are compressed and sent as small text files to the cloud, ensuring lightning-fast uploads with extremely low data usage.</a:t>
            </a:r>
          </a:p>
          <a:p xmlns:a="http://schemas.openxmlformats.org/drawingml/2006/main">
            <a:pPr>
              <a:buNone/>
              <a:defRPr sz="1500" b="1">
                <a:solidFill>
                  <a:srgbClr val="00D2C4"/>
                </a:solidFill>
                <a:latin typeface="Arial"/>
                <a:ea typeface="Arial"/>
                <a:cs typeface="Arial"/>
              </a:defRPr>
            </a:pPr>
            <a:r>
              <a:t>☁ Web Dashboard (Alternative View)</a:t>
            </a:r>
          </a:p>
          <a:p xmlns:a="http://schemas.openxmlformats.org/drawingml/2006/main">
            <a:pPr>
              <a:spcAft>
                <a:spcPts val="1000"/>
              </a:spcAft>
              <a:buNone/>
              <a:defRPr sz="1300">
                <a:solidFill>
                  <a:srgbClr val="94A3B8"/>
                </a:solidFill>
                <a:latin typeface="Arial"/>
                <a:ea typeface="Arial"/>
                <a:cs typeface="Arial"/>
              </a:defRPr>
            </a:pPr>
            <a:r>
              <a:t>   Allows academy administrators to print beautifully formatted PDF summaries and progress charts from any desktop browser.</a:t>
            </a:r>
          </a:p>
        </p:txBody>
      </p:sp>
    </p:spTree>
    <p:extLst>
      <p:ext uri="{BB962C8B-B14F-4D97-AF65-F5344CB8AC3E}">
        <p14:creationId xmlns:p14="http://schemas.microsoft.com/office/powerpoint/2010/main" val="935038510"/>
      </p:ext>
    </p:extLst>
  </p:cSld>
</p:sld>
</file>

<file path=ppt/slides/slide7.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EBEA089-1884-423B-B59D-35A6654951B7}"/>
              </a:ext>
            </a:extLst>
          </p:cNvPr>
          <p:cNvSpPr>
            <a:spLocks xmlns:a="http://schemas.openxmlformats.org/drawingml/2006/main" noGrp="1"/>
          </p:cNvSpPr>
          <p:nvPr/>
        </p:nvSpPr>
        <p:spPr>
          <a:xfrm xmlns:a="http://schemas.openxmlformats.org/drawingml/2006/main">
            <a:off x="457200" y="457200"/>
            <a:ext cx="112772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latin typeface="Georgia"/>
                <a:ea typeface="Georgia"/>
                <a:cs typeface="Georgia"/>
              </a:defRPr>
            </a:pPr>
            <a:r>
              <a:t>6. BENEFITS: Empowering Grassroots Sports Digitization</a:t>
            </a:r>
          </a:p>
        </p:txBody>
      </p:sp>
      <p:sp>
        <p:nvSpPr>
          <p:cNvPr id="3" name="Rectangle 2">
            <a:extLst xmlns:a="http://schemas.openxmlformats.org/drawingml/2006/main">
              <a:ext uri="{FF2B5EF4-FFF2-40B4-BE49-F238E27FC236}">
                <a16:creationId xmlns:a16="http://schemas.microsoft.com/office/drawing/2014/main" id="{ED104FB8-A096-481A-83C7-49B532D6BA88}"/>
              </a:ext>
            </a:extLst>
          </p:cNvPr>
          <p:cNvSpPr>
            <a:spLocks xmlns:a="http://schemas.openxmlformats.org/drawingml/2006/main" noGrp="1"/>
          </p:cNvSpPr>
          <p:nvPr/>
        </p:nvSpPr>
        <p:spPr>
          <a:xfrm xmlns:a="http://schemas.openxmlformats.org/drawingml/2006/main">
            <a:off x="457200" y="1188720"/>
            <a:ext cx="11277295" cy="25400"/>
          </a:xfrm>
          <a:prstGeom xmlns:a="http://schemas.openxmlformats.org/drawingml/2006/main" prst="rect">
            <a:avLst/>
          </a:prstGeom>
          <a:solidFill xmlns:a="http://schemas.openxmlformats.org/drawingml/2006/main">
            <a:srgbClr val="00D2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ounded Rectangle 3">
            <a:extLst xmlns:a="http://schemas.openxmlformats.org/drawingml/2006/main">
              <a:ext uri="{FF2B5EF4-FFF2-40B4-BE49-F238E27FC236}">
                <a16:creationId xmlns:a16="http://schemas.microsoft.com/office/drawing/2014/main" id="{1367BD18-115E-4ACA-8E3E-CE675B6E6A9E}"/>
              </a:ext>
            </a:extLst>
          </p:cNvPr>
          <p:cNvSpPr>
            <a:spLocks xmlns:a="http://schemas.openxmlformats.org/drawingml/2006/main" noGrp="1"/>
          </p:cNvSpPr>
          <p:nvPr/>
        </p:nvSpPr>
        <p:spPr>
          <a:xfrm xmlns:a="http://schemas.openxmlformats.org/drawingml/2006/main">
            <a:off x="457200" y="1645920"/>
            <a:ext cx="5303520" cy="192024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defRPr sz="1800" b="1">
                <a:solidFill>
                  <a:srgbClr val="00D2C4"/>
                </a:solidFill>
                <a:latin typeface="Georgia"/>
                <a:ea typeface="Georgia"/>
                <a:cs typeface="Georgia"/>
              </a:defRPr>
            </a:pPr>
            <a:r>
              <a:t>Real-Time Match Insight</a:t>
            </a:r>
          </a:p>
          <a:p xmlns:a="http://schemas.openxmlformats.org/drawingml/2006/main">
            <a:pPr>
              <a:buNone/>
              <a:defRPr sz="1300">
                <a:solidFill>
                  <a:srgbClr val="F8FAFC"/>
                </a:solidFill>
                <a:latin typeface="Arial"/>
                <a:ea typeface="Arial"/>
                <a:cs typeface="Arial"/>
              </a:defRPr>
            </a:pPr>
            <a:r>
              <a:t>Allows coaches to back up their court-side advice with exact percentages during a 1-minute break, boosting athlete confidence and strategy execution.</a:t>
            </a:r>
          </a:p>
        </p:txBody>
      </p:sp>
      <p:sp>
        <p:nvSpPr>
          <p:cNvPr id="5" name="Rounded Rectangle 4">
            <a:extLst xmlns:a="http://schemas.openxmlformats.org/drawingml/2006/main">
              <a:ext uri="{FF2B5EF4-FFF2-40B4-BE49-F238E27FC236}">
                <a16:creationId xmlns:a16="http://schemas.microsoft.com/office/drawing/2014/main" id="{D1842DE7-AC51-4764-8DC8-3264CEE7CCE8}"/>
              </a:ext>
            </a:extLst>
          </p:cNvPr>
          <p:cNvSpPr>
            <a:spLocks xmlns:a="http://schemas.openxmlformats.org/drawingml/2006/main" noGrp="1"/>
          </p:cNvSpPr>
          <p:nvPr/>
        </p:nvSpPr>
        <p:spPr>
          <a:xfrm xmlns:a="http://schemas.openxmlformats.org/drawingml/2006/main">
            <a:off x="6217920" y="1645920"/>
            <a:ext cx="5303520" cy="192024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defRPr sz="1800" b="1">
                <a:solidFill>
                  <a:srgbClr val="00D2C4"/>
                </a:solidFill>
                <a:latin typeface="Georgia"/>
                <a:ea typeface="Georgia"/>
                <a:cs typeface="Georgia"/>
              </a:defRPr>
            </a:pPr>
            <a:r>
              <a:t>Effortless Digital Workflow</a:t>
            </a:r>
          </a:p>
          <a:p xmlns:a="http://schemas.openxmlformats.org/drawingml/2006/main">
            <a:pPr>
              <a:buNone/>
              <a:defRPr sz="1300">
                <a:solidFill>
                  <a:srgbClr val="F8FAFC"/>
                </a:solidFill>
                <a:latin typeface="Arial"/>
                <a:ea typeface="Arial"/>
                <a:cs typeface="Arial"/>
              </a:defRPr>
            </a:pPr>
            <a:r>
              <a:t>Say goodbye to bulky paper binders. Every match is neatly cataloged, searchable, and stored without taking physical storage space.</a:t>
            </a:r>
          </a:p>
        </p:txBody>
      </p:sp>
      <p:sp>
        <p:nvSpPr>
          <p:cNvPr id="6" name="Rounded Rectangle 5">
            <a:extLst xmlns:a="http://schemas.openxmlformats.org/drawingml/2006/main">
              <a:ext uri="{FF2B5EF4-FFF2-40B4-BE49-F238E27FC236}">
                <a16:creationId xmlns:a16="http://schemas.microsoft.com/office/drawing/2014/main" id="{F7FCB550-D56A-4912-A142-D43E849EA095}"/>
              </a:ext>
            </a:extLst>
          </p:cNvPr>
          <p:cNvSpPr>
            <a:spLocks xmlns:a="http://schemas.openxmlformats.org/drawingml/2006/main" noGrp="1"/>
          </p:cNvSpPr>
          <p:nvPr/>
        </p:nvSpPr>
        <p:spPr>
          <a:xfrm xmlns:a="http://schemas.openxmlformats.org/drawingml/2006/main">
            <a:off x="457200" y="3931920"/>
            <a:ext cx="5303520" cy="192024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defRPr sz="1800" b="1">
                <a:solidFill>
                  <a:srgbClr val="00D2C4"/>
                </a:solidFill>
                <a:latin typeface="Georgia"/>
                <a:ea typeface="Georgia"/>
                <a:cs typeface="Georgia"/>
              </a:defRPr>
            </a:pPr>
            <a:r>
              <a:t>Highly Inclusive &amp; Scalable</a:t>
            </a:r>
          </a:p>
          <a:p xmlns:a="http://schemas.openxmlformats.org/drawingml/2006/main">
            <a:pPr>
              <a:buNone/>
              <a:defRPr sz="1300">
                <a:solidFill>
                  <a:srgbClr val="F8FAFC"/>
                </a:solidFill>
                <a:latin typeface="Arial"/>
                <a:ea typeface="Arial"/>
                <a:cs typeface="Arial"/>
              </a:defRPr>
            </a:pPr>
            <a:r>
              <a:t>Sifar kos (Zero cost) barrier makes sports analytics accessible to underfunded village schools and small state badminton associations alike.</a:t>
            </a:r>
          </a:p>
        </p:txBody>
      </p:sp>
      <p:sp>
        <p:nvSpPr>
          <p:cNvPr id="7" name="Rounded Rectangle 6">
            <a:extLst xmlns:a="http://schemas.openxmlformats.org/drawingml/2006/main">
              <a:ext uri="{FF2B5EF4-FFF2-40B4-BE49-F238E27FC236}">
                <a16:creationId xmlns:a16="http://schemas.microsoft.com/office/drawing/2014/main" id="{11815586-0353-4ADD-B98D-414A172E8E8F}"/>
              </a:ext>
            </a:extLst>
          </p:cNvPr>
          <p:cNvSpPr>
            <a:spLocks xmlns:a="http://schemas.openxmlformats.org/drawingml/2006/main" noGrp="1"/>
          </p:cNvSpPr>
          <p:nvPr/>
        </p:nvSpPr>
        <p:spPr>
          <a:xfrm xmlns:a="http://schemas.openxmlformats.org/drawingml/2006/main">
            <a:off x="6217920" y="3931920"/>
            <a:ext cx="5303520" cy="192024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600"/>
              </a:spcAft>
              <a:buNone/>
              <a:defRPr sz="1800" b="1">
                <a:solidFill>
                  <a:srgbClr val="00D2C4"/>
                </a:solidFill>
                <a:latin typeface="Georgia"/>
                <a:ea typeface="Georgia"/>
                <a:cs typeface="Georgia"/>
              </a:defRPr>
            </a:pPr>
            <a:r>
              <a:t>Actionable Player Progress</a:t>
            </a:r>
          </a:p>
          <a:p xmlns:a="http://schemas.openxmlformats.org/drawingml/2006/main">
            <a:pPr>
              <a:buNone/>
              <a:defRPr sz="1300">
                <a:solidFill>
                  <a:srgbClr val="F8FAFC"/>
                </a:solidFill>
                <a:latin typeface="Arial"/>
                <a:ea typeface="Arial"/>
                <a:cs typeface="Arial"/>
              </a:defRPr>
            </a:pPr>
            <a:r>
              <a:t>Enables players to visualize and understand their performance trends, helping them target specific areas to improve during training.</a:t>
            </a:r>
          </a:p>
        </p:txBody>
      </p:sp>
    </p:spTree>
    <p:extLst>
      <p:ext uri="{BB962C8B-B14F-4D97-AF65-F5344CB8AC3E}">
        <p14:creationId xmlns:p14="http://schemas.microsoft.com/office/powerpoint/2010/main" val="1690803012"/>
      </p:ext>
    </p:extLst>
  </p:cSld>
</p:sld>
</file>

<file path=ppt/slides/slide8.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3870DBC-9E03-46E0-ADC2-E5CBA8F903E0}"/>
              </a:ext>
            </a:extLst>
          </p:cNvPr>
          <p:cNvSpPr>
            <a:spLocks xmlns:a="http://schemas.openxmlformats.org/drawingml/2006/main" noGrp="1"/>
          </p:cNvSpPr>
          <p:nvPr/>
        </p:nvSpPr>
        <p:spPr>
          <a:xfrm xmlns:a="http://schemas.openxmlformats.org/drawingml/2006/main">
            <a:off x="457200" y="457200"/>
            <a:ext cx="112772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800" b="1">
                <a:solidFill>
                  <a:srgbClr val="F8FAFC"/>
                </a:solidFill>
                <a:latin typeface="Georgia"/>
                <a:ea typeface="Georgia"/>
                <a:cs typeface="Georgia"/>
              </a:defRPr>
            </a:pPr>
            <a:r>
              <a:t>7. COMMERCIAL POTENTIAL: Low Overhead, High-Growth SaaS Model</a:t>
            </a:r>
          </a:p>
        </p:txBody>
      </p:sp>
      <p:sp>
        <p:nvSpPr>
          <p:cNvPr id="3" name="Rectangle 2">
            <a:extLst xmlns:a="http://schemas.openxmlformats.org/drawingml/2006/main">
              <a:ext uri="{FF2B5EF4-FFF2-40B4-BE49-F238E27FC236}">
                <a16:creationId xmlns:a16="http://schemas.microsoft.com/office/drawing/2014/main" id="{9E77A80C-B2AC-46CF-AEF3-6B7FDC8DD360}"/>
              </a:ext>
            </a:extLst>
          </p:cNvPr>
          <p:cNvSpPr>
            <a:spLocks xmlns:a="http://schemas.openxmlformats.org/drawingml/2006/main" noGrp="1"/>
          </p:cNvSpPr>
          <p:nvPr/>
        </p:nvSpPr>
        <p:spPr>
          <a:xfrm xmlns:a="http://schemas.openxmlformats.org/drawingml/2006/main">
            <a:off x="457200" y="1188720"/>
            <a:ext cx="11277295" cy="25400"/>
          </a:xfrm>
          <a:prstGeom xmlns:a="http://schemas.openxmlformats.org/drawingml/2006/main" prst="rect">
            <a:avLst/>
          </a:prstGeom>
          <a:solidFill xmlns:a="http://schemas.openxmlformats.org/drawingml/2006/main">
            <a:srgbClr val="00D2C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09E1FAA-5B4A-46B9-9108-81E0983FF445}"/>
              </a:ext>
            </a:extLst>
          </p:cNvPr>
          <p:cNvSpPr>
            <a:spLocks xmlns:a="http://schemas.openxmlformats.org/drawingml/2006/main" noGrp="1"/>
          </p:cNvSpPr>
          <p:nvPr/>
        </p:nvSpPr>
        <p:spPr>
          <a:xfrm xmlns:a="http://schemas.openxmlformats.org/drawingml/2006/main">
            <a:off x="457200" y="1645920"/>
            <a:ext cx="5303520" cy="457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defRPr sz="2200" b="1">
                <a:solidFill>
                  <a:srgbClr val="00D2C4"/>
                </a:solidFill>
                <a:latin typeface="Georgia"/>
                <a:ea typeface="Georgia"/>
                <a:cs typeface="Georgia"/>
              </a:defRPr>
            </a:pPr>
            <a:r>
              <a:t>How We Scale Profitably</a:t>
            </a:r>
          </a:p>
          <a:p xmlns:a="http://schemas.openxmlformats.org/drawingml/2006/main">
            <a:pPr>
              <a:buNone/>
              <a:defRPr sz="1600" b="1">
                <a:solidFill>
                  <a:srgbClr val="F8FAFC"/>
                </a:solidFill>
                <a:latin typeface="Arial"/>
                <a:ea typeface="Arial"/>
                <a:cs typeface="Arial"/>
              </a:defRPr>
            </a:pPr>
            <a:r>
              <a:t>💰 Freemium Mobile App</a:t>
            </a:r>
          </a:p>
          <a:p xmlns:a="http://schemas.openxmlformats.org/drawingml/2006/main">
            <a:pPr>
              <a:spcAft>
                <a:spcPts val="1200"/>
              </a:spcAft>
              <a:buNone/>
              <a:defRPr sz="1300">
                <a:solidFill>
                  <a:srgbClr val="94A3B8"/>
                </a:solidFill>
                <a:latin typeface="Arial"/>
                <a:ea typeface="Arial"/>
                <a:cs typeface="Arial"/>
              </a:defRPr>
            </a:pPr>
            <a:r>
              <a:t>   The basic notation and live scorecard app are 100% free for everyone. This guarantees rapid downloads and viral organic growth among clubs.</a:t>
            </a:r>
          </a:p>
          <a:p xmlns:a="http://schemas.openxmlformats.org/drawingml/2006/main">
            <a:pPr>
              <a:buNone/>
              <a:defRPr sz="1600" b="1">
                <a:solidFill>
                  <a:srgbClr val="F8FAFC"/>
                </a:solidFill>
                <a:latin typeface="Arial"/>
                <a:ea typeface="Arial"/>
                <a:cs typeface="Arial"/>
              </a:defRPr>
            </a:pPr>
            <a:r>
              <a:t>💰 Premium Academy Dashboard</a:t>
            </a:r>
          </a:p>
          <a:p xmlns:a="http://schemas.openxmlformats.org/drawingml/2006/main">
            <a:pPr>
              <a:spcAft>
                <a:spcPts val="1200"/>
              </a:spcAft>
              <a:buNone/>
              <a:defRPr sz="1300">
                <a:solidFill>
                  <a:srgbClr val="94A3B8"/>
                </a:solidFill>
                <a:latin typeface="Arial"/>
                <a:ea typeface="Arial"/>
                <a:cs typeface="Arial"/>
              </a:defRPr>
            </a:pPr>
            <a:r>
              <a:t>   SaaS subscription model charging small private academies and leagues for bulk player analysis, PDF reports, and advanced team stats.</a:t>
            </a:r>
          </a:p>
          <a:p xmlns:a="http://schemas.openxmlformats.org/drawingml/2006/main">
            <a:pPr>
              <a:buNone/>
              <a:defRPr sz="1600" b="1">
                <a:solidFill>
                  <a:srgbClr val="F8FAFC"/>
                </a:solidFill>
                <a:latin typeface="Arial"/>
                <a:ea typeface="Arial"/>
                <a:cs typeface="Arial"/>
              </a:defRPr>
            </a:pPr>
            <a:r>
              <a:t>💰 In-App Sponsorships</a:t>
            </a:r>
          </a:p>
          <a:p xmlns:a="http://schemas.openxmlformats.org/drawingml/2006/main">
            <a:pPr>
              <a:spcAft>
                <a:spcPts val="1200"/>
              </a:spcAft>
              <a:buNone/>
              <a:defRPr sz="1300">
                <a:solidFill>
                  <a:srgbClr val="94A3B8"/>
                </a:solidFill>
                <a:latin typeface="Arial"/>
                <a:ea typeface="Arial"/>
                <a:cs typeface="Arial"/>
              </a:defRPr>
            </a:pPr>
            <a:r>
              <a:t>   Premium brand placements from Malaysian sports equipment brands targeting active badminton enthusiasts directly on the scorecard UI.</a:t>
            </a:r>
          </a:p>
        </p:txBody>
      </p:sp>
      <p:sp>
        <p:nvSpPr>
          <p:cNvPr id="5" name="Rounded Rectangle 4">
            <a:extLst xmlns:a="http://schemas.openxmlformats.org/drawingml/2006/main">
              <a:ext uri="{FF2B5EF4-FFF2-40B4-BE49-F238E27FC236}">
                <a16:creationId xmlns:a16="http://schemas.microsoft.com/office/drawing/2014/main" id="{31925D3A-F877-4B0C-B289-E5174E598305}"/>
              </a:ext>
            </a:extLst>
          </p:cNvPr>
          <p:cNvSpPr>
            <a:spLocks xmlns:a="http://schemas.openxmlformats.org/drawingml/2006/main" noGrp="1"/>
          </p:cNvSpPr>
          <p:nvPr/>
        </p:nvSpPr>
        <p:spPr>
          <a:xfrm xmlns:a="http://schemas.openxmlformats.org/drawingml/2006/main">
            <a:off x="6217920" y="1645920"/>
            <a:ext cx="5486400" cy="438912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spcAft>
                <a:spcPts val="1400"/>
              </a:spcAft>
              <a:buNone/>
              <a:defRPr sz="2200" b="1">
                <a:solidFill>
                  <a:srgbClr val="F8FAFC"/>
                </a:solidFill>
                <a:latin typeface="Georgia"/>
                <a:ea typeface="Georgia"/>
                <a:cs typeface="Georgia"/>
              </a:defRPr>
            </a:pPr>
            <a:r>
              <a:t>Key Market Strengths</a:t>
            </a:r>
          </a:p>
          <a:p xmlns:a="http://schemas.openxmlformats.org/drawingml/2006/main">
            <a:pPr>
              <a:buNone/>
              <a:defRPr sz="1600" b="1">
                <a:solidFill>
                  <a:srgbClr val="00D2C4"/>
                </a:solidFill>
                <a:latin typeface="Arial"/>
                <a:ea typeface="Arial"/>
                <a:cs typeface="Arial"/>
              </a:defRPr>
            </a:pPr>
            <a:r>
              <a:t>📈 Huge Target Base in Malaysia</a:t>
            </a:r>
          </a:p>
          <a:p xmlns:a="http://schemas.openxmlformats.org/drawingml/2006/main">
            <a:pPr>
              <a:spcAft>
                <a:spcPts val="1200"/>
              </a:spcAft>
              <a:buNone/>
              <a:defRPr sz="1300">
                <a:solidFill>
                  <a:srgbClr val="94A3B8"/>
                </a:solidFill>
                <a:latin typeface="Arial"/>
                <a:ea typeface="Arial"/>
                <a:cs typeface="Arial"/>
              </a:defRPr>
            </a:pPr>
            <a:r>
              <a:t>   Badminton is one of the most widely played sports in Malaysia with thousands of schools and private training courts active nationwide.</a:t>
            </a:r>
          </a:p>
          <a:p xmlns:a="http://schemas.openxmlformats.org/drawingml/2006/main">
            <a:pPr>
              <a:buNone/>
              <a:defRPr sz="1600" b="1">
                <a:solidFill>
                  <a:srgbClr val="00D2C4"/>
                </a:solidFill>
                <a:latin typeface="Arial"/>
                <a:ea typeface="Arial"/>
                <a:cs typeface="Arial"/>
              </a:defRPr>
            </a:pPr>
            <a:r>
              <a:t>📈 Sifar Overhead (RM0 Inventory)</a:t>
            </a:r>
          </a:p>
          <a:p xmlns:a="http://schemas.openxmlformats.org/drawingml/2006/main">
            <a:pPr>
              <a:spcAft>
                <a:spcPts val="1200"/>
              </a:spcAft>
              <a:buNone/>
              <a:defRPr sz="1300">
                <a:solidFill>
                  <a:srgbClr val="94A3B8"/>
                </a:solidFill>
                <a:latin typeface="Arial"/>
                <a:ea typeface="Arial"/>
                <a:cs typeface="Arial"/>
              </a:defRPr>
            </a:pPr>
            <a:r>
              <a:t>   No manufacturing costs, no physical inventory, no delivery logistics, and extremely low server maintenance fees.</a:t>
            </a:r>
          </a:p>
          <a:p xmlns:a="http://schemas.openxmlformats.org/drawingml/2006/main">
            <a:pPr>
              <a:buNone/>
              <a:defRPr sz="1600" b="1">
                <a:solidFill>
                  <a:srgbClr val="00D2C4"/>
                </a:solidFill>
                <a:latin typeface="Arial"/>
                <a:ea typeface="Arial"/>
                <a:cs typeface="Arial"/>
              </a:defRPr>
            </a:pPr>
            <a:r>
              <a:t>📈 Global Scalability</a:t>
            </a:r>
          </a:p>
          <a:p xmlns:a="http://schemas.openxmlformats.org/drawingml/2006/main">
            <a:pPr>
              <a:spcAft>
                <a:spcPts val="1200"/>
              </a:spcAft>
              <a:buNone/>
              <a:defRPr sz="1300">
                <a:solidFill>
                  <a:srgbClr val="94A3B8"/>
                </a:solidFill>
                <a:latin typeface="Arial"/>
                <a:ea typeface="Arial"/>
                <a:cs typeface="Arial"/>
              </a:defRPr>
            </a:pPr>
            <a:r>
              <a:t>   Easily translated into English, Chinese, and other languages to enter massive Asian markets like Indonesia, Thailand, and China instantly.</a:t>
            </a:r>
          </a:p>
        </p:txBody>
      </p:sp>
    </p:spTree>
    <p:extLst>
      <p:ext uri="{BB962C8B-B14F-4D97-AF65-F5344CB8AC3E}">
        <p14:creationId xmlns:p14="http://schemas.microsoft.com/office/powerpoint/2010/main" val="413802135"/>
      </p:ext>
    </p:extLst>
  </p:cSld>
</p:sld>
</file>

<file path=ppt/slides/slide9.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8" name="section-8">
            <a:extLst xmlns:a="http://schemas.openxmlformats.org/drawingml/2006/main">
              <a:ext uri="{FF2B5EF4-FFF2-40B4-BE49-F238E27FC236}">
                <a16:creationId xmlns:a16="http://schemas.microsoft.com/office/drawing/2014/main" id="{CE025328-F9F0-42FE-80FA-5769412CD475}"/>
              </a:ext>
            </a:extLst>
          </p:cNvPr>
          <p:cNvSpPr>
            <a:spLocks xmlns:a="http://schemas.openxmlformats.org/drawingml/2006/main" noGrp="1"/>
          </p:cNvSpPr>
          <p:nvPr/>
        </p:nvSpPr>
        <p:spPr>
          <a:xfrm xmlns:a="http://schemas.openxmlformats.org/drawingml/2006/main">
            <a:off x="457200" y="304800"/>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08</a:t>
            </a:r>
          </a:p>
        </p:txBody>
      </p:sp>
      <p:sp>
        <p:nvSpPr>
          <p:cNvPr id="2" name="eyebrow-8">
            <a:extLst xmlns:a="http://schemas.openxmlformats.org/drawingml/2006/main">
              <a:ext uri="{FF2B5EF4-FFF2-40B4-BE49-F238E27FC236}">
                <a16:creationId xmlns:a16="http://schemas.microsoft.com/office/drawing/2014/main" id="{46E057DE-67D2-454F-85AC-DBBA83887313}"/>
              </a:ext>
            </a:extLst>
          </p:cNvPr>
          <p:cNvSpPr>
            <a:spLocks xmlns:a="http://schemas.openxmlformats.org/drawingml/2006/main" noGrp="1"/>
          </p:cNvSpPr>
          <p:nvPr/>
        </p:nvSpPr>
        <p:spPr>
          <a:xfrm xmlns:a="http://schemas.openxmlformats.org/drawingml/2006/main">
            <a:off x="933450" y="304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9CA3AF"/>
                </a:solidFill>
                <a:latin typeface="Arial"/>
                <a:ea typeface="Arial"/>
                <a:cs typeface="Arial"/>
              </a:defRPr>
            </a:pPr>
            <a:r>
              <a:rPr sz="1050" b="1">
                <a:solidFill>
                  <a:srgbClr val="9CA3AF"/>
                </a:solidFill>
                <a:latin typeface="Arial"/>
                <a:ea typeface="Arial"/>
                <a:cs typeface="Arial"/>
              </a:rPr>
              <a:t>PROTOTYPE</a:t>
            </a:r>
          </a:p>
        </p:txBody>
      </p:sp>
      <p:sp>
        <p:nvSpPr>
          <p:cNvPr id="3" name="prototype-title">
            <a:extLst xmlns:a="http://schemas.openxmlformats.org/drawingml/2006/main">
              <a:ext uri="{FF2B5EF4-FFF2-40B4-BE49-F238E27FC236}">
                <a16:creationId xmlns:a16="http://schemas.microsoft.com/office/drawing/2014/main" id="{BAEDB852-6E92-4B4B-8F1C-0DBC96FD7C24}"/>
              </a:ext>
            </a:extLst>
          </p:cNvPr>
          <p:cNvSpPr>
            <a:spLocks xmlns:a="http://schemas.openxmlformats.org/drawingml/2006/main" noGrp="1"/>
          </p:cNvSpPr>
          <p:nvPr/>
        </p:nvSpPr>
        <p:spPr>
          <a:xfrm xmlns:a="http://schemas.openxmlformats.org/drawingml/2006/main">
            <a:off x="476250" y="781050"/>
            <a:ext cx="742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8FAFC"/>
                </a:solidFill>
                <a:latin typeface="Georgia"/>
                <a:ea typeface="Georgia"/>
                <a:cs typeface="Georgia"/>
              </a:defRPr>
            </a:pPr>
            <a:r>
              <a:rPr sz="2850" b="1">
                <a:solidFill>
                  <a:srgbClr val="F8FAFC"/>
                </a:solidFill>
                <a:latin typeface="Georgia"/>
                <a:ea typeface="Georgia"/>
                <a:cs typeface="Georgia"/>
              </a:rPr>
              <a:t>One system. Two coaching contexts.</a:t>
            </a:r>
          </a:p>
        </p:txBody>
      </p:sp>
      <p:sp>
        <p:nvSpPr>
          <p:cNvPr id="4" name="prototype-subtitle">
            <a:extLst xmlns:a="http://schemas.openxmlformats.org/drawingml/2006/main">
              <a:ext uri="{FF2B5EF4-FFF2-40B4-BE49-F238E27FC236}">
                <a16:creationId xmlns:a16="http://schemas.microsoft.com/office/drawing/2014/main" id="{8C1B1110-EBA6-45E3-A1A8-524DA888C8F0}"/>
              </a:ext>
            </a:extLst>
          </p:cNvPr>
          <p:cNvSpPr>
            <a:spLocks xmlns:a="http://schemas.openxmlformats.org/drawingml/2006/main" noGrp="1"/>
          </p:cNvSpPr>
          <p:nvPr/>
        </p:nvSpPr>
        <p:spPr>
          <a:xfrm xmlns:a="http://schemas.openxmlformats.org/drawingml/2006/main">
            <a:off x="495300" y="1390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9CA3AF"/>
                </a:solidFill>
                <a:latin typeface="Arial"/>
                <a:ea typeface="Arial"/>
                <a:cs typeface="Arial"/>
              </a:defRPr>
            </a:pPr>
            <a:r>
              <a:rPr sz="1350" b="0">
                <a:solidFill>
                  <a:srgbClr val="9CA3AF"/>
                </a:solidFill>
                <a:latin typeface="Arial"/>
                <a:ea typeface="Arial"/>
                <a:cs typeface="Arial"/>
              </a:rPr>
              <a:t>Capture on iPad at court-side. Review on the web after the match.</a:t>
            </a:r>
          </a:p>
        </p:txBody>
      </p:sp>
      <p:sp>
        <p:nvSpPr>
          <p:cNvPr id="5" name="prototype-web-browser-frame">
            <a:extLst xmlns:a="http://schemas.openxmlformats.org/drawingml/2006/main">
              <a:ext uri="{FF2B5EF4-FFF2-40B4-BE49-F238E27FC236}">
                <a16:creationId xmlns:a16="http://schemas.microsoft.com/office/drawing/2014/main" id="{CB7404A7-DD26-46B4-8E39-3F144698D742}"/>
              </a:ext>
            </a:extLst>
          </p:cNvPr>
          <p:cNvSpPr>
            <a:spLocks xmlns:a="http://schemas.openxmlformats.org/drawingml/2006/main" noGrp="1"/>
          </p:cNvSpPr>
          <p:nvPr/>
        </p:nvSpPr>
        <p:spPr>
          <a:xfrm xmlns:a="http://schemas.openxmlformats.org/drawingml/2006/main">
            <a:off x="4476750" y="1885950"/>
            <a:ext cx="7239000" cy="4067175"/>
          </a:xfrm>
          <a:prstGeom xmlns:a="http://schemas.openxmlformats.org/drawingml/2006/main" prst="roundRect">
            <a:avLst>
              <a:gd name="adj" fmla="val 3747"/>
            </a:avLst>
          </a:prstGeom>
          <a:noFill xmlns:a="http://schemas.openxmlformats.org/drawingml/2006/main"/>
          <a:ln xmlns:a="http://schemas.openxmlformats.org/drawingml/2006/main" w="9525">
            <a:solidFill>
              <a:srgbClr val="363941"/>
            </a:solidFill>
            <a:prstDash val="solid"/>
          </a:ln>
        </p:spPr>
      </p:sp>
      <p:sp>
        <p:nvSpPr>
          <p:cNvPr id="6" name="prototype-web-dot-0">
            <a:extLst xmlns:a="http://schemas.openxmlformats.org/drawingml/2006/main">
              <a:ext uri="{FF2B5EF4-FFF2-40B4-BE49-F238E27FC236}">
                <a16:creationId xmlns:a16="http://schemas.microsoft.com/office/drawing/2014/main" id="{53CBA880-C738-4366-8DD7-9FDE7093015E}"/>
              </a:ext>
            </a:extLst>
          </p:cNvPr>
          <p:cNvSpPr>
            <a:spLocks xmlns:a="http://schemas.openxmlformats.org/drawingml/2006/main" noGrp="1"/>
          </p:cNvSpPr>
          <p:nvPr/>
        </p:nvSpPr>
        <p:spPr>
          <a:xfrm xmlns:a="http://schemas.openxmlformats.org/drawingml/2006/main">
            <a:off x="4629150" y="2009775"/>
            <a:ext cx="85725" cy="857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7" name="prototype-web-dot-1">
            <a:extLst xmlns:a="http://schemas.openxmlformats.org/drawingml/2006/main">
              <a:ext uri="{FF2B5EF4-FFF2-40B4-BE49-F238E27FC236}">
                <a16:creationId xmlns:a16="http://schemas.microsoft.com/office/drawing/2014/main" id="{BF819909-5DAC-45B9-8540-9239669B7D28}"/>
              </a:ext>
            </a:extLst>
          </p:cNvPr>
          <p:cNvSpPr>
            <a:spLocks xmlns:a="http://schemas.openxmlformats.org/drawingml/2006/main" noGrp="1"/>
          </p:cNvSpPr>
          <p:nvPr/>
        </p:nvSpPr>
        <p:spPr>
          <a:xfrm xmlns:a="http://schemas.openxmlformats.org/drawingml/2006/main">
            <a:off x="4791075" y="2009775"/>
            <a:ext cx="85725" cy="85725"/>
          </a:xfrm>
          <a:prstGeom xmlns:a="http://schemas.openxmlformats.org/drawingml/2006/main" prst="ellipse">
            <a:avLst/>
          </a:prstGeom>
          <a:solidFill xmlns:a="http://schemas.openxmlformats.org/drawingml/2006/main">
            <a:srgbClr val="FEBB2E"/>
          </a:solidFill>
          <a:ln xmlns:a="http://schemas.openxmlformats.org/drawingml/2006/main" w="0">
            <a:noFill/>
            <a:prstDash val="solid"/>
          </a:ln>
        </p:spPr>
      </p:sp>
      <p:sp>
        <p:nvSpPr>
          <p:cNvPr id="8" name="prototype-web-dot-2">
            <a:extLst xmlns:a="http://schemas.openxmlformats.org/drawingml/2006/main">
              <a:ext uri="{FF2B5EF4-FFF2-40B4-BE49-F238E27FC236}">
                <a16:creationId xmlns:a16="http://schemas.microsoft.com/office/drawing/2014/main" id="{87E15ECC-C3C7-46FD-8248-919626ACF471}"/>
              </a:ext>
            </a:extLst>
          </p:cNvPr>
          <p:cNvSpPr>
            <a:spLocks xmlns:a="http://schemas.openxmlformats.org/drawingml/2006/main" noGrp="1"/>
          </p:cNvSpPr>
          <p:nvPr/>
        </p:nvSpPr>
        <p:spPr>
          <a:xfrm xmlns:a="http://schemas.openxmlformats.org/drawingml/2006/main">
            <a:off x="4953000" y="2009775"/>
            <a:ext cx="85725" cy="857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9" name="prototype-web-url">
            <a:extLst xmlns:a="http://schemas.openxmlformats.org/drawingml/2006/main">
              <a:ext uri="{FF2B5EF4-FFF2-40B4-BE49-F238E27FC236}">
                <a16:creationId xmlns:a16="http://schemas.microsoft.com/office/drawing/2014/main" id="{3356FDA5-FAA1-4E20-AF91-F75C37AF3404}"/>
              </a:ext>
            </a:extLst>
          </p:cNvPr>
          <p:cNvSpPr>
            <a:spLocks xmlns:a="http://schemas.openxmlformats.org/drawingml/2006/main" noGrp="1"/>
          </p:cNvSpPr>
          <p:nvPr/>
        </p:nvSpPr>
        <p:spPr>
          <a:xfrm xmlns:a="http://schemas.openxmlformats.org/drawingml/2006/main">
            <a:off x="5295900" y="19621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0">
                <a:solidFill>
                  <a:srgbClr val="777B84"/>
                </a:solidFill>
                <a:latin typeface="Arial"/>
                <a:ea typeface="Arial"/>
                <a:cs typeface="Arial"/>
              </a:defRPr>
            </a:pPr>
            <a:r>
              <a:rPr sz="825" b="0">
                <a:solidFill>
                  <a:srgbClr val="777B84"/>
                </a:solidFill>
                <a:latin typeface="Arial"/>
                <a:ea typeface="Arial"/>
                <a:cs typeface="Arial"/>
              </a:rPr>
              <a:t>shuttletrace.ai</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093939645744b62"/>
          <a:srcRect xmlns:a="http://schemas.openxmlformats.org/drawingml/2006/main" l="6034" t="0" r="6034" b="0"/>
          <a:stretch xmlns:a="http://schemas.openxmlformats.org/drawingml/2006/main">
            <a:fillRect l="0" t="0" r="0" b="0"/>
          </a:stretch>
        </p:blipFill>
        <p:spPr>
          <a:xfrm xmlns:a="http://schemas.openxmlformats.org/drawingml/2006/main">
            <a:off x="4552950" y="2209800"/>
            <a:ext cx="7086600" cy="3667125"/>
          </a:xfrm>
          <a:prstGeom xmlns:a="http://schemas.openxmlformats.org/drawingml/2006/main" prst="roundRect">
            <a:avLst>
              <a:gd name="adj" fmla="val 3117"/>
            </a:avLst>
          </a:prstGeom>
        </p:spPr>
      </p:pic>
      <p:sp>
        <p:nvSpPr>
          <p:cNvPr id="11" name="prototype-ipad-ipad-frame">
            <a:extLst xmlns:a="http://schemas.openxmlformats.org/drawingml/2006/main">
              <a:ext uri="{FF2B5EF4-FFF2-40B4-BE49-F238E27FC236}">
                <a16:creationId xmlns:a16="http://schemas.microsoft.com/office/drawing/2014/main" id="{E0556A27-C72D-4C3A-884B-CAE6F068AE51}"/>
              </a:ext>
            </a:extLst>
          </p:cNvPr>
          <p:cNvSpPr>
            <a:spLocks xmlns:a="http://schemas.openxmlformats.org/drawingml/2006/main" noGrp="1"/>
          </p:cNvSpPr>
          <p:nvPr/>
        </p:nvSpPr>
        <p:spPr>
          <a:xfrm xmlns:a="http://schemas.openxmlformats.org/drawingml/2006/main">
            <a:off x="457200" y="2552700"/>
            <a:ext cx="5715000" cy="3219450"/>
          </a:xfrm>
          <a:prstGeom xmlns:a="http://schemas.openxmlformats.org/drawingml/2006/main" prst="roundRect">
            <a:avLst>
              <a:gd name="adj" fmla="val 7101"/>
            </a:avLst>
          </a:prstGeom>
          <a:noFill xmlns:a="http://schemas.openxmlformats.org/drawingml/2006/main"/>
          <a:ln xmlns:a="http://schemas.openxmlformats.org/drawingml/2006/main" w="9525">
            <a:solidFill>
              <a:srgbClr val="444852"/>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3c7d76ab0514ed1"/>
          <a:srcRect xmlns:a="http://schemas.openxmlformats.org/drawingml/2006/main" l="8333" t="0" r="8333" b="0"/>
          <a:stretch xmlns:a="http://schemas.openxmlformats.org/drawingml/2006/main">
            <a:fillRect l="0" t="0" r="0" b="0"/>
          </a:stretch>
        </p:blipFill>
        <p:spPr>
          <a:xfrm xmlns:a="http://schemas.openxmlformats.org/drawingml/2006/main">
            <a:off x="581025" y="2676525"/>
            <a:ext cx="5467350" cy="2971800"/>
          </a:xfrm>
          <a:prstGeom xmlns:a="http://schemas.openxmlformats.org/drawingml/2006/main" prst="roundRect">
            <a:avLst>
              <a:gd name="adj" fmla="val 5128"/>
            </a:avLst>
          </a:prstGeom>
        </p:spPr>
      </p:pic>
      <p:sp>
        <p:nvSpPr>
          <p:cNvPr id="13" name="prototype-ipad-camera">
            <a:extLst xmlns:a="http://schemas.openxmlformats.org/drawingml/2006/main">
              <a:ext uri="{FF2B5EF4-FFF2-40B4-BE49-F238E27FC236}">
                <a16:creationId xmlns:a16="http://schemas.microsoft.com/office/drawing/2014/main" id="{685ECD80-DF61-4C06-863B-C678B6B81540}"/>
              </a:ext>
            </a:extLst>
          </p:cNvPr>
          <p:cNvSpPr>
            <a:spLocks xmlns:a="http://schemas.openxmlformats.org/drawingml/2006/main" noGrp="1"/>
          </p:cNvSpPr>
          <p:nvPr/>
        </p:nvSpPr>
        <p:spPr>
          <a:xfrm xmlns:a="http://schemas.openxmlformats.org/drawingml/2006/main">
            <a:off x="6067425" y="4133850"/>
            <a:ext cx="47625" cy="47625"/>
          </a:xfrm>
          <a:prstGeom xmlns:a="http://schemas.openxmlformats.org/drawingml/2006/main" prst="ellipse">
            <a:avLst/>
          </a:prstGeom>
          <a:solidFill xmlns:a="http://schemas.openxmlformats.org/drawingml/2006/main">
            <a:srgbClr val="5F636B"/>
          </a:solidFill>
          <a:ln xmlns:a="http://schemas.openxmlformats.org/drawingml/2006/main" w="0">
            <a:noFill/>
            <a:prstDash val="solid"/>
          </a:ln>
        </p:spPr>
      </p:sp>
      <p:sp>
        <p:nvSpPr>
          <p:cNvPr id="14" name="ipad-label-bg">
            <a:extLst xmlns:a="http://schemas.openxmlformats.org/drawingml/2006/main">
              <a:ext uri="{FF2B5EF4-FFF2-40B4-BE49-F238E27FC236}">
                <a16:creationId xmlns:a16="http://schemas.microsoft.com/office/drawing/2014/main" id="{F6105E62-C054-4C0D-BC8B-70B41A3D49FC}"/>
              </a:ext>
            </a:extLst>
          </p:cNvPr>
          <p:cNvSpPr>
            <a:spLocks xmlns:a="http://schemas.openxmlformats.org/drawingml/2006/main" noGrp="1"/>
          </p:cNvSpPr>
          <p:nvPr/>
        </p:nvSpPr>
        <p:spPr>
          <a:xfrm xmlns:a="http://schemas.openxmlformats.org/drawingml/2006/main">
            <a:off x="666750" y="2095500"/>
            <a:ext cx="1962150" cy="400050"/>
          </a:xfrm>
          <a:prstGeom xmlns:a="http://schemas.openxmlformats.org/drawingml/2006/main" prst="roundRect">
            <a:avLst>
              <a:gd name="adj" fmla="val 28571"/>
            </a:avLst>
          </a:prstGeom>
          <a:solidFill xmlns:a="http://schemas.openxmlformats.org/drawingml/2006/main">
            <a:srgbClr val="D7FF00"/>
          </a:solidFill>
          <a:ln xmlns:a="http://schemas.openxmlformats.org/drawingml/2006/main" w="0">
            <a:noFill/>
            <a:prstDash val="solid"/>
          </a:ln>
        </p:spPr>
      </p:sp>
      <p:sp>
        <p:nvSpPr>
          <p:cNvPr id="15" name="ipad-label">
            <a:extLst xmlns:a="http://schemas.openxmlformats.org/drawingml/2006/main">
              <a:ext uri="{FF2B5EF4-FFF2-40B4-BE49-F238E27FC236}">
                <a16:creationId xmlns:a16="http://schemas.microsoft.com/office/drawing/2014/main" id="{A0DA6286-2CB8-4CAD-9562-A5793104DFAE}"/>
              </a:ext>
            </a:extLst>
          </p:cNvPr>
          <p:cNvSpPr>
            <a:spLocks xmlns:a="http://schemas.openxmlformats.org/drawingml/2006/main" noGrp="1"/>
          </p:cNvSpPr>
          <p:nvPr/>
        </p:nvSpPr>
        <p:spPr>
          <a:xfrm xmlns:a="http://schemas.openxmlformats.org/drawingml/2006/main">
            <a:off x="762000" y="21526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090B0E"/>
                </a:solidFill>
                <a:latin typeface="Arial"/>
                <a:ea typeface="Arial"/>
                <a:cs typeface="Arial"/>
              </a:defRPr>
            </a:pPr>
            <a:r>
              <a:rPr sz="975" b="1">
                <a:solidFill>
                  <a:srgbClr val="090B0E"/>
                </a:solidFill>
                <a:latin typeface="Arial"/>
                <a:ea typeface="Arial"/>
                <a:cs typeface="Arial"/>
              </a:rPr>
              <a:t>iPAD • COURT-SIDE</a:t>
            </a:r>
          </a:p>
        </p:txBody>
      </p:sp>
      <p:sp>
        <p:nvSpPr>
          <p:cNvPr id="16" name="web-label-bg">
            <a:extLst xmlns:a="http://schemas.openxmlformats.org/drawingml/2006/main">
              <a:ext uri="{FF2B5EF4-FFF2-40B4-BE49-F238E27FC236}">
                <a16:creationId xmlns:a16="http://schemas.microsoft.com/office/drawing/2014/main" id="{B5162201-9768-4424-9352-31E9F6A014DC}"/>
              </a:ext>
            </a:extLst>
          </p:cNvPr>
          <p:cNvSpPr>
            <a:spLocks xmlns:a="http://schemas.openxmlformats.org/drawingml/2006/main" noGrp="1"/>
          </p:cNvSpPr>
          <p:nvPr/>
        </p:nvSpPr>
        <p:spPr>
          <a:xfrm xmlns:a="http://schemas.openxmlformats.org/drawingml/2006/main">
            <a:off x="9353550" y="5962650"/>
            <a:ext cx="2171700" cy="400050"/>
          </a:xfrm>
          <a:prstGeom xmlns:a="http://schemas.openxmlformats.org/drawingml/2006/main" prst="roundRect">
            <a:avLst>
              <a:gd name="adj" fmla="val 28571"/>
            </a:avLst>
          </a:prstGeom>
          <a:solidFill xmlns:a="http://schemas.openxmlformats.org/drawingml/2006/main">
            <a:srgbClr val="22252B"/>
          </a:solidFill>
          <a:ln xmlns:a="http://schemas.openxmlformats.org/drawingml/2006/main" w="0">
            <a:noFill/>
            <a:prstDash val="solid"/>
          </a:ln>
        </p:spPr>
      </p:sp>
      <p:sp>
        <p:nvSpPr>
          <p:cNvPr id="17" name="web-label">
            <a:extLst xmlns:a="http://schemas.openxmlformats.org/drawingml/2006/main">
              <a:ext uri="{FF2B5EF4-FFF2-40B4-BE49-F238E27FC236}">
                <a16:creationId xmlns:a16="http://schemas.microsoft.com/office/drawing/2014/main" id="{754D8E23-1494-4989-A2A2-027E8A3FD249}"/>
              </a:ext>
            </a:extLst>
          </p:cNvPr>
          <p:cNvSpPr>
            <a:spLocks xmlns:a="http://schemas.openxmlformats.org/drawingml/2006/main" noGrp="1"/>
          </p:cNvSpPr>
          <p:nvPr/>
        </p:nvSpPr>
        <p:spPr>
          <a:xfrm xmlns:a="http://schemas.openxmlformats.org/drawingml/2006/main">
            <a:off x="9467850" y="6019800"/>
            <a:ext cx="194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a:solidFill>
                  <a:srgbClr val="D7FF00"/>
                </a:solidFill>
                <a:latin typeface="Arial"/>
                <a:ea typeface="Arial"/>
                <a:cs typeface="Arial"/>
              </a:defRPr>
            </a:pPr>
            <a:r>
              <a:rPr sz="975" b="1">
                <a:solidFill>
                  <a:srgbClr val="D7FF00"/>
                </a:solidFill>
                <a:latin typeface="Arial"/>
                <a:ea typeface="Arial"/>
                <a:cs typeface="Arial"/>
              </a:rPr>
              <a:t>WEB • POST-MATCH</a:t>
            </a:r>
          </a:p>
        </p:txBody>
      </p:sp>
    </p:spTree>
    <p:extLst>
      <p:ext uri="{BB962C8B-B14F-4D97-AF65-F5344CB8AC3E}">
        <p14:creationId xmlns:p14="http://schemas.microsoft.com/office/powerpoint/2010/main" val="1029399169"/>
      </p:ext>
    </p:extLst>
  </p:cSld>
</p:sld>
</file>

<file path=ppt/slides/slide10.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4" name="section-9">
            <a:extLst xmlns:a="http://schemas.openxmlformats.org/drawingml/2006/main">
              <a:ext uri="{FF2B5EF4-FFF2-40B4-BE49-F238E27FC236}">
                <a16:creationId xmlns:a16="http://schemas.microsoft.com/office/drawing/2014/main" id="{D2420002-98D2-4E81-8989-53E469270946}"/>
              </a:ext>
            </a:extLst>
          </p:cNvPr>
          <p:cNvSpPr>
            <a:spLocks xmlns:a="http://schemas.openxmlformats.org/drawingml/2006/main" noGrp="1"/>
          </p:cNvSpPr>
          <p:nvPr/>
        </p:nvSpPr>
        <p:spPr>
          <a:xfrm xmlns:a="http://schemas.openxmlformats.org/drawingml/2006/main">
            <a:off x="457200" y="304800"/>
            <a:ext cx="438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D7FF00"/>
                </a:solidFill>
                <a:latin typeface="Arial"/>
                <a:ea typeface="Arial"/>
                <a:cs typeface="Arial"/>
              </a:defRPr>
            </a:pPr>
            <a:r>
              <a:rPr sz="1125" b="1">
                <a:solidFill>
                  <a:srgbClr val="D7FF00"/>
                </a:solidFill>
                <a:latin typeface="Arial"/>
                <a:ea typeface="Arial"/>
                <a:cs typeface="Arial"/>
              </a:rPr>
              <a:t>09</a:t>
            </a:r>
          </a:p>
        </p:txBody>
      </p:sp>
      <p:sp>
        <p:nvSpPr>
          <p:cNvPr id="2" name="eyebrow-9">
            <a:extLst xmlns:a="http://schemas.openxmlformats.org/drawingml/2006/main">
              <a:ext uri="{FF2B5EF4-FFF2-40B4-BE49-F238E27FC236}">
                <a16:creationId xmlns:a16="http://schemas.microsoft.com/office/drawing/2014/main" id="{CB64305D-FEFF-45AE-8661-980115AE3314}"/>
              </a:ext>
            </a:extLst>
          </p:cNvPr>
          <p:cNvSpPr>
            <a:spLocks xmlns:a="http://schemas.openxmlformats.org/drawingml/2006/main" noGrp="1"/>
          </p:cNvSpPr>
          <p:nvPr/>
        </p:nvSpPr>
        <p:spPr>
          <a:xfrm xmlns:a="http://schemas.openxmlformats.org/drawingml/2006/main">
            <a:off x="933450" y="304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9CA3AF"/>
                </a:solidFill>
                <a:latin typeface="Arial"/>
                <a:ea typeface="Arial"/>
                <a:cs typeface="Arial"/>
              </a:defRPr>
            </a:pPr>
            <a:r>
              <a:rPr sz="1050" b="1">
                <a:solidFill>
                  <a:srgbClr val="9CA3AF"/>
                </a:solidFill>
                <a:latin typeface="Arial"/>
                <a:ea typeface="Arial"/>
                <a:cs typeface="Arial"/>
              </a:rPr>
              <a:t>CONCLUSION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34e110e0c9945be"/>
          <a:srcRect xmlns:a="http://schemas.openxmlformats.org/drawingml/2006/main" l="0" t="3887" r="0" b="3887"/>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4" name="conclusion-title">
            <a:extLst xmlns:a="http://schemas.openxmlformats.org/drawingml/2006/main">
              <a:ext uri="{FF2B5EF4-FFF2-40B4-BE49-F238E27FC236}">
                <a16:creationId xmlns:a16="http://schemas.microsoft.com/office/drawing/2014/main" id="{50AEE1A8-6642-49A2-B201-CC196443E6F9}"/>
              </a:ext>
            </a:extLst>
          </p:cNvPr>
          <p:cNvSpPr>
            <a:spLocks xmlns:a="http://schemas.openxmlformats.org/drawingml/2006/main" noGrp="1"/>
          </p:cNvSpPr>
          <p:nvPr/>
        </p:nvSpPr>
        <p:spPr>
          <a:xfrm xmlns:a="http://schemas.openxmlformats.org/drawingml/2006/main">
            <a:off x="495300" y="1066800"/>
            <a:ext cx="5857875"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75" b="1">
                <a:solidFill>
                  <a:srgbClr val="F8FAFC"/>
                </a:solidFill>
                <a:latin typeface="Georgia"/>
                <a:ea typeface="Georgia"/>
                <a:cs typeface="Georgia"/>
              </a:defRPr>
            </a:pPr>
            <a:r>
              <a:rPr sz="3375" b="1">
                <a:solidFill>
                  <a:srgbClr val="F8FAFC"/>
                </a:solidFill>
                <a:latin typeface="Georgia"/>
                <a:ea typeface="Georgia"/>
                <a:cs typeface="Georgia"/>
              </a:rPr>
              <a:t>Elite-level insight.</a:t>
            </a:r>
          </a:p>
          <a:p xmlns:a="http://schemas.openxmlformats.org/drawingml/2006/main">
            <a:pPr algn="l">
              <a:buNone/>
              <a:defRPr sz="3375" b="1">
                <a:solidFill>
                  <a:srgbClr val="F8FAFC"/>
                </a:solidFill>
                <a:latin typeface="Georgia"/>
                <a:ea typeface="Georgia"/>
                <a:cs typeface="Georgia"/>
              </a:defRPr>
            </a:pPr>
            <a:r>
              <a:rPr sz="3375" b="1">
                <a:solidFill>
                  <a:srgbClr val="F8FAFC"/>
                </a:solidFill>
                <a:latin typeface="Georgia"/>
                <a:ea typeface="Georgia"/>
                <a:cs typeface="Georgia"/>
              </a:rPr>
              <a:t>Grassroots-ready.</a:t>
            </a:r>
          </a:p>
        </p:txBody>
      </p:sp>
      <p:sp>
        <p:nvSpPr>
          <p:cNvPr id="5" name="conclusion-subtitle">
            <a:extLst xmlns:a="http://schemas.openxmlformats.org/drawingml/2006/main">
              <a:ext uri="{FF2B5EF4-FFF2-40B4-BE49-F238E27FC236}">
                <a16:creationId xmlns:a16="http://schemas.microsoft.com/office/drawing/2014/main" id="{4256B0FA-A314-4FEE-AE01-6D31BD26941E}"/>
              </a:ext>
            </a:extLst>
          </p:cNvPr>
          <p:cNvSpPr>
            <a:spLocks xmlns:a="http://schemas.openxmlformats.org/drawingml/2006/main" noGrp="1"/>
          </p:cNvSpPr>
          <p:nvPr/>
        </p:nvSpPr>
        <p:spPr>
          <a:xfrm xmlns:a="http://schemas.openxmlformats.org/drawingml/2006/main">
            <a:off x="514350" y="2533650"/>
            <a:ext cx="5381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9CA3AF"/>
                </a:solidFill>
                <a:latin typeface="Arial"/>
                <a:ea typeface="Arial"/>
                <a:cs typeface="Arial"/>
              </a:defRPr>
            </a:pPr>
            <a:r>
              <a:rPr sz="1500" b="0">
                <a:solidFill>
                  <a:srgbClr val="9CA3AF"/>
                </a:solidFill>
                <a:latin typeface="Arial"/>
                <a:ea typeface="Arial"/>
                <a:cs typeface="Arial"/>
              </a:rPr>
              <a:t>ShuttleTrace bridges the gap between manual notation and modern performance analysis — without adding expensive hardware.</a:t>
            </a:r>
          </a:p>
        </p:txBody>
      </p:sp>
      <p:sp>
        <p:nvSpPr>
          <p:cNvPr id="6" name="claim-dot-0">
            <a:extLst xmlns:a="http://schemas.openxmlformats.org/drawingml/2006/main">
              <a:ext uri="{FF2B5EF4-FFF2-40B4-BE49-F238E27FC236}">
                <a16:creationId xmlns:a16="http://schemas.microsoft.com/office/drawing/2014/main" id="{45BB920B-CCA0-46DB-A9B4-087DD4C5BC6E}"/>
              </a:ext>
            </a:extLst>
          </p:cNvPr>
          <p:cNvSpPr>
            <a:spLocks xmlns:a="http://schemas.openxmlformats.org/drawingml/2006/main" noGrp="1"/>
          </p:cNvSpPr>
          <p:nvPr/>
        </p:nvSpPr>
        <p:spPr>
          <a:xfrm xmlns:a="http://schemas.openxmlformats.org/drawingml/2006/main">
            <a:off x="533400" y="3962400"/>
            <a:ext cx="104775" cy="104775"/>
          </a:xfrm>
          <a:prstGeom xmlns:a="http://schemas.openxmlformats.org/drawingml/2006/main" prst="ellipse">
            <a:avLst/>
          </a:prstGeom>
          <a:solidFill xmlns:a="http://schemas.openxmlformats.org/drawingml/2006/main">
            <a:srgbClr val="D7FF00"/>
          </a:solidFill>
          <a:ln xmlns:a="http://schemas.openxmlformats.org/drawingml/2006/main" w="0">
            <a:noFill/>
            <a:prstDash val="solid"/>
          </a:ln>
        </p:spPr>
      </p:sp>
      <p:sp>
        <p:nvSpPr>
          <p:cNvPr id="7" name="claim-0">
            <a:extLst xmlns:a="http://schemas.openxmlformats.org/drawingml/2006/main">
              <a:ext uri="{FF2B5EF4-FFF2-40B4-BE49-F238E27FC236}">
                <a16:creationId xmlns:a16="http://schemas.microsoft.com/office/drawing/2014/main" id="{DAF894F9-393A-4CD7-979F-092F574D9547}"/>
              </a:ext>
            </a:extLst>
          </p:cNvPr>
          <p:cNvSpPr>
            <a:spLocks xmlns:a="http://schemas.openxmlformats.org/drawingml/2006/main" noGrp="1"/>
          </p:cNvSpPr>
          <p:nvPr/>
        </p:nvSpPr>
        <p:spPr>
          <a:xfrm xmlns:a="http://schemas.openxmlformats.org/drawingml/2006/main">
            <a:off x="781050" y="38862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REAL-TIME COURT-SIDE CAPTURE</a:t>
            </a:r>
          </a:p>
        </p:txBody>
      </p:sp>
      <p:sp>
        <p:nvSpPr>
          <p:cNvPr id="8" name="claim-dot-1">
            <a:extLst xmlns:a="http://schemas.openxmlformats.org/drawingml/2006/main">
              <a:ext uri="{FF2B5EF4-FFF2-40B4-BE49-F238E27FC236}">
                <a16:creationId xmlns:a16="http://schemas.microsoft.com/office/drawing/2014/main" id="{E3129C97-D82D-45DA-87E6-EE58878FB033}"/>
              </a:ext>
            </a:extLst>
          </p:cNvPr>
          <p:cNvSpPr>
            <a:spLocks xmlns:a="http://schemas.openxmlformats.org/drawingml/2006/main" noGrp="1"/>
          </p:cNvSpPr>
          <p:nvPr/>
        </p:nvSpPr>
        <p:spPr>
          <a:xfrm xmlns:a="http://schemas.openxmlformats.org/drawingml/2006/main">
            <a:off x="533400" y="4572000"/>
            <a:ext cx="104775" cy="104775"/>
          </a:xfrm>
          <a:prstGeom xmlns:a="http://schemas.openxmlformats.org/drawingml/2006/main" prst="ellipse">
            <a:avLst/>
          </a:prstGeom>
          <a:solidFill xmlns:a="http://schemas.openxmlformats.org/drawingml/2006/main">
            <a:srgbClr val="D7FF00"/>
          </a:solidFill>
          <a:ln xmlns:a="http://schemas.openxmlformats.org/drawingml/2006/main" w="0">
            <a:noFill/>
            <a:prstDash val="solid"/>
          </a:ln>
        </p:spPr>
      </p:sp>
      <p:sp>
        <p:nvSpPr>
          <p:cNvPr id="9" name="claim-1">
            <a:extLst xmlns:a="http://schemas.openxmlformats.org/drawingml/2006/main">
              <a:ext uri="{FF2B5EF4-FFF2-40B4-BE49-F238E27FC236}">
                <a16:creationId xmlns:a16="http://schemas.microsoft.com/office/drawing/2014/main" id="{78511440-E813-4A9D-8855-D2DB1C150368}"/>
              </a:ext>
            </a:extLst>
          </p:cNvPr>
          <p:cNvSpPr>
            <a:spLocks xmlns:a="http://schemas.openxmlformats.org/drawingml/2006/main" noGrp="1"/>
          </p:cNvSpPr>
          <p:nvPr/>
        </p:nvSpPr>
        <p:spPr>
          <a:xfrm xmlns:a="http://schemas.openxmlformats.org/drawingml/2006/main">
            <a:off x="781050" y="44958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STRUCTURED PLAYER HISTORY</a:t>
            </a:r>
          </a:p>
        </p:txBody>
      </p:sp>
      <p:sp>
        <p:nvSpPr>
          <p:cNvPr id="10" name="claim-dot-2">
            <a:extLst xmlns:a="http://schemas.openxmlformats.org/drawingml/2006/main">
              <a:ext uri="{FF2B5EF4-FFF2-40B4-BE49-F238E27FC236}">
                <a16:creationId xmlns:a16="http://schemas.microsoft.com/office/drawing/2014/main" id="{DEFF26B6-172A-4642-AD5A-7F8AE32095D4}"/>
              </a:ext>
            </a:extLst>
          </p:cNvPr>
          <p:cNvSpPr>
            <a:spLocks xmlns:a="http://schemas.openxmlformats.org/drawingml/2006/main" noGrp="1"/>
          </p:cNvSpPr>
          <p:nvPr/>
        </p:nvSpPr>
        <p:spPr>
          <a:xfrm xmlns:a="http://schemas.openxmlformats.org/drawingml/2006/main">
            <a:off x="533400" y="5181600"/>
            <a:ext cx="104775" cy="104775"/>
          </a:xfrm>
          <a:prstGeom xmlns:a="http://schemas.openxmlformats.org/drawingml/2006/main" prst="ellipse">
            <a:avLst/>
          </a:prstGeom>
          <a:solidFill xmlns:a="http://schemas.openxmlformats.org/drawingml/2006/main">
            <a:srgbClr val="D7FF00"/>
          </a:solidFill>
          <a:ln xmlns:a="http://schemas.openxmlformats.org/drawingml/2006/main" w="0">
            <a:noFill/>
            <a:prstDash val="solid"/>
          </a:ln>
        </p:spPr>
      </p:sp>
      <p:sp>
        <p:nvSpPr>
          <p:cNvPr id="11" name="claim-2">
            <a:extLst xmlns:a="http://schemas.openxmlformats.org/drawingml/2006/main">
              <a:ext uri="{FF2B5EF4-FFF2-40B4-BE49-F238E27FC236}">
                <a16:creationId xmlns:a16="http://schemas.microsoft.com/office/drawing/2014/main" id="{72BCF267-C025-4910-A625-7BA2B190E5C5}"/>
              </a:ext>
            </a:extLst>
          </p:cNvPr>
          <p:cNvSpPr>
            <a:spLocks xmlns:a="http://schemas.openxmlformats.org/drawingml/2006/main" noGrp="1"/>
          </p:cNvSpPr>
          <p:nvPr/>
        </p:nvSpPr>
        <p:spPr>
          <a:xfrm xmlns:a="http://schemas.openxmlformats.org/drawingml/2006/main">
            <a:off x="781050" y="51054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F8FAFC"/>
                </a:solidFill>
                <a:latin typeface="Arial"/>
                <a:ea typeface="Arial"/>
                <a:cs typeface="Arial"/>
              </a:defRPr>
            </a:pPr>
            <a:r>
              <a:rPr sz="1200" b="1">
                <a:solidFill>
                  <a:srgbClr val="F8FAFC"/>
                </a:solidFill>
                <a:latin typeface="Arial"/>
                <a:ea typeface="Arial"/>
                <a:cs typeface="Arial"/>
              </a:rPr>
              <a:t>RM0 SPECIALIST HARDWARE</a:t>
            </a:r>
          </a:p>
        </p:txBody>
      </p:sp>
      <p:sp>
        <p:nvSpPr>
          <p:cNvPr id="12" name="conclusion-tag">
            <a:extLst xmlns:a="http://schemas.openxmlformats.org/drawingml/2006/main">
              <a:ext uri="{FF2B5EF4-FFF2-40B4-BE49-F238E27FC236}">
                <a16:creationId xmlns:a16="http://schemas.microsoft.com/office/drawing/2014/main" id="{AFA4CA87-5F9E-49D8-A348-78D2A215F101}"/>
              </a:ext>
            </a:extLst>
          </p:cNvPr>
          <p:cNvSpPr>
            <a:spLocks xmlns:a="http://schemas.openxmlformats.org/drawingml/2006/main" noGrp="1"/>
          </p:cNvSpPr>
          <p:nvPr/>
        </p:nvSpPr>
        <p:spPr>
          <a:xfrm xmlns:a="http://schemas.openxmlformats.org/drawingml/2006/main">
            <a:off x="514350" y="5924550"/>
            <a:ext cx="4324350" cy="457200"/>
          </a:xfrm>
          <a:prstGeom xmlns:a="http://schemas.openxmlformats.org/drawingml/2006/main" prst="roundRect">
            <a:avLst>
              <a:gd name="adj" fmla="val 25000"/>
            </a:avLst>
          </a:prstGeom>
          <a:solidFill xmlns:a="http://schemas.openxmlformats.org/drawingml/2006/main">
            <a:srgbClr val="D7FF00"/>
          </a:solidFill>
          <a:ln xmlns:a="http://schemas.openxmlformats.org/drawingml/2006/main" w="0">
            <a:noFill/>
            <a:prstDash val="solid"/>
          </a:ln>
        </p:spPr>
      </p:sp>
      <p:sp>
        <p:nvSpPr>
          <p:cNvPr id="13" name="conclusion-tag-text">
            <a:extLst xmlns:a="http://schemas.openxmlformats.org/drawingml/2006/main">
              <a:ext uri="{FF2B5EF4-FFF2-40B4-BE49-F238E27FC236}">
                <a16:creationId xmlns:a16="http://schemas.microsoft.com/office/drawing/2014/main" id="{4110CBC2-F7A2-4EFB-B484-43BBB78F8094}"/>
              </a:ext>
            </a:extLst>
          </p:cNvPr>
          <p:cNvSpPr>
            <a:spLocks xmlns:a="http://schemas.openxmlformats.org/drawingml/2006/main" noGrp="1"/>
          </p:cNvSpPr>
          <p:nvPr/>
        </p:nvSpPr>
        <p:spPr>
          <a:xfrm xmlns:a="http://schemas.openxmlformats.org/drawingml/2006/main">
            <a:off x="628650" y="5981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090B0E"/>
                </a:solidFill>
                <a:latin typeface="Arial"/>
                <a:ea typeface="Arial"/>
                <a:cs typeface="Arial"/>
              </a:defRPr>
            </a:pPr>
            <a:r>
              <a:rPr sz="1050" b="1">
                <a:solidFill>
                  <a:srgbClr val="090B0E"/>
                </a:solidFill>
                <a:latin typeface="Arial"/>
                <a:ea typeface="Arial"/>
                <a:cs typeface="Arial"/>
              </a:rPr>
              <a:t>FROM EVERY RALLY → A BETTER DECISION</a:t>
            </a:r>
          </a:p>
        </p:txBody>
      </p:sp>
    </p:spTree>
    <p:extLst>
      <p:ext uri="{BB962C8B-B14F-4D97-AF65-F5344CB8AC3E}">
        <p14:creationId xmlns:p14="http://schemas.microsoft.com/office/powerpoint/2010/main" val="628236544"/>
      </p:ext>
    </p:extLst>
  </p:cSld>
</p:sld>
</file>

<file path=ppt/slides/slide11.xml><?xml version="1.0" encoding="utf-8"?>
<p:sld xmlns:p="http://schemas.openxmlformats.org/presentationml/2006/main">
  <p:cSld>
    <p:bg>
      <p:bgPr>
        <a:solidFill xmlns:a="http://schemas.openxmlformats.org/drawingml/2006/main">
          <a:srgbClr val="0A1128"/>
        </a:solidFill>
      </p:bgPr>
    </p:bg>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6ACA1445-2F02-4CC6-AC8C-D655F47672FA}"/>
              </a:ext>
            </a:extLst>
          </p:cNvPr>
          <p:cNvSpPr>
            <a:spLocks xmlns:a="http://schemas.openxmlformats.org/drawingml/2006/main" noGrp="1"/>
          </p:cNvSpPr>
          <p:nvPr/>
        </p:nvSpPr>
        <p:spPr>
          <a:xfrm xmlns:a="http://schemas.openxmlformats.org/drawingml/2006/main">
            <a:off x="457200" y="1645920"/>
            <a:ext cx="11277295" cy="4114800"/>
          </a:xfrm>
          <a:prstGeom xmlns:a="http://schemas.openxmlformats.org/drawingml/2006/main" prst="roundRect">
            <a:avLst/>
          </a:prstGeom>
          <a:solidFill xmlns:a="http://schemas.openxmlformats.org/drawingml/2006/main">
            <a:srgbClr val="1E293B"/>
          </a:solidFill>
          <a:ln xmlns:a="http://schemas.openxmlformats.org/drawingml/2006/main">
            <a:noFill/>
          </a:ln>
          <a:effectLst xmlns:a="http://schemas.openxmlformats.org/drawingml/2006/main">
            <a:outerShdw blurRad="20000" dist="10000" dir="5400000">
              <a:srgbClr val="000000">
                <a:alpha val="40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2A8639A-A172-4A2B-A846-606620975983}"/>
              </a:ext>
            </a:extLst>
          </p:cNvPr>
          <p:cNvSpPr>
            <a:spLocks xmlns:a="http://schemas.openxmlformats.org/drawingml/2006/main" noGrp="1"/>
          </p:cNvSpPr>
          <p:nvPr/>
        </p:nvSpPr>
        <p:spPr>
          <a:xfrm xmlns:a="http://schemas.openxmlformats.org/drawingml/2006/main">
            <a:off x="914400" y="2011680"/>
            <a:ext cx="10362895"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spcAft>
                <a:spcPts val="1400"/>
              </a:spcAft>
              <a:buNone/>
              <a:defRPr sz="4800" b="1">
                <a:solidFill>
                  <a:srgbClr val="00D2C4"/>
                </a:solidFill>
                <a:latin typeface="Georgia"/>
                <a:ea typeface="Georgia"/>
                <a:cs typeface="Georgia"/>
              </a:defRPr>
            </a:pPr>
            <a:r>
              <a:t>THANK YOU</a:t>
            </a:r>
          </a:p>
          <a:p xmlns:a="http://schemas.openxmlformats.org/drawingml/2006/main">
            <a:pPr algn="ctr">
              <a:spcAft>
                <a:spcPts val="2000"/>
              </a:spcAft>
              <a:buNone/>
              <a:defRPr sz="2800" b="1">
                <a:solidFill>
                  <a:srgbClr val="F8FAFC"/>
                </a:solidFill>
                <a:latin typeface="Georgia"/>
                <a:ea typeface="Georgia"/>
                <a:cs typeface="Georgia"/>
              </a:defRPr>
            </a:pPr>
            <a:r>
              <a:t>Q&amp;A Session — Open for Discussion</a:t>
            </a:r>
          </a:p>
          <a:p xmlns:a="http://schemas.openxmlformats.org/drawingml/2006/main">
            <a:pPr algn="ctr">
              <a:buNone/>
              <a:defRPr sz="1600">
                <a:solidFill>
                  <a:srgbClr val="94A3B8"/>
                </a:solidFill>
                <a:latin typeface="Arial"/>
                <a:ea typeface="Arial"/>
                <a:cs typeface="Arial"/>
              </a:defRPr>
            </a:pPr>
            <a:r>
              <a:t>ShuttleTrace: Modernizing Badminton Tactic Notation at Zero Cost</a:t>
            </a:r>
          </a:p>
        </p:txBody>
      </p:sp>
    </p:spTree>
    <p:extLst>
      <p:ext uri="{BB962C8B-B14F-4D97-AF65-F5344CB8AC3E}">
        <p14:creationId xmlns:p14="http://schemas.microsoft.com/office/powerpoint/2010/main" val="1423653529"/>
      </p:ext>
    </p:extLst>
  </p:cSld>
</p:sld>
</file>

<file path=ppt/slides/slide12.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3D277DD-7CAF-4D3E-B83A-D7A7CD1492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F4A67B7B-99B4-4A7A-87E5-8FB6CFEA564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0BC4648D-7518-4967-9354-239AC2F72801}"/>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SYSTEM REQUIREMENT ADDENDUM</a:t>
            </a:r>
          </a:p>
        </p:txBody>
      </p:sp>
      <p:sp>
        <p:nvSpPr>
          <p:cNvPr id="4" name="">
            <a:extLst xmlns:a="http://schemas.openxmlformats.org/drawingml/2006/main">
              <a:ext uri="{FF2B5EF4-FFF2-40B4-BE49-F238E27FC236}">
                <a16:creationId xmlns:a16="http://schemas.microsoft.com/office/drawing/2014/main" id="{490F247A-F9C5-47C0-B3C7-A47DEFE11F8C}"/>
              </a:ext>
            </a:extLst>
          </p:cNvPr>
          <p:cNvSpPr>
            <a:spLocks xmlns:a="http://schemas.openxmlformats.org/drawingml/2006/main" noGrp="1"/>
          </p:cNvSpPr>
          <p:nvPr/>
        </p:nvSpPr>
        <p:spPr>
          <a:xfrm xmlns:a="http://schemas.openxmlformats.org/drawingml/2006/main">
            <a:off x="666750" y="876300"/>
            <a:ext cx="647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Project specification for AKP ShuttleTrace</a:t>
            </a:r>
          </a:p>
        </p:txBody>
      </p:sp>
      <p:sp>
        <p:nvSpPr>
          <p:cNvPr id="5" name="">
            <a:extLst xmlns:a="http://schemas.openxmlformats.org/drawingml/2006/main">
              <a:ext uri="{FF2B5EF4-FFF2-40B4-BE49-F238E27FC236}">
                <a16:creationId xmlns:a16="http://schemas.microsoft.com/office/drawing/2014/main" id="{060D8361-ED08-49B4-A329-E36CF6EDAAA3}"/>
              </a:ext>
            </a:extLst>
          </p:cNvPr>
          <p:cNvSpPr>
            <a:spLocks xmlns:a="http://schemas.openxmlformats.org/drawingml/2006/main" noGrp="1"/>
          </p:cNvSpPr>
          <p:nvPr/>
        </p:nvSpPr>
        <p:spPr>
          <a:xfrm xmlns:a="http://schemas.openxmlformats.org/drawingml/2006/main">
            <a:off x="685800" y="1733550"/>
            <a:ext cx="647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Badminton match and stroke notational analysis system for coaches, analysts and structured training review.</a:t>
            </a:r>
          </a:p>
        </p:txBody>
      </p:sp>
      <p:sp>
        <p:nvSpPr>
          <p:cNvPr id="6" name="">
            <a:extLst xmlns:a="http://schemas.openxmlformats.org/drawingml/2006/main">
              <a:ext uri="{FF2B5EF4-FFF2-40B4-BE49-F238E27FC236}">
                <a16:creationId xmlns:a16="http://schemas.microsoft.com/office/drawing/2014/main" id="{278ED01C-724B-4C0F-B17C-23D92092E33A}"/>
              </a:ext>
            </a:extLst>
          </p:cNvPr>
          <p:cNvSpPr>
            <a:spLocks xmlns:a="http://schemas.openxmlformats.org/drawingml/2006/main" noGrp="1"/>
          </p:cNvSpPr>
          <p:nvPr/>
        </p:nvSpPr>
        <p:spPr>
          <a:xfrm xmlns:a="http://schemas.openxmlformats.org/drawingml/2006/main">
            <a:off x="685800" y="2533650"/>
            <a:ext cx="2095500" cy="323850"/>
          </a:xfrm>
          <a:prstGeom xmlns:a="http://schemas.openxmlformats.org/drawingml/2006/main" prst="roundRect">
            <a:avLst>
              <a:gd name="adj" fmla="val 23529"/>
            </a:avLst>
          </a:prstGeom>
          <a:solidFill xmlns:a="http://schemas.openxmlformats.org/drawingml/2006/main">
            <a:srgbClr val="D7FF00"/>
          </a:solidFill>
          <a:ln xmlns:a="http://schemas.openxmlformats.org/drawingml/2006/main" w="9525">
            <a:solidFill>
              <a:srgbClr val="34363D"/>
            </a:solidFill>
            <a:prstDash val="solid"/>
          </a:ln>
        </p:spPr>
      </p:sp>
      <p:sp>
        <p:nvSpPr>
          <p:cNvPr id="7" name="">
            <a:extLst xmlns:a="http://schemas.openxmlformats.org/drawingml/2006/main">
              <a:ext uri="{FF2B5EF4-FFF2-40B4-BE49-F238E27FC236}">
                <a16:creationId xmlns:a16="http://schemas.microsoft.com/office/drawing/2014/main" id="{29FF9CA9-B5ED-4DAA-9A62-03ED7A48BA09}"/>
              </a:ext>
            </a:extLst>
          </p:cNvPr>
          <p:cNvSpPr>
            <a:spLocks xmlns:a="http://schemas.openxmlformats.org/drawingml/2006/main" noGrp="1"/>
          </p:cNvSpPr>
          <p:nvPr/>
        </p:nvSpPr>
        <p:spPr>
          <a:xfrm xmlns:a="http://schemas.openxmlformats.org/drawingml/2006/main">
            <a:off x="819150" y="2609850"/>
            <a:ext cx="1828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0000"/>
                </a:solidFill>
              </a:defRPr>
            </a:pPr>
            <a:r>
              <a:rPr sz="825" b="1">
                <a:solidFill>
                  <a:srgbClr val="000000"/>
                </a:solidFill>
              </a:rPr>
              <a:t>Frontend: Vue 3 + Quasar</a:t>
            </a:r>
          </a:p>
        </p:txBody>
      </p:sp>
      <p:sp>
        <p:nvSpPr>
          <p:cNvPr id="8" name="">
            <a:extLst xmlns:a="http://schemas.openxmlformats.org/drawingml/2006/main">
              <a:ext uri="{FF2B5EF4-FFF2-40B4-BE49-F238E27FC236}">
                <a16:creationId xmlns:a16="http://schemas.microsoft.com/office/drawing/2014/main" id="{8AFEC4B0-C206-4691-9A16-EEE5069F7B08}"/>
              </a:ext>
            </a:extLst>
          </p:cNvPr>
          <p:cNvSpPr>
            <a:spLocks xmlns:a="http://schemas.openxmlformats.org/drawingml/2006/main" noGrp="1"/>
          </p:cNvSpPr>
          <p:nvPr/>
        </p:nvSpPr>
        <p:spPr>
          <a:xfrm xmlns:a="http://schemas.openxmlformats.org/drawingml/2006/main">
            <a:off x="2952750" y="2533650"/>
            <a:ext cx="2095500" cy="323850"/>
          </a:xfrm>
          <a:prstGeom xmlns:a="http://schemas.openxmlformats.org/drawingml/2006/main" prst="roundRect">
            <a:avLst>
              <a:gd name="adj" fmla="val 23529"/>
            </a:avLst>
          </a:prstGeom>
          <a:solidFill xmlns:a="http://schemas.openxmlformats.org/drawingml/2006/main">
            <a:srgbClr val="202126"/>
          </a:solidFill>
          <a:ln xmlns:a="http://schemas.openxmlformats.org/drawingml/2006/main" w="9525">
            <a:solidFill>
              <a:srgbClr val="34363D"/>
            </a:solidFill>
            <a:prstDash val="solid"/>
          </a:ln>
        </p:spPr>
      </p:sp>
      <p:sp>
        <p:nvSpPr>
          <p:cNvPr id="9" name="">
            <a:extLst xmlns:a="http://schemas.openxmlformats.org/drawingml/2006/main">
              <a:ext uri="{FF2B5EF4-FFF2-40B4-BE49-F238E27FC236}">
                <a16:creationId xmlns:a16="http://schemas.microsoft.com/office/drawing/2014/main" id="{688DC035-6E0F-40D9-A8C1-277E55559C55}"/>
              </a:ext>
            </a:extLst>
          </p:cNvPr>
          <p:cNvSpPr>
            <a:spLocks xmlns:a="http://schemas.openxmlformats.org/drawingml/2006/main" noGrp="1"/>
          </p:cNvSpPr>
          <p:nvPr/>
        </p:nvSpPr>
        <p:spPr>
          <a:xfrm xmlns:a="http://schemas.openxmlformats.org/drawingml/2006/main">
            <a:off x="3086100" y="2609850"/>
            <a:ext cx="1828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FFFFFF"/>
                </a:solidFill>
              </a:defRPr>
            </a:pPr>
            <a:r>
              <a:rPr sz="825" b="1">
                <a:solidFill>
                  <a:srgbClr val="FFFFFF"/>
                </a:solidFill>
              </a:rPr>
              <a:t>Backend: NestJS + Prisma</a:t>
            </a:r>
          </a:p>
        </p:txBody>
      </p:sp>
      <p:sp>
        <p:nvSpPr>
          <p:cNvPr id="10" name="">
            <a:extLst xmlns:a="http://schemas.openxmlformats.org/drawingml/2006/main">
              <a:ext uri="{FF2B5EF4-FFF2-40B4-BE49-F238E27FC236}">
                <a16:creationId xmlns:a16="http://schemas.microsoft.com/office/drawing/2014/main" id="{8E9B87AB-0729-4849-BCEE-F5B4888DC660}"/>
              </a:ext>
            </a:extLst>
          </p:cNvPr>
          <p:cNvSpPr>
            <a:spLocks xmlns:a="http://schemas.openxmlformats.org/drawingml/2006/main" noGrp="1"/>
          </p:cNvSpPr>
          <p:nvPr/>
        </p:nvSpPr>
        <p:spPr>
          <a:xfrm xmlns:a="http://schemas.openxmlformats.org/drawingml/2006/main">
            <a:off x="5219700" y="2533650"/>
            <a:ext cx="1809750" cy="323850"/>
          </a:xfrm>
          <a:prstGeom xmlns:a="http://schemas.openxmlformats.org/drawingml/2006/main" prst="roundRect">
            <a:avLst>
              <a:gd name="adj" fmla="val 23529"/>
            </a:avLst>
          </a:prstGeom>
          <a:solidFill xmlns:a="http://schemas.openxmlformats.org/drawingml/2006/main">
            <a:srgbClr val="202126"/>
          </a:solidFill>
          <a:ln xmlns:a="http://schemas.openxmlformats.org/drawingml/2006/main" w="9525">
            <a:solidFill>
              <a:srgbClr val="34363D"/>
            </a:solidFill>
            <a:prstDash val="solid"/>
          </a:ln>
        </p:spPr>
      </p:sp>
      <p:sp>
        <p:nvSpPr>
          <p:cNvPr id="11" name="">
            <a:extLst xmlns:a="http://schemas.openxmlformats.org/drawingml/2006/main">
              <a:ext uri="{FF2B5EF4-FFF2-40B4-BE49-F238E27FC236}">
                <a16:creationId xmlns:a16="http://schemas.microsoft.com/office/drawing/2014/main" id="{675F97B4-DB93-4FFD-8347-C73D95E22F52}"/>
              </a:ext>
            </a:extLst>
          </p:cNvPr>
          <p:cNvSpPr>
            <a:spLocks xmlns:a="http://schemas.openxmlformats.org/drawingml/2006/main" noGrp="1"/>
          </p:cNvSpPr>
          <p:nvPr/>
        </p:nvSpPr>
        <p:spPr>
          <a:xfrm xmlns:a="http://schemas.openxmlformats.org/drawingml/2006/main">
            <a:off x="5353050" y="260985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FFFFFF"/>
                </a:solidFill>
              </a:defRPr>
            </a:pPr>
            <a:r>
              <a:rPr sz="825" b="1">
                <a:solidFill>
                  <a:srgbClr val="FFFFFF"/>
                </a:solidFill>
              </a:rPr>
              <a:t>Database: PostgreSQL</a:t>
            </a:r>
          </a:p>
        </p:txBody>
      </p:sp>
      <p:sp>
        <p:nvSpPr>
          <p:cNvPr id="12" name="">
            <a:extLst xmlns:a="http://schemas.openxmlformats.org/drawingml/2006/main">
              <a:ext uri="{FF2B5EF4-FFF2-40B4-BE49-F238E27FC236}">
                <a16:creationId xmlns:a16="http://schemas.microsoft.com/office/drawing/2014/main" id="{DE6C464C-7C98-48F2-8887-69AE5565F3F3}"/>
              </a:ext>
            </a:extLst>
          </p:cNvPr>
          <p:cNvSpPr>
            <a:spLocks xmlns:a="http://schemas.openxmlformats.org/drawingml/2006/main" noGrp="1"/>
          </p:cNvSpPr>
          <p:nvPr/>
        </p:nvSpPr>
        <p:spPr>
          <a:xfrm xmlns:a="http://schemas.openxmlformats.org/drawingml/2006/main">
            <a:off x="685800" y="3276600"/>
            <a:ext cx="2952750" cy="1428750"/>
          </a:xfrm>
          <a:prstGeom xmlns:a="http://schemas.openxmlformats.org/drawingml/2006/main" prst="roundRect">
            <a:avLst>
              <a:gd name="adj" fmla="val 6667"/>
            </a:avLst>
          </a:prstGeom>
          <a:solidFill xmlns:a="http://schemas.openxmlformats.org/drawingml/2006/main">
            <a:srgbClr val="15161A"/>
          </a:solidFill>
          <a:ln xmlns:a="http://schemas.openxmlformats.org/drawingml/2006/main" w="9525">
            <a:solidFill>
              <a:srgbClr val="34363D"/>
            </a:solidFill>
            <a:prstDash val="solid"/>
          </a:ln>
        </p:spPr>
      </p:sp>
      <p:sp>
        <p:nvSpPr>
          <p:cNvPr id="13" name="">
            <a:extLst xmlns:a="http://schemas.openxmlformats.org/drawingml/2006/main">
              <a:ext uri="{FF2B5EF4-FFF2-40B4-BE49-F238E27FC236}">
                <a16:creationId xmlns:a16="http://schemas.microsoft.com/office/drawing/2014/main" id="{F09E8748-3B74-4808-B431-13502F3D2746}"/>
              </a:ext>
            </a:extLst>
          </p:cNvPr>
          <p:cNvSpPr>
            <a:spLocks xmlns:a="http://schemas.openxmlformats.org/drawingml/2006/main" noGrp="1"/>
          </p:cNvSpPr>
          <p:nvPr/>
        </p:nvSpPr>
        <p:spPr>
          <a:xfrm xmlns:a="http://schemas.openxmlformats.org/drawingml/2006/main">
            <a:off x="685800" y="3276600"/>
            <a:ext cx="47625" cy="14287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4" name="">
            <a:extLst xmlns:a="http://schemas.openxmlformats.org/drawingml/2006/main">
              <a:ext uri="{FF2B5EF4-FFF2-40B4-BE49-F238E27FC236}">
                <a16:creationId xmlns:a16="http://schemas.microsoft.com/office/drawing/2014/main" id="{4A49799C-B99B-4507-B1B9-B899A150569D}"/>
              </a:ext>
            </a:extLst>
          </p:cNvPr>
          <p:cNvSpPr>
            <a:spLocks xmlns:a="http://schemas.openxmlformats.org/drawingml/2006/main" noGrp="1"/>
          </p:cNvSpPr>
          <p:nvPr/>
        </p:nvSpPr>
        <p:spPr>
          <a:xfrm xmlns:a="http://schemas.openxmlformats.org/drawingml/2006/main">
            <a:off x="895350" y="34480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Purpose</a:t>
            </a:r>
          </a:p>
        </p:txBody>
      </p:sp>
      <p:sp>
        <p:nvSpPr>
          <p:cNvPr id="15" name="">
            <a:extLst xmlns:a="http://schemas.openxmlformats.org/drawingml/2006/main">
              <a:ext uri="{FF2B5EF4-FFF2-40B4-BE49-F238E27FC236}">
                <a16:creationId xmlns:a16="http://schemas.microsoft.com/office/drawing/2014/main" id="{FA7E51E7-97A3-43B1-B38C-247B8A5C41B6}"/>
              </a:ext>
            </a:extLst>
          </p:cNvPr>
          <p:cNvSpPr>
            <a:spLocks xmlns:a="http://schemas.openxmlformats.org/drawingml/2006/main" noGrp="1"/>
          </p:cNvSpPr>
          <p:nvPr/>
        </p:nvSpPr>
        <p:spPr>
          <a:xfrm xmlns:a="http://schemas.openxmlformats.org/drawingml/2006/main">
            <a:off x="895350" y="3810000"/>
            <a:ext cx="2533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Record live matches, capture stroke notation, store player profiles, analyze performance and generate post-match reports.</a:t>
            </a:r>
          </a:p>
        </p:txBody>
      </p:sp>
      <p:sp>
        <p:nvSpPr>
          <p:cNvPr id="16" name="">
            <a:extLst xmlns:a="http://schemas.openxmlformats.org/drawingml/2006/main">
              <a:ext uri="{FF2B5EF4-FFF2-40B4-BE49-F238E27FC236}">
                <a16:creationId xmlns:a16="http://schemas.microsoft.com/office/drawing/2014/main" id="{EA1DFF76-9DD8-4AFC-BEF0-FC7AD0F58FD4}"/>
              </a:ext>
            </a:extLst>
          </p:cNvPr>
          <p:cNvSpPr>
            <a:spLocks xmlns:a="http://schemas.openxmlformats.org/drawingml/2006/main" noGrp="1"/>
          </p:cNvSpPr>
          <p:nvPr/>
        </p:nvSpPr>
        <p:spPr>
          <a:xfrm xmlns:a="http://schemas.openxmlformats.org/drawingml/2006/main">
            <a:off x="3848100" y="3276600"/>
            <a:ext cx="2952750" cy="1428750"/>
          </a:xfrm>
          <a:prstGeom xmlns:a="http://schemas.openxmlformats.org/drawingml/2006/main" prst="roundRect">
            <a:avLst>
              <a:gd name="adj" fmla="val 6667"/>
            </a:avLst>
          </a:prstGeom>
          <a:solidFill xmlns:a="http://schemas.openxmlformats.org/drawingml/2006/main">
            <a:srgbClr val="15161A"/>
          </a:solidFill>
          <a:ln xmlns:a="http://schemas.openxmlformats.org/drawingml/2006/main" w="9525">
            <a:solidFill>
              <a:srgbClr val="34363D"/>
            </a:solidFill>
            <a:prstDash val="solid"/>
          </a:ln>
        </p:spPr>
      </p:sp>
      <p:sp>
        <p:nvSpPr>
          <p:cNvPr id="17" name="">
            <a:extLst xmlns:a="http://schemas.openxmlformats.org/drawingml/2006/main">
              <a:ext uri="{FF2B5EF4-FFF2-40B4-BE49-F238E27FC236}">
                <a16:creationId xmlns:a16="http://schemas.microsoft.com/office/drawing/2014/main" id="{E7367769-4A4C-48BF-B772-00C11CF3BF50}"/>
              </a:ext>
            </a:extLst>
          </p:cNvPr>
          <p:cNvSpPr>
            <a:spLocks xmlns:a="http://schemas.openxmlformats.org/drawingml/2006/main" noGrp="1"/>
          </p:cNvSpPr>
          <p:nvPr/>
        </p:nvSpPr>
        <p:spPr>
          <a:xfrm xmlns:a="http://schemas.openxmlformats.org/drawingml/2006/main">
            <a:off x="3848100" y="3276600"/>
            <a:ext cx="47625" cy="14287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8" name="">
            <a:extLst xmlns:a="http://schemas.openxmlformats.org/drawingml/2006/main">
              <a:ext uri="{FF2B5EF4-FFF2-40B4-BE49-F238E27FC236}">
                <a16:creationId xmlns:a16="http://schemas.microsoft.com/office/drawing/2014/main" id="{C451EE4E-A17D-40AC-9147-FB79897FF569}"/>
              </a:ext>
            </a:extLst>
          </p:cNvPr>
          <p:cNvSpPr>
            <a:spLocks xmlns:a="http://schemas.openxmlformats.org/drawingml/2006/main" noGrp="1"/>
          </p:cNvSpPr>
          <p:nvPr/>
        </p:nvSpPr>
        <p:spPr>
          <a:xfrm xmlns:a="http://schemas.openxmlformats.org/drawingml/2006/main">
            <a:off x="4057650" y="34480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Primary user</a:t>
            </a:r>
          </a:p>
        </p:txBody>
      </p:sp>
      <p:sp>
        <p:nvSpPr>
          <p:cNvPr id="19" name="">
            <a:extLst xmlns:a="http://schemas.openxmlformats.org/drawingml/2006/main">
              <a:ext uri="{FF2B5EF4-FFF2-40B4-BE49-F238E27FC236}">
                <a16:creationId xmlns:a16="http://schemas.microsoft.com/office/drawing/2014/main" id="{B046C51F-CDAB-4D29-B40B-B3198043A792}"/>
              </a:ext>
            </a:extLst>
          </p:cNvPr>
          <p:cNvSpPr>
            <a:spLocks xmlns:a="http://schemas.openxmlformats.org/drawingml/2006/main" noGrp="1"/>
          </p:cNvSpPr>
          <p:nvPr/>
        </p:nvSpPr>
        <p:spPr>
          <a:xfrm xmlns:a="http://schemas.openxmlformats.org/drawingml/2006/main">
            <a:off x="4057650" y="3810000"/>
            <a:ext cx="2533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Badminton coach or analyst who needs fast notation during match play and clear review after the session.</a:t>
            </a:r>
          </a:p>
        </p:txBody>
      </p:sp>
      <p:sp>
        <p:nvSpPr>
          <p:cNvPr id="20" name="">
            <a:extLst xmlns:a="http://schemas.openxmlformats.org/drawingml/2006/main">
              <a:ext uri="{FF2B5EF4-FFF2-40B4-BE49-F238E27FC236}">
                <a16:creationId xmlns:a16="http://schemas.microsoft.com/office/drawing/2014/main" id="{450A35AC-C4E6-48B5-A479-7FDDC9058A06}"/>
              </a:ext>
            </a:extLst>
          </p:cNvPr>
          <p:cNvSpPr>
            <a:spLocks xmlns:a="http://schemas.openxmlformats.org/drawingml/2006/main" noGrp="1"/>
          </p:cNvSpPr>
          <p:nvPr/>
        </p:nvSpPr>
        <p:spPr>
          <a:xfrm xmlns:a="http://schemas.openxmlformats.org/drawingml/2006/main">
            <a:off x="7010400" y="3276600"/>
            <a:ext cx="2952750" cy="1428750"/>
          </a:xfrm>
          <a:prstGeom xmlns:a="http://schemas.openxmlformats.org/drawingml/2006/main" prst="roundRect">
            <a:avLst>
              <a:gd name="adj" fmla="val 6667"/>
            </a:avLst>
          </a:prstGeom>
          <a:solidFill xmlns:a="http://schemas.openxmlformats.org/drawingml/2006/main">
            <a:srgbClr val="15161A"/>
          </a:solidFill>
          <a:ln xmlns:a="http://schemas.openxmlformats.org/drawingml/2006/main" w="9525">
            <a:solidFill>
              <a:srgbClr val="34363D"/>
            </a:solidFill>
            <a:prstDash val="solid"/>
          </a:ln>
        </p:spPr>
      </p:sp>
      <p:sp>
        <p:nvSpPr>
          <p:cNvPr id="21" name="">
            <a:extLst xmlns:a="http://schemas.openxmlformats.org/drawingml/2006/main">
              <a:ext uri="{FF2B5EF4-FFF2-40B4-BE49-F238E27FC236}">
                <a16:creationId xmlns:a16="http://schemas.microsoft.com/office/drawing/2014/main" id="{BE0DDB72-5B33-49EF-B960-6DA2DCAB1EF6}"/>
              </a:ext>
            </a:extLst>
          </p:cNvPr>
          <p:cNvSpPr>
            <a:spLocks xmlns:a="http://schemas.openxmlformats.org/drawingml/2006/main" noGrp="1"/>
          </p:cNvSpPr>
          <p:nvPr/>
        </p:nvSpPr>
        <p:spPr>
          <a:xfrm xmlns:a="http://schemas.openxmlformats.org/drawingml/2006/main">
            <a:off x="7010400" y="3276600"/>
            <a:ext cx="47625" cy="14287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2" name="">
            <a:extLst xmlns:a="http://schemas.openxmlformats.org/drawingml/2006/main">
              <a:ext uri="{FF2B5EF4-FFF2-40B4-BE49-F238E27FC236}">
                <a16:creationId xmlns:a16="http://schemas.microsoft.com/office/drawing/2014/main" id="{E25B821C-A2D6-4D49-9DCC-03AB59544CE5}"/>
              </a:ext>
            </a:extLst>
          </p:cNvPr>
          <p:cNvSpPr>
            <a:spLocks xmlns:a="http://schemas.openxmlformats.org/drawingml/2006/main" noGrp="1"/>
          </p:cNvSpPr>
          <p:nvPr/>
        </p:nvSpPr>
        <p:spPr>
          <a:xfrm xmlns:a="http://schemas.openxmlformats.org/drawingml/2006/main">
            <a:off x="7219950" y="34480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Deployment target</a:t>
            </a:r>
          </a:p>
        </p:txBody>
      </p:sp>
      <p:sp>
        <p:nvSpPr>
          <p:cNvPr id="23" name="">
            <a:extLst xmlns:a="http://schemas.openxmlformats.org/drawingml/2006/main">
              <a:ext uri="{FF2B5EF4-FFF2-40B4-BE49-F238E27FC236}">
                <a16:creationId xmlns:a16="http://schemas.microsoft.com/office/drawing/2014/main" id="{3F8D3BD8-1D7E-4838-B18C-35F316D97570}"/>
              </a:ext>
            </a:extLst>
          </p:cNvPr>
          <p:cNvSpPr>
            <a:spLocks xmlns:a="http://schemas.openxmlformats.org/drawingml/2006/main" noGrp="1"/>
          </p:cNvSpPr>
          <p:nvPr/>
        </p:nvSpPr>
        <p:spPr>
          <a:xfrm xmlns:a="http://schemas.openxmlformats.org/drawingml/2006/main">
            <a:off x="7219950" y="3810000"/>
            <a:ext cx="2533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Frontend on GitHub Pages, backend on Railway and PostgreSQL connected through DATABASE_URL.</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61356d7bcac4546"/>
          <a:srcRect xmlns:a="http://schemas.openxmlformats.org/drawingml/2006/main" l="9668" t="0" r="9668" b="0"/>
          <a:stretch xmlns:a="http://schemas.openxmlformats.org/drawingml/2006/main">
            <a:fillRect l="0" t="0" r="0" b="0"/>
          </a:stretch>
        </p:blipFill>
        <p:spPr>
          <a:xfrm xmlns:a="http://schemas.openxmlformats.org/drawingml/2006/main">
            <a:off x="7715250" y="666750"/>
            <a:ext cx="3714750" cy="2095500"/>
          </a:xfrm>
          <a:prstGeom xmlns:a="http://schemas.openxmlformats.org/drawingml/2006/main" prst="roundRect">
            <a:avLst>
              <a:gd name="adj" fmla="val 4545"/>
            </a:avLst>
          </a:prstGeom>
        </p:spPr>
      </p:pic>
      <p:sp>
        <p:nvSpPr>
          <p:cNvPr id="25" name="">
            <a:extLst xmlns:a="http://schemas.openxmlformats.org/drawingml/2006/main">
              <a:ext uri="{FF2B5EF4-FFF2-40B4-BE49-F238E27FC236}">
                <a16:creationId xmlns:a16="http://schemas.microsoft.com/office/drawing/2014/main" id="{BF1B3E46-3AAF-43F8-9EA0-2A6B8FFF7BA6}"/>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01</a:t>
            </a:r>
          </a:p>
        </p:txBody>
      </p:sp>
      <p:sp>
        <p:nvSpPr>
          <p:cNvPr id="26" name="">
            <a:extLst xmlns:a="http://schemas.openxmlformats.org/drawingml/2006/main">
              <a:ext uri="{FF2B5EF4-FFF2-40B4-BE49-F238E27FC236}">
                <a16:creationId xmlns:a16="http://schemas.microsoft.com/office/drawing/2014/main" id="{3BE1A2B6-36AB-4433-8F1A-7B026AF74604}"/>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1692460599"/>
      </p:ext>
    </p:extLst>
  </p:cSld>
</p:sld>
</file>

<file path=ppt/slides/slide13.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E08F19C5-F117-4C71-AAAE-A500B192F1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B06F45D6-A116-4E54-984D-2B1B6D8B58E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1B223745-0485-49C7-B6A4-69B7D842A17C}"/>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FUNCTIONAL REQUIREMENTS</a:t>
            </a:r>
          </a:p>
        </p:txBody>
      </p:sp>
      <p:sp>
        <p:nvSpPr>
          <p:cNvPr id="4" name="">
            <a:extLst xmlns:a="http://schemas.openxmlformats.org/drawingml/2006/main">
              <a:ext uri="{FF2B5EF4-FFF2-40B4-BE49-F238E27FC236}">
                <a16:creationId xmlns:a16="http://schemas.microsoft.com/office/drawing/2014/main" id="{D2251A4D-6419-451A-9EB2-474B1A0DDD4B}"/>
              </a:ext>
            </a:extLst>
          </p:cNvPr>
          <p:cNvSpPr>
            <a:spLocks xmlns:a="http://schemas.openxmlformats.org/drawingml/2006/main" noGrp="1"/>
          </p:cNvSpPr>
          <p:nvPr/>
        </p:nvSpPr>
        <p:spPr>
          <a:xfrm xmlns:a="http://schemas.openxmlformats.org/drawingml/2006/main">
            <a:off x="666750" y="8763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System scope covers the full coaching workflow</a:t>
            </a:r>
          </a:p>
        </p:txBody>
      </p:sp>
      <p:sp>
        <p:nvSpPr>
          <p:cNvPr id="5" name="">
            <a:extLst xmlns:a="http://schemas.openxmlformats.org/drawingml/2006/main">
              <a:ext uri="{FF2B5EF4-FFF2-40B4-BE49-F238E27FC236}">
                <a16:creationId xmlns:a16="http://schemas.microsoft.com/office/drawing/2014/main" id="{B4E410A3-6906-4A8E-A904-B13BF45177EB}"/>
              </a:ext>
            </a:extLst>
          </p:cNvPr>
          <p:cNvSpPr>
            <a:spLocks xmlns:a="http://schemas.openxmlformats.org/drawingml/2006/main" noGrp="1"/>
          </p:cNvSpPr>
          <p:nvPr/>
        </p:nvSpPr>
        <p:spPr>
          <a:xfrm xmlns:a="http://schemas.openxmlformats.org/drawingml/2006/main">
            <a:off x="685800" y="16383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The app must support everything from player setup to live notation, training logging, history review and export.</a:t>
            </a:r>
          </a:p>
        </p:txBody>
      </p:sp>
      <p:sp>
        <p:nvSpPr>
          <p:cNvPr id="6" name="">
            <a:extLst xmlns:a="http://schemas.openxmlformats.org/drawingml/2006/main">
              <a:ext uri="{FF2B5EF4-FFF2-40B4-BE49-F238E27FC236}">
                <a16:creationId xmlns:a16="http://schemas.microsoft.com/office/drawing/2014/main" id="{2DF18638-FB7E-4EB0-A04D-0D707CABB180}"/>
              </a:ext>
            </a:extLst>
          </p:cNvPr>
          <p:cNvSpPr>
            <a:spLocks xmlns:a="http://schemas.openxmlformats.org/drawingml/2006/main" noGrp="1"/>
          </p:cNvSpPr>
          <p:nvPr/>
        </p:nvSpPr>
        <p:spPr>
          <a:xfrm xmlns:a="http://schemas.openxmlformats.org/drawingml/2006/main">
            <a:off x="685800" y="247650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7" name="">
            <a:extLst xmlns:a="http://schemas.openxmlformats.org/drawingml/2006/main">
              <a:ext uri="{FF2B5EF4-FFF2-40B4-BE49-F238E27FC236}">
                <a16:creationId xmlns:a16="http://schemas.microsoft.com/office/drawing/2014/main" id="{0E0AD523-DBBA-43F5-8FCE-C9282D5347A8}"/>
              </a:ext>
            </a:extLst>
          </p:cNvPr>
          <p:cNvSpPr>
            <a:spLocks xmlns:a="http://schemas.openxmlformats.org/drawingml/2006/main" noGrp="1"/>
          </p:cNvSpPr>
          <p:nvPr/>
        </p:nvSpPr>
        <p:spPr>
          <a:xfrm xmlns:a="http://schemas.openxmlformats.org/drawingml/2006/main">
            <a:off x="685800" y="247650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8" name="">
            <a:extLst xmlns:a="http://schemas.openxmlformats.org/drawingml/2006/main">
              <a:ext uri="{FF2B5EF4-FFF2-40B4-BE49-F238E27FC236}">
                <a16:creationId xmlns:a16="http://schemas.microsoft.com/office/drawing/2014/main" id="{BAA50311-2D45-4ED4-B8C6-2C5E9D263ADA}"/>
              </a:ext>
            </a:extLst>
          </p:cNvPr>
          <p:cNvSpPr>
            <a:spLocks xmlns:a="http://schemas.openxmlformats.org/drawingml/2006/main" noGrp="1"/>
          </p:cNvSpPr>
          <p:nvPr/>
        </p:nvSpPr>
        <p:spPr>
          <a:xfrm xmlns:a="http://schemas.openxmlformats.org/drawingml/2006/main">
            <a:off x="895350" y="2647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Authenticate</a:t>
            </a:r>
          </a:p>
        </p:txBody>
      </p:sp>
      <p:sp>
        <p:nvSpPr>
          <p:cNvPr id="9" name="">
            <a:extLst xmlns:a="http://schemas.openxmlformats.org/drawingml/2006/main">
              <a:ext uri="{FF2B5EF4-FFF2-40B4-BE49-F238E27FC236}">
                <a16:creationId xmlns:a16="http://schemas.microsoft.com/office/drawing/2014/main" id="{3A1E0BEC-0982-4108-AA34-E3FAADF70E44}"/>
              </a:ext>
            </a:extLst>
          </p:cNvPr>
          <p:cNvSpPr>
            <a:spLocks xmlns:a="http://schemas.openxmlformats.org/drawingml/2006/main" noGrp="1"/>
          </p:cNvSpPr>
          <p:nvPr/>
        </p:nvSpPr>
        <p:spPr>
          <a:xfrm xmlns:a="http://schemas.openxmlformats.org/drawingml/2006/main">
            <a:off x="895350" y="30099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Register, login, current user session and logout.</a:t>
            </a:r>
          </a:p>
        </p:txBody>
      </p:sp>
      <p:sp>
        <p:nvSpPr>
          <p:cNvPr id="10" name="">
            <a:extLst xmlns:a="http://schemas.openxmlformats.org/drawingml/2006/main">
              <a:ext uri="{FF2B5EF4-FFF2-40B4-BE49-F238E27FC236}">
                <a16:creationId xmlns:a16="http://schemas.microsoft.com/office/drawing/2014/main" id="{1FBB77F9-B1B1-4B94-B137-34F24143337F}"/>
              </a:ext>
            </a:extLst>
          </p:cNvPr>
          <p:cNvSpPr>
            <a:spLocks xmlns:a="http://schemas.openxmlformats.org/drawingml/2006/main" noGrp="1"/>
          </p:cNvSpPr>
          <p:nvPr/>
        </p:nvSpPr>
        <p:spPr>
          <a:xfrm xmlns:a="http://schemas.openxmlformats.org/drawingml/2006/main">
            <a:off x="3409950" y="247650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1" name="">
            <a:extLst xmlns:a="http://schemas.openxmlformats.org/drawingml/2006/main">
              <a:ext uri="{FF2B5EF4-FFF2-40B4-BE49-F238E27FC236}">
                <a16:creationId xmlns:a16="http://schemas.microsoft.com/office/drawing/2014/main" id="{ED621578-56B8-4EFF-A512-996C4F7222DA}"/>
              </a:ext>
            </a:extLst>
          </p:cNvPr>
          <p:cNvSpPr>
            <a:spLocks xmlns:a="http://schemas.openxmlformats.org/drawingml/2006/main" noGrp="1"/>
          </p:cNvSpPr>
          <p:nvPr/>
        </p:nvSpPr>
        <p:spPr>
          <a:xfrm xmlns:a="http://schemas.openxmlformats.org/drawingml/2006/main">
            <a:off x="3409950" y="247650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2" name="">
            <a:extLst xmlns:a="http://schemas.openxmlformats.org/drawingml/2006/main">
              <a:ext uri="{FF2B5EF4-FFF2-40B4-BE49-F238E27FC236}">
                <a16:creationId xmlns:a16="http://schemas.microsoft.com/office/drawing/2014/main" id="{25AB66D8-4958-4D0B-8A12-A34611357C4A}"/>
              </a:ext>
            </a:extLst>
          </p:cNvPr>
          <p:cNvSpPr>
            <a:spLocks xmlns:a="http://schemas.openxmlformats.org/drawingml/2006/main" noGrp="1"/>
          </p:cNvSpPr>
          <p:nvPr/>
        </p:nvSpPr>
        <p:spPr>
          <a:xfrm xmlns:a="http://schemas.openxmlformats.org/drawingml/2006/main">
            <a:off x="3619500" y="2647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Manage players</a:t>
            </a:r>
          </a:p>
        </p:txBody>
      </p:sp>
      <p:sp>
        <p:nvSpPr>
          <p:cNvPr id="13" name="">
            <a:extLst xmlns:a="http://schemas.openxmlformats.org/drawingml/2006/main">
              <a:ext uri="{FF2B5EF4-FFF2-40B4-BE49-F238E27FC236}">
                <a16:creationId xmlns:a16="http://schemas.microsoft.com/office/drawing/2014/main" id="{EA5E11C1-32FB-4601-9FA4-B2786473ACC4}"/>
              </a:ext>
            </a:extLst>
          </p:cNvPr>
          <p:cNvSpPr>
            <a:spLocks xmlns:a="http://schemas.openxmlformats.org/drawingml/2006/main" noGrp="1"/>
          </p:cNvSpPr>
          <p:nvPr/>
        </p:nvSpPr>
        <p:spPr>
          <a:xfrm xmlns:a="http://schemas.openxmlformats.org/drawingml/2006/main">
            <a:off x="3619500" y="30099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Create, view, edit and delete player profiles.</a:t>
            </a:r>
          </a:p>
        </p:txBody>
      </p:sp>
      <p:sp>
        <p:nvSpPr>
          <p:cNvPr id="14" name="">
            <a:extLst xmlns:a="http://schemas.openxmlformats.org/drawingml/2006/main">
              <a:ext uri="{FF2B5EF4-FFF2-40B4-BE49-F238E27FC236}">
                <a16:creationId xmlns:a16="http://schemas.microsoft.com/office/drawing/2014/main" id="{034891AF-AB73-44C6-A809-9C08165F4BAE}"/>
              </a:ext>
            </a:extLst>
          </p:cNvPr>
          <p:cNvSpPr>
            <a:spLocks xmlns:a="http://schemas.openxmlformats.org/drawingml/2006/main" noGrp="1"/>
          </p:cNvSpPr>
          <p:nvPr/>
        </p:nvSpPr>
        <p:spPr>
          <a:xfrm xmlns:a="http://schemas.openxmlformats.org/drawingml/2006/main">
            <a:off x="6134100" y="247650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5" name="">
            <a:extLst xmlns:a="http://schemas.openxmlformats.org/drawingml/2006/main">
              <a:ext uri="{FF2B5EF4-FFF2-40B4-BE49-F238E27FC236}">
                <a16:creationId xmlns:a16="http://schemas.microsoft.com/office/drawing/2014/main" id="{97C27E13-1811-46E8-9AA2-3978C33FC8D5}"/>
              </a:ext>
            </a:extLst>
          </p:cNvPr>
          <p:cNvSpPr>
            <a:spLocks xmlns:a="http://schemas.openxmlformats.org/drawingml/2006/main" noGrp="1"/>
          </p:cNvSpPr>
          <p:nvPr/>
        </p:nvSpPr>
        <p:spPr>
          <a:xfrm xmlns:a="http://schemas.openxmlformats.org/drawingml/2006/main">
            <a:off x="6134100" y="247650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6" name="">
            <a:extLst xmlns:a="http://schemas.openxmlformats.org/drawingml/2006/main">
              <a:ext uri="{FF2B5EF4-FFF2-40B4-BE49-F238E27FC236}">
                <a16:creationId xmlns:a16="http://schemas.microsoft.com/office/drawing/2014/main" id="{BB682D53-70D2-4FEF-9433-7FBDD5832864}"/>
              </a:ext>
            </a:extLst>
          </p:cNvPr>
          <p:cNvSpPr>
            <a:spLocks xmlns:a="http://schemas.openxmlformats.org/drawingml/2006/main" noGrp="1"/>
          </p:cNvSpPr>
          <p:nvPr/>
        </p:nvSpPr>
        <p:spPr>
          <a:xfrm xmlns:a="http://schemas.openxmlformats.org/drawingml/2006/main">
            <a:off x="6343650" y="2647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Record matches</a:t>
            </a:r>
          </a:p>
        </p:txBody>
      </p:sp>
      <p:sp>
        <p:nvSpPr>
          <p:cNvPr id="17" name="">
            <a:extLst xmlns:a="http://schemas.openxmlformats.org/drawingml/2006/main">
              <a:ext uri="{FF2B5EF4-FFF2-40B4-BE49-F238E27FC236}">
                <a16:creationId xmlns:a16="http://schemas.microsoft.com/office/drawing/2014/main" id="{05E58FE4-72A8-4F0F-8A11-4FB66C2F601D}"/>
              </a:ext>
            </a:extLst>
          </p:cNvPr>
          <p:cNvSpPr>
            <a:spLocks xmlns:a="http://schemas.openxmlformats.org/drawingml/2006/main" noGrp="1"/>
          </p:cNvSpPr>
          <p:nvPr/>
        </p:nvSpPr>
        <p:spPr>
          <a:xfrm xmlns:a="http://schemas.openxmlformats.org/drawingml/2006/main">
            <a:off x="6343650" y="30099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Select Player A/B, track sets, rallies, score and shot sequence.</a:t>
            </a:r>
          </a:p>
        </p:txBody>
      </p:sp>
      <p:sp>
        <p:nvSpPr>
          <p:cNvPr id="18" name="">
            <a:extLst xmlns:a="http://schemas.openxmlformats.org/drawingml/2006/main">
              <a:ext uri="{FF2B5EF4-FFF2-40B4-BE49-F238E27FC236}">
                <a16:creationId xmlns:a16="http://schemas.microsoft.com/office/drawing/2014/main" id="{424F0A2D-13BF-457E-81D1-0E9E63D105BD}"/>
              </a:ext>
            </a:extLst>
          </p:cNvPr>
          <p:cNvSpPr>
            <a:spLocks xmlns:a="http://schemas.openxmlformats.org/drawingml/2006/main" noGrp="1"/>
          </p:cNvSpPr>
          <p:nvPr/>
        </p:nvSpPr>
        <p:spPr>
          <a:xfrm xmlns:a="http://schemas.openxmlformats.org/drawingml/2006/main">
            <a:off x="8858250" y="247650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9" name="">
            <a:extLst xmlns:a="http://schemas.openxmlformats.org/drawingml/2006/main">
              <a:ext uri="{FF2B5EF4-FFF2-40B4-BE49-F238E27FC236}">
                <a16:creationId xmlns:a16="http://schemas.microsoft.com/office/drawing/2014/main" id="{DBDF7B8B-63DF-4646-85F0-2C680CAC7DF2}"/>
              </a:ext>
            </a:extLst>
          </p:cNvPr>
          <p:cNvSpPr>
            <a:spLocks xmlns:a="http://schemas.openxmlformats.org/drawingml/2006/main" noGrp="1"/>
          </p:cNvSpPr>
          <p:nvPr/>
        </p:nvSpPr>
        <p:spPr>
          <a:xfrm xmlns:a="http://schemas.openxmlformats.org/drawingml/2006/main">
            <a:off x="8858250" y="247650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0" name="">
            <a:extLst xmlns:a="http://schemas.openxmlformats.org/drawingml/2006/main">
              <a:ext uri="{FF2B5EF4-FFF2-40B4-BE49-F238E27FC236}">
                <a16:creationId xmlns:a16="http://schemas.microsoft.com/office/drawing/2014/main" id="{0D57CEF2-EA48-4332-A775-C7482522E0D2}"/>
              </a:ext>
            </a:extLst>
          </p:cNvPr>
          <p:cNvSpPr>
            <a:spLocks xmlns:a="http://schemas.openxmlformats.org/drawingml/2006/main" noGrp="1"/>
          </p:cNvSpPr>
          <p:nvPr/>
        </p:nvSpPr>
        <p:spPr>
          <a:xfrm xmlns:a="http://schemas.openxmlformats.org/drawingml/2006/main">
            <a:off x="9067800" y="2647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Track strokes</a:t>
            </a:r>
          </a:p>
        </p:txBody>
      </p:sp>
      <p:sp>
        <p:nvSpPr>
          <p:cNvPr id="21" name="">
            <a:extLst xmlns:a="http://schemas.openxmlformats.org/drawingml/2006/main">
              <a:ext uri="{FF2B5EF4-FFF2-40B4-BE49-F238E27FC236}">
                <a16:creationId xmlns:a16="http://schemas.microsoft.com/office/drawing/2014/main" id="{B33E0A1D-C4D1-45F4-AC54-1407EE931F78}"/>
              </a:ext>
            </a:extLst>
          </p:cNvPr>
          <p:cNvSpPr>
            <a:spLocks xmlns:a="http://schemas.openxmlformats.org/drawingml/2006/main" noGrp="1"/>
          </p:cNvSpPr>
          <p:nvPr/>
        </p:nvSpPr>
        <p:spPr>
          <a:xfrm xmlns:a="http://schemas.openxmlformats.org/drawingml/2006/main">
            <a:off x="9067800" y="300990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Store shot type, rally context, player ownership and performance category.</a:t>
            </a:r>
          </a:p>
        </p:txBody>
      </p:sp>
      <p:sp>
        <p:nvSpPr>
          <p:cNvPr id="22" name="">
            <a:extLst xmlns:a="http://schemas.openxmlformats.org/drawingml/2006/main">
              <a:ext uri="{FF2B5EF4-FFF2-40B4-BE49-F238E27FC236}">
                <a16:creationId xmlns:a16="http://schemas.microsoft.com/office/drawing/2014/main" id="{3A044398-9B63-4744-A45D-4E214CF28CB5}"/>
              </a:ext>
            </a:extLst>
          </p:cNvPr>
          <p:cNvSpPr>
            <a:spLocks xmlns:a="http://schemas.openxmlformats.org/drawingml/2006/main" noGrp="1"/>
          </p:cNvSpPr>
          <p:nvPr/>
        </p:nvSpPr>
        <p:spPr>
          <a:xfrm xmlns:a="http://schemas.openxmlformats.org/drawingml/2006/main">
            <a:off x="685800" y="386715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23" name="">
            <a:extLst xmlns:a="http://schemas.openxmlformats.org/drawingml/2006/main">
              <a:ext uri="{FF2B5EF4-FFF2-40B4-BE49-F238E27FC236}">
                <a16:creationId xmlns:a16="http://schemas.microsoft.com/office/drawing/2014/main" id="{FE712171-FF25-4E41-9318-3759308E5E40}"/>
              </a:ext>
            </a:extLst>
          </p:cNvPr>
          <p:cNvSpPr>
            <a:spLocks xmlns:a="http://schemas.openxmlformats.org/drawingml/2006/main" noGrp="1"/>
          </p:cNvSpPr>
          <p:nvPr/>
        </p:nvSpPr>
        <p:spPr>
          <a:xfrm xmlns:a="http://schemas.openxmlformats.org/drawingml/2006/main">
            <a:off x="685800" y="38671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4" name="">
            <a:extLst xmlns:a="http://schemas.openxmlformats.org/drawingml/2006/main">
              <a:ext uri="{FF2B5EF4-FFF2-40B4-BE49-F238E27FC236}">
                <a16:creationId xmlns:a16="http://schemas.microsoft.com/office/drawing/2014/main" id="{8D9167A9-2349-402C-8A7B-49080E549482}"/>
              </a:ext>
            </a:extLst>
          </p:cNvPr>
          <p:cNvSpPr>
            <a:spLocks xmlns:a="http://schemas.openxmlformats.org/drawingml/2006/main" noGrp="1"/>
          </p:cNvSpPr>
          <p:nvPr/>
        </p:nvSpPr>
        <p:spPr>
          <a:xfrm xmlns:a="http://schemas.openxmlformats.org/drawingml/2006/main">
            <a:off x="895350" y="4038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Analyze dashboard</a:t>
            </a:r>
          </a:p>
        </p:txBody>
      </p:sp>
      <p:sp>
        <p:nvSpPr>
          <p:cNvPr id="25" name="">
            <a:extLst xmlns:a="http://schemas.openxmlformats.org/drawingml/2006/main">
              <a:ext uri="{FF2B5EF4-FFF2-40B4-BE49-F238E27FC236}">
                <a16:creationId xmlns:a16="http://schemas.microsoft.com/office/drawing/2014/main" id="{DA342AB3-153E-44A9-8130-D1726A9E2EFE}"/>
              </a:ext>
            </a:extLst>
          </p:cNvPr>
          <p:cNvSpPr>
            <a:spLocks xmlns:a="http://schemas.openxmlformats.org/drawingml/2006/main" noGrp="1"/>
          </p:cNvSpPr>
          <p:nvPr/>
        </p:nvSpPr>
        <p:spPr>
          <a:xfrm xmlns:a="http://schemas.openxmlformats.org/drawingml/2006/main">
            <a:off x="895350" y="4400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Show match summary, shot frequency, attack ratio, longest rally and radar-style comparison.</a:t>
            </a:r>
          </a:p>
        </p:txBody>
      </p:sp>
      <p:sp>
        <p:nvSpPr>
          <p:cNvPr id="26" name="">
            <a:extLst xmlns:a="http://schemas.openxmlformats.org/drawingml/2006/main">
              <a:ext uri="{FF2B5EF4-FFF2-40B4-BE49-F238E27FC236}">
                <a16:creationId xmlns:a16="http://schemas.microsoft.com/office/drawing/2014/main" id="{C8216291-C796-4A13-B01E-B33CEE4999B2}"/>
              </a:ext>
            </a:extLst>
          </p:cNvPr>
          <p:cNvSpPr>
            <a:spLocks xmlns:a="http://schemas.openxmlformats.org/drawingml/2006/main" noGrp="1"/>
          </p:cNvSpPr>
          <p:nvPr/>
        </p:nvSpPr>
        <p:spPr>
          <a:xfrm xmlns:a="http://schemas.openxmlformats.org/drawingml/2006/main">
            <a:off x="3409950" y="386715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27" name="">
            <a:extLst xmlns:a="http://schemas.openxmlformats.org/drawingml/2006/main">
              <a:ext uri="{FF2B5EF4-FFF2-40B4-BE49-F238E27FC236}">
                <a16:creationId xmlns:a16="http://schemas.microsoft.com/office/drawing/2014/main" id="{26FDAB28-5E90-4BB2-93EF-2EC255F1DE87}"/>
              </a:ext>
            </a:extLst>
          </p:cNvPr>
          <p:cNvSpPr>
            <a:spLocks xmlns:a="http://schemas.openxmlformats.org/drawingml/2006/main" noGrp="1"/>
          </p:cNvSpPr>
          <p:nvPr/>
        </p:nvSpPr>
        <p:spPr>
          <a:xfrm xmlns:a="http://schemas.openxmlformats.org/drawingml/2006/main">
            <a:off x="3409950" y="38671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8" name="">
            <a:extLst xmlns:a="http://schemas.openxmlformats.org/drawingml/2006/main">
              <a:ext uri="{FF2B5EF4-FFF2-40B4-BE49-F238E27FC236}">
                <a16:creationId xmlns:a16="http://schemas.microsoft.com/office/drawing/2014/main" id="{0BE343A7-1DCF-4EFC-BBA4-731F601B6C7C}"/>
              </a:ext>
            </a:extLst>
          </p:cNvPr>
          <p:cNvSpPr>
            <a:spLocks xmlns:a="http://schemas.openxmlformats.org/drawingml/2006/main" noGrp="1"/>
          </p:cNvSpPr>
          <p:nvPr/>
        </p:nvSpPr>
        <p:spPr>
          <a:xfrm xmlns:a="http://schemas.openxmlformats.org/drawingml/2006/main">
            <a:off x="3619500" y="4038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Training mode</a:t>
            </a:r>
          </a:p>
        </p:txBody>
      </p:sp>
      <p:sp>
        <p:nvSpPr>
          <p:cNvPr id="29" name="">
            <a:extLst xmlns:a="http://schemas.openxmlformats.org/drawingml/2006/main">
              <a:ext uri="{FF2B5EF4-FFF2-40B4-BE49-F238E27FC236}">
                <a16:creationId xmlns:a16="http://schemas.microsoft.com/office/drawing/2014/main" id="{3867FEBD-AF9E-4D0D-8D3A-DC66B610359E}"/>
              </a:ext>
            </a:extLst>
          </p:cNvPr>
          <p:cNvSpPr>
            <a:spLocks xmlns:a="http://schemas.openxmlformats.org/drawingml/2006/main" noGrp="1"/>
          </p:cNvSpPr>
          <p:nvPr/>
        </p:nvSpPr>
        <p:spPr>
          <a:xfrm xmlns:a="http://schemas.openxmlformats.org/drawingml/2006/main">
            <a:off x="3619500" y="4400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Set drill target, record repetitions and review training history.</a:t>
            </a:r>
          </a:p>
        </p:txBody>
      </p:sp>
      <p:sp>
        <p:nvSpPr>
          <p:cNvPr id="30" name="">
            <a:extLst xmlns:a="http://schemas.openxmlformats.org/drawingml/2006/main">
              <a:ext uri="{FF2B5EF4-FFF2-40B4-BE49-F238E27FC236}">
                <a16:creationId xmlns:a16="http://schemas.microsoft.com/office/drawing/2014/main" id="{5157C3D5-DE72-422F-A256-97597E075370}"/>
              </a:ext>
            </a:extLst>
          </p:cNvPr>
          <p:cNvSpPr>
            <a:spLocks xmlns:a="http://schemas.openxmlformats.org/drawingml/2006/main" noGrp="1"/>
          </p:cNvSpPr>
          <p:nvPr/>
        </p:nvSpPr>
        <p:spPr>
          <a:xfrm xmlns:a="http://schemas.openxmlformats.org/drawingml/2006/main">
            <a:off x="6134100" y="386715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31" name="">
            <a:extLst xmlns:a="http://schemas.openxmlformats.org/drawingml/2006/main">
              <a:ext uri="{FF2B5EF4-FFF2-40B4-BE49-F238E27FC236}">
                <a16:creationId xmlns:a16="http://schemas.microsoft.com/office/drawing/2014/main" id="{DD8EEEB2-BF3D-4A26-9B65-F6645B78EEBF}"/>
              </a:ext>
            </a:extLst>
          </p:cNvPr>
          <p:cNvSpPr>
            <a:spLocks xmlns:a="http://schemas.openxmlformats.org/drawingml/2006/main" noGrp="1"/>
          </p:cNvSpPr>
          <p:nvPr/>
        </p:nvSpPr>
        <p:spPr>
          <a:xfrm xmlns:a="http://schemas.openxmlformats.org/drawingml/2006/main">
            <a:off x="6134100" y="38671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2" name="">
            <a:extLst xmlns:a="http://schemas.openxmlformats.org/drawingml/2006/main">
              <a:ext uri="{FF2B5EF4-FFF2-40B4-BE49-F238E27FC236}">
                <a16:creationId xmlns:a16="http://schemas.microsoft.com/office/drawing/2014/main" id="{40FE44E9-35D6-4253-BADB-C8924CB48383}"/>
              </a:ext>
            </a:extLst>
          </p:cNvPr>
          <p:cNvSpPr>
            <a:spLocks xmlns:a="http://schemas.openxmlformats.org/drawingml/2006/main" noGrp="1"/>
          </p:cNvSpPr>
          <p:nvPr/>
        </p:nvSpPr>
        <p:spPr>
          <a:xfrm xmlns:a="http://schemas.openxmlformats.org/drawingml/2006/main">
            <a:off x="6343650" y="4038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Export reports</a:t>
            </a:r>
          </a:p>
        </p:txBody>
      </p:sp>
      <p:sp>
        <p:nvSpPr>
          <p:cNvPr id="33" name="">
            <a:extLst xmlns:a="http://schemas.openxmlformats.org/drawingml/2006/main">
              <a:ext uri="{FF2B5EF4-FFF2-40B4-BE49-F238E27FC236}">
                <a16:creationId xmlns:a16="http://schemas.microsoft.com/office/drawing/2014/main" id="{C74E285D-2DF0-4A4D-9787-DDCA9B99FB53}"/>
              </a:ext>
            </a:extLst>
          </p:cNvPr>
          <p:cNvSpPr>
            <a:spLocks xmlns:a="http://schemas.openxmlformats.org/drawingml/2006/main" noGrp="1"/>
          </p:cNvSpPr>
          <p:nvPr/>
        </p:nvSpPr>
        <p:spPr>
          <a:xfrm xmlns:a="http://schemas.openxmlformats.org/drawingml/2006/main">
            <a:off x="6343650" y="4400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Generate match reports and export CSV for coach documentation.</a:t>
            </a:r>
          </a:p>
        </p:txBody>
      </p:sp>
      <p:sp>
        <p:nvSpPr>
          <p:cNvPr id="34" name="">
            <a:extLst xmlns:a="http://schemas.openxmlformats.org/drawingml/2006/main">
              <a:ext uri="{FF2B5EF4-FFF2-40B4-BE49-F238E27FC236}">
                <a16:creationId xmlns:a16="http://schemas.microsoft.com/office/drawing/2014/main" id="{EA2DB0FA-4BC6-4D91-9734-7DAEA4D745EF}"/>
              </a:ext>
            </a:extLst>
          </p:cNvPr>
          <p:cNvSpPr>
            <a:spLocks xmlns:a="http://schemas.openxmlformats.org/drawingml/2006/main" noGrp="1"/>
          </p:cNvSpPr>
          <p:nvPr/>
        </p:nvSpPr>
        <p:spPr>
          <a:xfrm xmlns:a="http://schemas.openxmlformats.org/drawingml/2006/main">
            <a:off x="8858250" y="3867150"/>
            <a:ext cx="24574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35" name="">
            <a:extLst xmlns:a="http://schemas.openxmlformats.org/drawingml/2006/main">
              <a:ext uri="{FF2B5EF4-FFF2-40B4-BE49-F238E27FC236}">
                <a16:creationId xmlns:a16="http://schemas.microsoft.com/office/drawing/2014/main" id="{07D8714B-EE37-4232-8800-FBBBADB2FA80}"/>
              </a:ext>
            </a:extLst>
          </p:cNvPr>
          <p:cNvSpPr>
            <a:spLocks xmlns:a="http://schemas.openxmlformats.org/drawingml/2006/main" noGrp="1"/>
          </p:cNvSpPr>
          <p:nvPr/>
        </p:nvSpPr>
        <p:spPr>
          <a:xfrm xmlns:a="http://schemas.openxmlformats.org/drawingml/2006/main">
            <a:off x="8858250" y="3867150"/>
            <a:ext cx="47625" cy="1066800"/>
          </a:xfrm>
          <a:prstGeom xmlns:a="http://schemas.openxmlformats.org/drawingml/2006/main" prst="rect">
            <a:avLst/>
          </a:prstGeom>
          <a:solidFill xmlns:a="http://schemas.openxmlformats.org/drawingml/2006/main">
            <a:srgbClr val="FF3B42"/>
          </a:solidFill>
          <a:ln xmlns:a="http://schemas.openxmlformats.org/drawingml/2006/main" w="0">
            <a:solidFill>
              <a:srgbClr val="FF3B42"/>
            </a:solidFill>
            <a:prstDash val="solid"/>
          </a:ln>
        </p:spPr>
      </p:sp>
      <p:sp>
        <p:nvSpPr>
          <p:cNvPr id="36" name="">
            <a:extLst xmlns:a="http://schemas.openxmlformats.org/drawingml/2006/main">
              <a:ext uri="{FF2B5EF4-FFF2-40B4-BE49-F238E27FC236}">
                <a16:creationId xmlns:a16="http://schemas.microsoft.com/office/drawing/2014/main" id="{5D402A33-1CF3-42D0-BC56-FEC6C3EFD0D5}"/>
              </a:ext>
            </a:extLst>
          </p:cNvPr>
          <p:cNvSpPr>
            <a:spLocks xmlns:a="http://schemas.openxmlformats.org/drawingml/2006/main" noGrp="1"/>
          </p:cNvSpPr>
          <p:nvPr/>
        </p:nvSpPr>
        <p:spPr>
          <a:xfrm xmlns:a="http://schemas.openxmlformats.org/drawingml/2006/main">
            <a:off x="9067800" y="4038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Settings/backup</a:t>
            </a:r>
          </a:p>
        </p:txBody>
      </p:sp>
      <p:sp>
        <p:nvSpPr>
          <p:cNvPr id="37" name="">
            <a:extLst xmlns:a="http://schemas.openxmlformats.org/drawingml/2006/main">
              <a:ext uri="{FF2B5EF4-FFF2-40B4-BE49-F238E27FC236}">
                <a16:creationId xmlns:a16="http://schemas.microsoft.com/office/drawing/2014/main" id="{6500C737-B2BF-48E2-8C4A-D93AC65ADBAD}"/>
              </a:ext>
            </a:extLst>
          </p:cNvPr>
          <p:cNvSpPr>
            <a:spLocks xmlns:a="http://schemas.openxmlformats.org/drawingml/2006/main" noGrp="1"/>
          </p:cNvSpPr>
          <p:nvPr/>
        </p:nvSpPr>
        <p:spPr>
          <a:xfrm xmlns:a="http://schemas.openxmlformats.org/drawingml/2006/main">
            <a:off x="9067800" y="4400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Support utility settings, local fallback and data recovery path.</a:t>
            </a:r>
          </a:p>
        </p:txBody>
      </p:sp>
      <p:sp>
        <p:nvSpPr>
          <p:cNvPr id="38" name="">
            <a:extLst xmlns:a="http://schemas.openxmlformats.org/drawingml/2006/main">
              <a:ext uri="{FF2B5EF4-FFF2-40B4-BE49-F238E27FC236}">
                <a16:creationId xmlns:a16="http://schemas.microsoft.com/office/drawing/2014/main" id="{179B66A6-D73A-4269-BA39-D5C0F8B58C82}"/>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02</a:t>
            </a:r>
          </a:p>
        </p:txBody>
      </p:sp>
      <p:sp>
        <p:nvSpPr>
          <p:cNvPr id="39" name="">
            <a:extLst xmlns:a="http://schemas.openxmlformats.org/drawingml/2006/main">
              <a:ext uri="{FF2B5EF4-FFF2-40B4-BE49-F238E27FC236}">
                <a16:creationId xmlns:a16="http://schemas.microsoft.com/office/drawing/2014/main" id="{380565D1-A6DC-439C-B2EA-6ABE73FB2A58}"/>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158848923"/>
      </p:ext>
    </p:extLst>
  </p:cSld>
</p:sld>
</file>

<file path=ppt/slides/slide14.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9C38BDB-A633-4C31-ACA9-90FA2E7672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67288F1B-D99A-4DE9-90D1-A0229D70837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0A496B78-BBE1-4E5A-9810-BDF640B3BD87}"/>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FRONTEND REQUIREMENTS</a:t>
            </a:r>
          </a:p>
        </p:txBody>
      </p:sp>
      <p:sp>
        <p:nvSpPr>
          <p:cNvPr id="4" name="">
            <a:extLst xmlns:a="http://schemas.openxmlformats.org/drawingml/2006/main">
              <a:ext uri="{FF2B5EF4-FFF2-40B4-BE49-F238E27FC236}">
                <a16:creationId xmlns:a16="http://schemas.microsoft.com/office/drawing/2014/main" id="{7D0892BB-7C96-4395-8D46-E02328042B0E}"/>
              </a:ext>
            </a:extLst>
          </p:cNvPr>
          <p:cNvSpPr>
            <a:spLocks xmlns:a="http://schemas.openxmlformats.org/drawingml/2006/main" noGrp="1"/>
          </p:cNvSpPr>
          <p:nvPr/>
        </p:nvSpPr>
        <p:spPr>
          <a:xfrm xmlns:a="http://schemas.openxmlformats.org/drawingml/2006/main">
            <a:off x="666750" y="876300"/>
            <a:ext cx="638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The frontend is the coach-facing control surface</a:t>
            </a:r>
          </a:p>
        </p:txBody>
      </p:sp>
      <p:sp>
        <p:nvSpPr>
          <p:cNvPr id="5" name="">
            <a:extLst xmlns:a="http://schemas.openxmlformats.org/drawingml/2006/main">
              <a:ext uri="{FF2B5EF4-FFF2-40B4-BE49-F238E27FC236}">
                <a16:creationId xmlns:a16="http://schemas.microsoft.com/office/drawing/2014/main" id="{BB6F3A26-FC54-4BAE-B93B-EAA9838926AD}"/>
              </a:ext>
            </a:extLst>
          </p:cNvPr>
          <p:cNvSpPr>
            <a:spLocks xmlns:a="http://schemas.openxmlformats.org/drawingml/2006/main" noGrp="1"/>
          </p:cNvSpPr>
          <p:nvPr/>
        </p:nvSpPr>
        <p:spPr>
          <a:xfrm xmlns:a="http://schemas.openxmlformats.org/drawingml/2006/main">
            <a:off x="685800" y="163830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Built with Vue 3, Quasar, Vue Router, Axios and ECharts/Vue-ECharts, with LocalStorage fallback for continuity.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f9b212f03254082"/>
          <a:srcRect xmlns:a="http://schemas.openxmlformats.org/drawingml/2006/main" l="12722" t="0" r="12722" b="0"/>
          <a:stretch xmlns:a="http://schemas.openxmlformats.org/drawingml/2006/main">
            <a:fillRect l="0" t="0" r="0" b="0"/>
          </a:stretch>
        </p:blipFill>
        <p:spPr>
          <a:xfrm xmlns:a="http://schemas.openxmlformats.org/drawingml/2006/main">
            <a:off x="6724650" y="819150"/>
            <a:ext cx="4762500" cy="2857500"/>
          </a:xfrm>
          <a:prstGeom xmlns:a="http://schemas.openxmlformats.org/drawingml/2006/main" prst="roundRect">
            <a:avLst>
              <a:gd name="adj" fmla="val 3333"/>
            </a:avLst>
          </a:prstGeom>
        </p:spPr>
      </p:pic>
      <p:sp>
        <p:nvSpPr>
          <p:cNvPr id="7" name="">
            <a:extLst xmlns:a="http://schemas.openxmlformats.org/drawingml/2006/main">
              <a:ext uri="{FF2B5EF4-FFF2-40B4-BE49-F238E27FC236}">
                <a16:creationId xmlns:a16="http://schemas.microsoft.com/office/drawing/2014/main" id="{CAF9F165-BD41-4084-B857-EAE8AE6A0CC2}"/>
              </a:ext>
            </a:extLst>
          </p:cNvPr>
          <p:cNvSpPr>
            <a:spLocks xmlns:a="http://schemas.openxmlformats.org/drawingml/2006/main" noGrp="1"/>
          </p:cNvSpPr>
          <p:nvPr/>
        </p:nvSpPr>
        <p:spPr>
          <a:xfrm xmlns:a="http://schemas.openxmlformats.org/drawingml/2006/main">
            <a:off x="685800" y="2571750"/>
            <a:ext cx="5334000" cy="838200"/>
          </a:xfrm>
          <a:prstGeom xmlns:a="http://schemas.openxmlformats.org/drawingml/2006/main" prst="roundRect">
            <a:avLst>
              <a:gd name="adj" fmla="val 11364"/>
            </a:avLst>
          </a:prstGeom>
          <a:solidFill xmlns:a="http://schemas.openxmlformats.org/drawingml/2006/main">
            <a:srgbClr val="15161A"/>
          </a:solidFill>
          <a:ln xmlns:a="http://schemas.openxmlformats.org/drawingml/2006/main" w="9525">
            <a:solidFill>
              <a:srgbClr val="34363D"/>
            </a:solidFill>
            <a:prstDash val="solid"/>
          </a:ln>
        </p:spPr>
      </p:sp>
      <p:sp>
        <p:nvSpPr>
          <p:cNvPr id="8" name="">
            <a:extLst xmlns:a="http://schemas.openxmlformats.org/drawingml/2006/main">
              <a:ext uri="{FF2B5EF4-FFF2-40B4-BE49-F238E27FC236}">
                <a16:creationId xmlns:a16="http://schemas.microsoft.com/office/drawing/2014/main" id="{F8F94210-FD1E-48E7-9265-44F58B777C5D}"/>
              </a:ext>
            </a:extLst>
          </p:cNvPr>
          <p:cNvSpPr>
            <a:spLocks xmlns:a="http://schemas.openxmlformats.org/drawingml/2006/main" noGrp="1"/>
          </p:cNvSpPr>
          <p:nvPr/>
        </p:nvSpPr>
        <p:spPr>
          <a:xfrm xmlns:a="http://schemas.openxmlformats.org/drawingml/2006/main">
            <a:off x="685800" y="2571750"/>
            <a:ext cx="47625" cy="838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9" name="">
            <a:extLst xmlns:a="http://schemas.openxmlformats.org/drawingml/2006/main">
              <a:ext uri="{FF2B5EF4-FFF2-40B4-BE49-F238E27FC236}">
                <a16:creationId xmlns:a16="http://schemas.microsoft.com/office/drawing/2014/main" id="{88CFB7F7-B523-47D3-A905-253D6966DC14}"/>
              </a:ext>
            </a:extLst>
          </p:cNvPr>
          <p:cNvSpPr>
            <a:spLocks xmlns:a="http://schemas.openxmlformats.org/drawingml/2006/main" noGrp="1"/>
          </p:cNvSpPr>
          <p:nvPr/>
        </p:nvSpPr>
        <p:spPr>
          <a:xfrm xmlns:a="http://schemas.openxmlformats.org/drawingml/2006/main">
            <a:off x="895350" y="274320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Core pages</a:t>
            </a:r>
          </a:p>
        </p:txBody>
      </p:sp>
      <p:sp>
        <p:nvSpPr>
          <p:cNvPr id="10" name="">
            <a:extLst xmlns:a="http://schemas.openxmlformats.org/drawingml/2006/main">
              <a:ext uri="{FF2B5EF4-FFF2-40B4-BE49-F238E27FC236}">
                <a16:creationId xmlns:a16="http://schemas.microsoft.com/office/drawing/2014/main" id="{78FB74D1-C1AC-4C8A-9D28-05475027925D}"/>
              </a:ext>
            </a:extLst>
          </p:cNvPr>
          <p:cNvSpPr>
            <a:spLocks xmlns:a="http://schemas.openxmlformats.org/drawingml/2006/main" noGrp="1"/>
          </p:cNvSpPr>
          <p:nvPr/>
        </p:nvSpPr>
        <p:spPr>
          <a:xfrm xmlns:a="http://schemas.openxmlformats.org/drawingml/2006/main">
            <a:off x="895350" y="3105150"/>
            <a:ext cx="491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Dashboard, Login/Register, Live Match, Training Mode, Players, History, Profile and Settings.</a:t>
            </a:r>
          </a:p>
        </p:txBody>
      </p:sp>
      <p:sp>
        <p:nvSpPr>
          <p:cNvPr id="11" name="">
            <a:extLst xmlns:a="http://schemas.openxmlformats.org/drawingml/2006/main">
              <a:ext uri="{FF2B5EF4-FFF2-40B4-BE49-F238E27FC236}">
                <a16:creationId xmlns:a16="http://schemas.microsoft.com/office/drawing/2014/main" id="{51C2F7C2-D3D3-4B86-BE0F-00D008C7C1D4}"/>
              </a:ext>
            </a:extLst>
          </p:cNvPr>
          <p:cNvSpPr>
            <a:spLocks xmlns:a="http://schemas.openxmlformats.org/drawingml/2006/main" noGrp="1"/>
          </p:cNvSpPr>
          <p:nvPr/>
        </p:nvSpPr>
        <p:spPr>
          <a:xfrm xmlns:a="http://schemas.openxmlformats.org/drawingml/2006/main">
            <a:off x="685800" y="3695700"/>
            <a:ext cx="5334000" cy="838200"/>
          </a:xfrm>
          <a:prstGeom xmlns:a="http://schemas.openxmlformats.org/drawingml/2006/main" prst="roundRect">
            <a:avLst>
              <a:gd name="adj" fmla="val 11364"/>
            </a:avLst>
          </a:prstGeom>
          <a:solidFill xmlns:a="http://schemas.openxmlformats.org/drawingml/2006/main">
            <a:srgbClr val="15161A"/>
          </a:solidFill>
          <a:ln xmlns:a="http://schemas.openxmlformats.org/drawingml/2006/main" w="9525">
            <a:solidFill>
              <a:srgbClr val="34363D"/>
            </a:solidFill>
            <a:prstDash val="solid"/>
          </a:ln>
        </p:spPr>
      </p:sp>
      <p:sp>
        <p:nvSpPr>
          <p:cNvPr id="12" name="">
            <a:extLst xmlns:a="http://schemas.openxmlformats.org/drawingml/2006/main">
              <a:ext uri="{FF2B5EF4-FFF2-40B4-BE49-F238E27FC236}">
                <a16:creationId xmlns:a16="http://schemas.microsoft.com/office/drawing/2014/main" id="{25417474-117C-44A4-B3B7-4F44137B7180}"/>
              </a:ext>
            </a:extLst>
          </p:cNvPr>
          <p:cNvSpPr>
            <a:spLocks xmlns:a="http://schemas.openxmlformats.org/drawingml/2006/main" noGrp="1"/>
          </p:cNvSpPr>
          <p:nvPr/>
        </p:nvSpPr>
        <p:spPr>
          <a:xfrm xmlns:a="http://schemas.openxmlformats.org/drawingml/2006/main">
            <a:off x="685800" y="3695700"/>
            <a:ext cx="47625" cy="838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3" name="">
            <a:extLst xmlns:a="http://schemas.openxmlformats.org/drawingml/2006/main">
              <a:ext uri="{FF2B5EF4-FFF2-40B4-BE49-F238E27FC236}">
                <a16:creationId xmlns:a16="http://schemas.microsoft.com/office/drawing/2014/main" id="{B41F2757-83A9-4B84-8C3F-E26CF819A5CD}"/>
              </a:ext>
            </a:extLst>
          </p:cNvPr>
          <p:cNvSpPr>
            <a:spLocks xmlns:a="http://schemas.openxmlformats.org/drawingml/2006/main" noGrp="1"/>
          </p:cNvSpPr>
          <p:nvPr/>
        </p:nvSpPr>
        <p:spPr>
          <a:xfrm xmlns:a="http://schemas.openxmlformats.org/drawingml/2006/main">
            <a:off x="895350" y="386715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UI responsibility</a:t>
            </a:r>
          </a:p>
        </p:txBody>
      </p:sp>
      <p:sp>
        <p:nvSpPr>
          <p:cNvPr id="14" name="">
            <a:extLst xmlns:a="http://schemas.openxmlformats.org/drawingml/2006/main">
              <a:ext uri="{FF2B5EF4-FFF2-40B4-BE49-F238E27FC236}">
                <a16:creationId xmlns:a16="http://schemas.microsoft.com/office/drawing/2014/main" id="{D1CEA578-3F0E-4AF8-BA19-F23E78239048}"/>
              </a:ext>
            </a:extLst>
          </p:cNvPr>
          <p:cNvSpPr>
            <a:spLocks xmlns:a="http://schemas.openxmlformats.org/drawingml/2006/main" noGrp="1"/>
          </p:cNvSpPr>
          <p:nvPr/>
        </p:nvSpPr>
        <p:spPr>
          <a:xfrm xmlns:a="http://schemas.openxmlformats.org/drawingml/2006/main">
            <a:off x="895350" y="4229100"/>
            <a:ext cx="491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Fast coach notation, player forms, report views, chart rendering and match/training navigation.</a:t>
            </a:r>
          </a:p>
        </p:txBody>
      </p:sp>
      <p:sp>
        <p:nvSpPr>
          <p:cNvPr id="15" name="">
            <a:extLst xmlns:a="http://schemas.openxmlformats.org/drawingml/2006/main">
              <a:ext uri="{FF2B5EF4-FFF2-40B4-BE49-F238E27FC236}">
                <a16:creationId xmlns:a16="http://schemas.microsoft.com/office/drawing/2014/main" id="{DC913C56-89A8-4CFD-9B64-F23C028378A9}"/>
              </a:ext>
            </a:extLst>
          </p:cNvPr>
          <p:cNvSpPr>
            <a:spLocks xmlns:a="http://schemas.openxmlformats.org/drawingml/2006/main" noGrp="1"/>
          </p:cNvSpPr>
          <p:nvPr/>
        </p:nvSpPr>
        <p:spPr>
          <a:xfrm xmlns:a="http://schemas.openxmlformats.org/drawingml/2006/main">
            <a:off x="685800" y="4819650"/>
            <a:ext cx="5334000" cy="838200"/>
          </a:xfrm>
          <a:prstGeom xmlns:a="http://schemas.openxmlformats.org/drawingml/2006/main" prst="roundRect">
            <a:avLst>
              <a:gd name="adj" fmla="val 11364"/>
            </a:avLst>
          </a:prstGeom>
          <a:solidFill xmlns:a="http://schemas.openxmlformats.org/drawingml/2006/main">
            <a:srgbClr val="15161A"/>
          </a:solidFill>
          <a:ln xmlns:a="http://schemas.openxmlformats.org/drawingml/2006/main" w="9525">
            <a:solidFill>
              <a:srgbClr val="34363D"/>
            </a:solidFill>
            <a:prstDash val="solid"/>
          </a:ln>
        </p:spPr>
      </p:sp>
      <p:sp>
        <p:nvSpPr>
          <p:cNvPr id="16" name="">
            <a:extLst xmlns:a="http://schemas.openxmlformats.org/drawingml/2006/main">
              <a:ext uri="{FF2B5EF4-FFF2-40B4-BE49-F238E27FC236}">
                <a16:creationId xmlns:a16="http://schemas.microsoft.com/office/drawing/2014/main" id="{F331BD3B-20BA-4A35-978C-BA386AF49253}"/>
              </a:ext>
            </a:extLst>
          </p:cNvPr>
          <p:cNvSpPr>
            <a:spLocks xmlns:a="http://schemas.openxmlformats.org/drawingml/2006/main" noGrp="1"/>
          </p:cNvSpPr>
          <p:nvPr/>
        </p:nvSpPr>
        <p:spPr>
          <a:xfrm xmlns:a="http://schemas.openxmlformats.org/drawingml/2006/main">
            <a:off x="685800" y="4819650"/>
            <a:ext cx="47625" cy="838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7" name="">
            <a:extLst xmlns:a="http://schemas.openxmlformats.org/drawingml/2006/main">
              <a:ext uri="{FF2B5EF4-FFF2-40B4-BE49-F238E27FC236}">
                <a16:creationId xmlns:a16="http://schemas.microsoft.com/office/drawing/2014/main" id="{E1F61571-9DE9-4C28-A753-D6F9B640111C}"/>
              </a:ext>
            </a:extLst>
          </p:cNvPr>
          <p:cNvSpPr>
            <a:spLocks xmlns:a="http://schemas.openxmlformats.org/drawingml/2006/main" noGrp="1"/>
          </p:cNvSpPr>
          <p:nvPr/>
        </p:nvSpPr>
        <p:spPr>
          <a:xfrm xmlns:a="http://schemas.openxmlformats.org/drawingml/2006/main">
            <a:off x="895350" y="499110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Data handling</a:t>
            </a:r>
          </a:p>
        </p:txBody>
      </p:sp>
      <p:sp>
        <p:nvSpPr>
          <p:cNvPr id="18" name="">
            <a:extLst xmlns:a="http://schemas.openxmlformats.org/drawingml/2006/main">
              <a:ext uri="{FF2B5EF4-FFF2-40B4-BE49-F238E27FC236}">
                <a16:creationId xmlns:a16="http://schemas.microsoft.com/office/drawing/2014/main" id="{93CF05C4-A7F9-47B0-B3AF-3B5D6F84D540}"/>
              </a:ext>
            </a:extLst>
          </p:cNvPr>
          <p:cNvSpPr>
            <a:spLocks xmlns:a="http://schemas.openxmlformats.org/drawingml/2006/main" noGrp="1"/>
          </p:cNvSpPr>
          <p:nvPr/>
        </p:nvSpPr>
        <p:spPr>
          <a:xfrm xmlns:a="http://schemas.openxmlformats.org/drawingml/2006/main">
            <a:off x="895350" y="5353050"/>
            <a:ext cx="491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Axios API calls with LocalStorage fallback or offline cache for prototype resilience.</a:t>
            </a:r>
          </a:p>
        </p:txBody>
      </p:sp>
      <p:sp>
        <p:nvSpPr>
          <p:cNvPr id="19" name="">
            <a:extLst xmlns:a="http://schemas.openxmlformats.org/drawingml/2006/main">
              <a:ext uri="{FF2B5EF4-FFF2-40B4-BE49-F238E27FC236}">
                <a16:creationId xmlns:a16="http://schemas.microsoft.com/office/drawing/2014/main" id="{D70B0FD6-F9DF-4759-9F96-73C9FC52F8A4}"/>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03</a:t>
            </a:r>
          </a:p>
        </p:txBody>
      </p:sp>
      <p:sp>
        <p:nvSpPr>
          <p:cNvPr id="20" name="">
            <a:extLst xmlns:a="http://schemas.openxmlformats.org/drawingml/2006/main">
              <a:ext uri="{FF2B5EF4-FFF2-40B4-BE49-F238E27FC236}">
                <a16:creationId xmlns:a16="http://schemas.microsoft.com/office/drawing/2014/main" id="{6F5DC0DF-4E09-4006-8D59-4137A40DF425}"/>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2061109805"/>
      </p:ext>
    </p:extLst>
  </p:cSld>
</p:sld>
</file>

<file path=ppt/slides/slide15.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894F731-79F4-4766-BCC1-6856F9D39A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A097C70F-6ACC-4A93-97E9-F46EEC17874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E8EE4503-24A4-4F30-9A4D-694E594CDCD2}"/>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BACKEND REQUIREMENTS</a:t>
            </a:r>
          </a:p>
        </p:txBody>
      </p:sp>
      <p:sp>
        <p:nvSpPr>
          <p:cNvPr id="4" name="">
            <a:extLst xmlns:a="http://schemas.openxmlformats.org/drawingml/2006/main">
              <a:ext uri="{FF2B5EF4-FFF2-40B4-BE49-F238E27FC236}">
                <a16:creationId xmlns:a16="http://schemas.microsoft.com/office/drawing/2014/main" id="{04DF7C27-36E6-4B28-BE08-9961124A47EC}"/>
              </a:ext>
            </a:extLst>
          </p:cNvPr>
          <p:cNvSpPr>
            <a:spLocks xmlns:a="http://schemas.openxmlformats.org/drawingml/2006/main" noGrp="1"/>
          </p:cNvSpPr>
          <p:nvPr/>
        </p:nvSpPr>
        <p:spPr>
          <a:xfrm xmlns:a="http://schemas.openxmlformats.org/drawingml/2006/main">
            <a:off x="666750" y="8763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The backend keeps badminton data structured and consistent</a:t>
            </a:r>
          </a:p>
        </p:txBody>
      </p:sp>
      <p:sp>
        <p:nvSpPr>
          <p:cNvPr id="5" name="">
            <a:extLst xmlns:a="http://schemas.openxmlformats.org/drawingml/2006/main">
              <a:ext uri="{FF2B5EF4-FFF2-40B4-BE49-F238E27FC236}">
                <a16:creationId xmlns:a16="http://schemas.microsoft.com/office/drawing/2014/main" id="{F41A60C5-83D8-44E5-9624-A1D0BF1C0954}"/>
              </a:ext>
            </a:extLst>
          </p:cNvPr>
          <p:cNvSpPr>
            <a:spLocks xmlns:a="http://schemas.openxmlformats.org/drawingml/2006/main" noGrp="1"/>
          </p:cNvSpPr>
          <p:nvPr/>
        </p:nvSpPr>
        <p:spPr>
          <a:xfrm xmlns:a="http://schemas.openxmlformats.org/drawingml/2006/main">
            <a:off x="685800" y="163830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NestJS with TypeScript exposes REST endpoints, Prisma handles persistence and PostgreSQL stores match/training records.</a:t>
            </a:r>
          </a:p>
        </p:txBody>
      </p:sp>
      <p:sp>
        <p:nvSpPr>
          <p:cNvPr id="6" name="">
            <a:extLst xmlns:a="http://schemas.openxmlformats.org/drawingml/2006/main">
              <a:ext uri="{FF2B5EF4-FFF2-40B4-BE49-F238E27FC236}">
                <a16:creationId xmlns:a16="http://schemas.microsoft.com/office/drawing/2014/main" id="{15A0AFAA-C891-4721-98C0-1FDDFB4F33C1}"/>
              </a:ext>
            </a:extLst>
          </p:cNvPr>
          <p:cNvSpPr>
            <a:spLocks xmlns:a="http://schemas.openxmlformats.org/drawingml/2006/main" noGrp="1"/>
          </p:cNvSpPr>
          <p:nvPr/>
        </p:nvSpPr>
        <p:spPr>
          <a:xfrm xmlns:a="http://schemas.openxmlformats.org/drawingml/2006/main">
            <a:off x="685800" y="2686050"/>
            <a:ext cx="31432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7" name="">
            <a:extLst xmlns:a="http://schemas.openxmlformats.org/drawingml/2006/main">
              <a:ext uri="{FF2B5EF4-FFF2-40B4-BE49-F238E27FC236}">
                <a16:creationId xmlns:a16="http://schemas.microsoft.com/office/drawing/2014/main" id="{B19D6A0E-6973-4BC9-99B2-799B5C7003C1}"/>
              </a:ext>
            </a:extLst>
          </p:cNvPr>
          <p:cNvSpPr>
            <a:spLocks xmlns:a="http://schemas.openxmlformats.org/drawingml/2006/main" noGrp="1"/>
          </p:cNvSpPr>
          <p:nvPr/>
        </p:nvSpPr>
        <p:spPr>
          <a:xfrm xmlns:a="http://schemas.openxmlformats.org/drawingml/2006/main">
            <a:off x="685800" y="26860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8" name="">
            <a:extLst xmlns:a="http://schemas.openxmlformats.org/drawingml/2006/main">
              <a:ext uri="{FF2B5EF4-FFF2-40B4-BE49-F238E27FC236}">
                <a16:creationId xmlns:a16="http://schemas.microsoft.com/office/drawing/2014/main" id="{D7B20BD8-DEE8-4B48-972C-3B82C3CBA6A8}"/>
              </a:ext>
            </a:extLst>
          </p:cNvPr>
          <p:cNvSpPr>
            <a:spLocks xmlns:a="http://schemas.openxmlformats.org/drawingml/2006/main" noGrp="1"/>
          </p:cNvSpPr>
          <p:nvPr/>
        </p:nvSpPr>
        <p:spPr>
          <a:xfrm xmlns:a="http://schemas.openxmlformats.org/drawingml/2006/main">
            <a:off x="895350" y="28575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AuthModule</a:t>
            </a:r>
          </a:p>
        </p:txBody>
      </p:sp>
      <p:sp>
        <p:nvSpPr>
          <p:cNvPr id="9" name="">
            <a:extLst xmlns:a="http://schemas.openxmlformats.org/drawingml/2006/main">
              <a:ext uri="{FF2B5EF4-FFF2-40B4-BE49-F238E27FC236}">
                <a16:creationId xmlns:a16="http://schemas.microsoft.com/office/drawing/2014/main" id="{1EE197A0-18B5-45DB-ACBD-1C2DC64DABFC}"/>
              </a:ext>
            </a:extLst>
          </p:cNvPr>
          <p:cNvSpPr>
            <a:spLocks xmlns:a="http://schemas.openxmlformats.org/drawingml/2006/main" noGrp="1"/>
          </p:cNvSpPr>
          <p:nvPr/>
        </p:nvSpPr>
        <p:spPr>
          <a:xfrm xmlns:a="http://schemas.openxmlformats.org/drawingml/2006/main">
            <a:off x="895350" y="32194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User identity, session validation and logout.</a:t>
            </a:r>
          </a:p>
        </p:txBody>
      </p:sp>
      <p:sp>
        <p:nvSpPr>
          <p:cNvPr id="10" name="">
            <a:extLst xmlns:a="http://schemas.openxmlformats.org/drawingml/2006/main">
              <a:ext uri="{FF2B5EF4-FFF2-40B4-BE49-F238E27FC236}">
                <a16:creationId xmlns:a16="http://schemas.microsoft.com/office/drawing/2014/main" id="{C073C783-4E0C-49CD-873B-A7BCE4129A35}"/>
              </a:ext>
            </a:extLst>
          </p:cNvPr>
          <p:cNvSpPr>
            <a:spLocks xmlns:a="http://schemas.openxmlformats.org/drawingml/2006/main" noGrp="1"/>
          </p:cNvSpPr>
          <p:nvPr/>
        </p:nvSpPr>
        <p:spPr>
          <a:xfrm xmlns:a="http://schemas.openxmlformats.org/drawingml/2006/main">
            <a:off x="4305300" y="2686050"/>
            <a:ext cx="31432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1" name="">
            <a:extLst xmlns:a="http://schemas.openxmlformats.org/drawingml/2006/main">
              <a:ext uri="{FF2B5EF4-FFF2-40B4-BE49-F238E27FC236}">
                <a16:creationId xmlns:a16="http://schemas.microsoft.com/office/drawing/2014/main" id="{8E11D614-BE00-4D44-BE85-DCEA57E82FF6}"/>
              </a:ext>
            </a:extLst>
          </p:cNvPr>
          <p:cNvSpPr>
            <a:spLocks xmlns:a="http://schemas.openxmlformats.org/drawingml/2006/main" noGrp="1"/>
          </p:cNvSpPr>
          <p:nvPr/>
        </p:nvSpPr>
        <p:spPr>
          <a:xfrm xmlns:a="http://schemas.openxmlformats.org/drawingml/2006/main">
            <a:off x="4305300" y="26860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2" name="">
            <a:extLst xmlns:a="http://schemas.openxmlformats.org/drawingml/2006/main">
              <a:ext uri="{FF2B5EF4-FFF2-40B4-BE49-F238E27FC236}">
                <a16:creationId xmlns:a16="http://schemas.microsoft.com/office/drawing/2014/main" id="{7B6A7ABE-D580-40EA-8415-1AA433B6BECA}"/>
              </a:ext>
            </a:extLst>
          </p:cNvPr>
          <p:cNvSpPr>
            <a:spLocks xmlns:a="http://schemas.openxmlformats.org/drawingml/2006/main" noGrp="1"/>
          </p:cNvSpPr>
          <p:nvPr/>
        </p:nvSpPr>
        <p:spPr>
          <a:xfrm xmlns:a="http://schemas.openxmlformats.org/drawingml/2006/main">
            <a:off x="4514850" y="28575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PlayersModule</a:t>
            </a:r>
          </a:p>
        </p:txBody>
      </p:sp>
      <p:sp>
        <p:nvSpPr>
          <p:cNvPr id="13" name="">
            <a:extLst xmlns:a="http://schemas.openxmlformats.org/drawingml/2006/main">
              <a:ext uri="{FF2B5EF4-FFF2-40B4-BE49-F238E27FC236}">
                <a16:creationId xmlns:a16="http://schemas.microsoft.com/office/drawing/2014/main" id="{47741FDF-3933-4993-864E-AA2BFD817BB0}"/>
              </a:ext>
            </a:extLst>
          </p:cNvPr>
          <p:cNvSpPr>
            <a:spLocks xmlns:a="http://schemas.openxmlformats.org/drawingml/2006/main" noGrp="1"/>
          </p:cNvSpPr>
          <p:nvPr/>
        </p:nvSpPr>
        <p:spPr>
          <a:xfrm xmlns:a="http://schemas.openxmlformats.org/drawingml/2006/main">
            <a:off x="4514850" y="32194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CRUD for coach-owned player profiles.</a:t>
            </a:r>
          </a:p>
        </p:txBody>
      </p:sp>
      <p:sp>
        <p:nvSpPr>
          <p:cNvPr id="14" name="">
            <a:extLst xmlns:a="http://schemas.openxmlformats.org/drawingml/2006/main">
              <a:ext uri="{FF2B5EF4-FFF2-40B4-BE49-F238E27FC236}">
                <a16:creationId xmlns:a16="http://schemas.microsoft.com/office/drawing/2014/main" id="{1917321B-BE08-445B-B0FB-92C2E14E9E6F}"/>
              </a:ext>
            </a:extLst>
          </p:cNvPr>
          <p:cNvSpPr>
            <a:spLocks xmlns:a="http://schemas.openxmlformats.org/drawingml/2006/main" noGrp="1"/>
          </p:cNvSpPr>
          <p:nvPr/>
        </p:nvSpPr>
        <p:spPr>
          <a:xfrm xmlns:a="http://schemas.openxmlformats.org/drawingml/2006/main">
            <a:off x="7924800" y="2686050"/>
            <a:ext cx="31432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5" name="">
            <a:extLst xmlns:a="http://schemas.openxmlformats.org/drawingml/2006/main">
              <a:ext uri="{FF2B5EF4-FFF2-40B4-BE49-F238E27FC236}">
                <a16:creationId xmlns:a16="http://schemas.microsoft.com/office/drawing/2014/main" id="{8A69DD2F-42DE-4EFD-857C-289E6480B1FB}"/>
              </a:ext>
            </a:extLst>
          </p:cNvPr>
          <p:cNvSpPr>
            <a:spLocks xmlns:a="http://schemas.openxmlformats.org/drawingml/2006/main" noGrp="1"/>
          </p:cNvSpPr>
          <p:nvPr/>
        </p:nvSpPr>
        <p:spPr>
          <a:xfrm xmlns:a="http://schemas.openxmlformats.org/drawingml/2006/main">
            <a:off x="7924800" y="26860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6" name="">
            <a:extLst xmlns:a="http://schemas.openxmlformats.org/drawingml/2006/main">
              <a:ext uri="{FF2B5EF4-FFF2-40B4-BE49-F238E27FC236}">
                <a16:creationId xmlns:a16="http://schemas.microsoft.com/office/drawing/2014/main" id="{4EC506BA-912A-4FD6-8925-972E8B3D0344}"/>
              </a:ext>
            </a:extLst>
          </p:cNvPr>
          <p:cNvSpPr>
            <a:spLocks xmlns:a="http://schemas.openxmlformats.org/drawingml/2006/main" noGrp="1"/>
          </p:cNvSpPr>
          <p:nvPr/>
        </p:nvSpPr>
        <p:spPr>
          <a:xfrm xmlns:a="http://schemas.openxmlformats.org/drawingml/2006/main">
            <a:off x="8134350" y="28575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MatchesModule</a:t>
            </a:r>
          </a:p>
        </p:txBody>
      </p:sp>
      <p:sp>
        <p:nvSpPr>
          <p:cNvPr id="17" name="">
            <a:extLst xmlns:a="http://schemas.openxmlformats.org/drawingml/2006/main">
              <a:ext uri="{FF2B5EF4-FFF2-40B4-BE49-F238E27FC236}">
                <a16:creationId xmlns:a16="http://schemas.microsoft.com/office/drawing/2014/main" id="{F027FC03-AD1E-4A12-A5F4-D144237A8E82}"/>
              </a:ext>
            </a:extLst>
          </p:cNvPr>
          <p:cNvSpPr>
            <a:spLocks xmlns:a="http://schemas.openxmlformats.org/drawingml/2006/main" noGrp="1"/>
          </p:cNvSpPr>
          <p:nvPr/>
        </p:nvSpPr>
        <p:spPr>
          <a:xfrm xmlns:a="http://schemas.openxmlformats.org/drawingml/2006/main">
            <a:off x="8134350" y="32194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Match report, rallies, sets, shot records and soft delete history.</a:t>
            </a:r>
          </a:p>
        </p:txBody>
      </p:sp>
      <p:sp>
        <p:nvSpPr>
          <p:cNvPr id="18" name="">
            <a:extLst xmlns:a="http://schemas.openxmlformats.org/drawingml/2006/main">
              <a:ext uri="{FF2B5EF4-FFF2-40B4-BE49-F238E27FC236}">
                <a16:creationId xmlns:a16="http://schemas.microsoft.com/office/drawing/2014/main" id="{AF50922F-CDE5-4839-AEC8-055B9735DEC9}"/>
              </a:ext>
            </a:extLst>
          </p:cNvPr>
          <p:cNvSpPr>
            <a:spLocks xmlns:a="http://schemas.openxmlformats.org/drawingml/2006/main" noGrp="1"/>
          </p:cNvSpPr>
          <p:nvPr/>
        </p:nvSpPr>
        <p:spPr>
          <a:xfrm xmlns:a="http://schemas.openxmlformats.org/drawingml/2006/main">
            <a:off x="2495550" y="4171950"/>
            <a:ext cx="31432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19" name="">
            <a:extLst xmlns:a="http://schemas.openxmlformats.org/drawingml/2006/main">
              <a:ext uri="{FF2B5EF4-FFF2-40B4-BE49-F238E27FC236}">
                <a16:creationId xmlns:a16="http://schemas.microsoft.com/office/drawing/2014/main" id="{FBDD1732-BE81-4B64-81BD-3014E1577F6E}"/>
              </a:ext>
            </a:extLst>
          </p:cNvPr>
          <p:cNvSpPr>
            <a:spLocks xmlns:a="http://schemas.openxmlformats.org/drawingml/2006/main" noGrp="1"/>
          </p:cNvSpPr>
          <p:nvPr/>
        </p:nvSpPr>
        <p:spPr>
          <a:xfrm xmlns:a="http://schemas.openxmlformats.org/drawingml/2006/main">
            <a:off x="2495550" y="41719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0" name="">
            <a:extLst xmlns:a="http://schemas.openxmlformats.org/drawingml/2006/main">
              <a:ext uri="{FF2B5EF4-FFF2-40B4-BE49-F238E27FC236}">
                <a16:creationId xmlns:a16="http://schemas.microsoft.com/office/drawing/2014/main" id="{4EB29FAA-A247-4012-A86E-310E0844DAC7}"/>
              </a:ext>
            </a:extLst>
          </p:cNvPr>
          <p:cNvSpPr>
            <a:spLocks xmlns:a="http://schemas.openxmlformats.org/drawingml/2006/main" noGrp="1"/>
          </p:cNvSpPr>
          <p:nvPr/>
        </p:nvSpPr>
        <p:spPr>
          <a:xfrm xmlns:a="http://schemas.openxmlformats.org/drawingml/2006/main">
            <a:off x="2705100" y="43434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TrainingModule</a:t>
            </a:r>
          </a:p>
        </p:txBody>
      </p:sp>
      <p:sp>
        <p:nvSpPr>
          <p:cNvPr id="21" name="">
            <a:extLst xmlns:a="http://schemas.openxmlformats.org/drawingml/2006/main">
              <a:ext uri="{FF2B5EF4-FFF2-40B4-BE49-F238E27FC236}">
                <a16:creationId xmlns:a16="http://schemas.microsoft.com/office/drawing/2014/main" id="{72DA1C4F-275A-4A6B-B08C-1036F127210F}"/>
              </a:ext>
            </a:extLst>
          </p:cNvPr>
          <p:cNvSpPr>
            <a:spLocks xmlns:a="http://schemas.openxmlformats.org/drawingml/2006/main" noGrp="1"/>
          </p:cNvSpPr>
          <p:nvPr/>
        </p:nvSpPr>
        <p:spPr>
          <a:xfrm xmlns:a="http://schemas.openxmlformats.org/drawingml/2006/main">
            <a:off x="2705100" y="47053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Training sessions, drill targets and repetition records.</a:t>
            </a:r>
          </a:p>
        </p:txBody>
      </p:sp>
      <p:sp>
        <p:nvSpPr>
          <p:cNvPr id="22" name="">
            <a:extLst xmlns:a="http://schemas.openxmlformats.org/drawingml/2006/main">
              <a:ext uri="{FF2B5EF4-FFF2-40B4-BE49-F238E27FC236}">
                <a16:creationId xmlns:a16="http://schemas.microsoft.com/office/drawing/2014/main" id="{8BD9B37F-8D74-469B-8C3D-7BD6AD0EA483}"/>
              </a:ext>
            </a:extLst>
          </p:cNvPr>
          <p:cNvSpPr>
            <a:spLocks xmlns:a="http://schemas.openxmlformats.org/drawingml/2006/main" noGrp="1"/>
          </p:cNvSpPr>
          <p:nvPr/>
        </p:nvSpPr>
        <p:spPr>
          <a:xfrm xmlns:a="http://schemas.openxmlformats.org/drawingml/2006/main">
            <a:off x="6115050" y="4171950"/>
            <a:ext cx="3143250" cy="1066800"/>
          </a:xfrm>
          <a:prstGeom xmlns:a="http://schemas.openxmlformats.org/drawingml/2006/main" prst="roundRect">
            <a:avLst>
              <a:gd name="adj" fmla="val 8929"/>
            </a:avLst>
          </a:prstGeom>
          <a:solidFill xmlns:a="http://schemas.openxmlformats.org/drawingml/2006/main">
            <a:srgbClr val="15161A"/>
          </a:solidFill>
          <a:ln xmlns:a="http://schemas.openxmlformats.org/drawingml/2006/main" w="9525">
            <a:solidFill>
              <a:srgbClr val="34363D"/>
            </a:solidFill>
            <a:prstDash val="solid"/>
          </a:ln>
        </p:spPr>
      </p:sp>
      <p:sp>
        <p:nvSpPr>
          <p:cNvPr id="23" name="">
            <a:extLst xmlns:a="http://schemas.openxmlformats.org/drawingml/2006/main">
              <a:ext uri="{FF2B5EF4-FFF2-40B4-BE49-F238E27FC236}">
                <a16:creationId xmlns:a16="http://schemas.microsoft.com/office/drawing/2014/main" id="{6770477F-3042-42E4-97AD-9D42ACE6F96B}"/>
              </a:ext>
            </a:extLst>
          </p:cNvPr>
          <p:cNvSpPr>
            <a:spLocks xmlns:a="http://schemas.openxmlformats.org/drawingml/2006/main" noGrp="1"/>
          </p:cNvSpPr>
          <p:nvPr/>
        </p:nvSpPr>
        <p:spPr>
          <a:xfrm xmlns:a="http://schemas.openxmlformats.org/drawingml/2006/main">
            <a:off x="6115050" y="4171950"/>
            <a:ext cx="47625" cy="10668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4" name="">
            <a:extLst xmlns:a="http://schemas.openxmlformats.org/drawingml/2006/main">
              <a:ext uri="{FF2B5EF4-FFF2-40B4-BE49-F238E27FC236}">
                <a16:creationId xmlns:a16="http://schemas.microsoft.com/office/drawing/2014/main" id="{DD1A030E-6C74-4743-93C8-37E01F3398B1}"/>
              </a:ext>
            </a:extLst>
          </p:cNvPr>
          <p:cNvSpPr>
            <a:spLocks xmlns:a="http://schemas.openxmlformats.org/drawingml/2006/main" noGrp="1"/>
          </p:cNvSpPr>
          <p:nvPr/>
        </p:nvSpPr>
        <p:spPr>
          <a:xfrm xmlns:a="http://schemas.openxmlformats.org/drawingml/2006/main">
            <a:off x="6324600" y="43434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PrismaService</a:t>
            </a:r>
          </a:p>
        </p:txBody>
      </p:sp>
      <p:sp>
        <p:nvSpPr>
          <p:cNvPr id="25" name="">
            <a:extLst xmlns:a="http://schemas.openxmlformats.org/drawingml/2006/main">
              <a:ext uri="{FF2B5EF4-FFF2-40B4-BE49-F238E27FC236}">
                <a16:creationId xmlns:a16="http://schemas.microsoft.com/office/drawing/2014/main" id="{8E521363-1FF7-4DBC-9B9F-BBD858BBF277}"/>
              </a:ext>
            </a:extLst>
          </p:cNvPr>
          <p:cNvSpPr>
            <a:spLocks xmlns:a="http://schemas.openxmlformats.org/drawingml/2006/main" noGrp="1"/>
          </p:cNvSpPr>
          <p:nvPr/>
        </p:nvSpPr>
        <p:spPr>
          <a:xfrm xmlns:a="http://schemas.openxmlformats.org/drawingml/2006/main">
            <a:off x="6324600" y="470535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Database access layer and schema mapping.</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e92fb55678f64353"/>
          <a:srcRect xmlns:a="http://schemas.openxmlformats.org/drawingml/2006/main" l="8289" t="0" r="8289" b="0"/>
          <a:stretch xmlns:a="http://schemas.openxmlformats.org/drawingml/2006/main">
            <a:fillRect l="0" t="0" r="0" b="0"/>
          </a:stretch>
        </p:blipFill>
        <p:spPr>
          <a:xfrm xmlns:a="http://schemas.openxmlformats.org/drawingml/2006/main">
            <a:off x="8382000" y="647700"/>
            <a:ext cx="3143250" cy="1714500"/>
          </a:xfrm>
          <a:prstGeom xmlns:a="http://schemas.openxmlformats.org/drawingml/2006/main" prst="roundRect">
            <a:avLst>
              <a:gd name="adj" fmla="val 4444"/>
            </a:avLst>
          </a:prstGeom>
        </p:spPr>
      </p:pic>
      <p:sp>
        <p:nvSpPr>
          <p:cNvPr id="27" name="">
            <a:extLst xmlns:a="http://schemas.openxmlformats.org/drawingml/2006/main">
              <a:ext uri="{FF2B5EF4-FFF2-40B4-BE49-F238E27FC236}">
                <a16:creationId xmlns:a16="http://schemas.microsoft.com/office/drawing/2014/main" id="{C6C7A091-D669-40A2-9CB4-F9E4FED3BF0C}"/>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04</a:t>
            </a:r>
          </a:p>
        </p:txBody>
      </p:sp>
      <p:sp>
        <p:nvSpPr>
          <p:cNvPr id="28" name="">
            <a:extLst xmlns:a="http://schemas.openxmlformats.org/drawingml/2006/main">
              <a:ext uri="{FF2B5EF4-FFF2-40B4-BE49-F238E27FC236}">
                <a16:creationId xmlns:a16="http://schemas.microsoft.com/office/drawing/2014/main" id="{95180466-5BE0-47AE-9943-D08CD2B591F5}"/>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1806831919"/>
      </p:ext>
    </p:extLst>
  </p:cSld>
</p:sld>
</file>

<file path=ppt/slides/slide16.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613A30E-61C1-44BC-A498-207D834D36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1898C5B5-A6E7-49BB-8C72-3B7031DDA08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9E51DA89-37B6-4AEE-82A3-55BC3694B813}"/>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DATABASE REQUIREMENTS</a:t>
            </a:r>
          </a:p>
        </p:txBody>
      </p:sp>
      <p:sp>
        <p:nvSpPr>
          <p:cNvPr id="4" name="">
            <a:extLst xmlns:a="http://schemas.openxmlformats.org/drawingml/2006/main">
              <a:ext uri="{FF2B5EF4-FFF2-40B4-BE49-F238E27FC236}">
                <a16:creationId xmlns:a16="http://schemas.microsoft.com/office/drawing/2014/main" id="{82122A8A-3E94-432E-8FB8-5E995CDFAC61}"/>
              </a:ext>
            </a:extLst>
          </p:cNvPr>
          <p:cNvSpPr>
            <a:spLocks xmlns:a="http://schemas.openxmlformats.org/drawingml/2006/main" noGrp="1"/>
          </p:cNvSpPr>
          <p:nvPr/>
        </p:nvSpPr>
        <p:spPr>
          <a:xfrm xmlns:a="http://schemas.openxmlformats.org/drawingml/2006/main">
            <a:off x="666750" y="8763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Database model connects coaching records</a:t>
            </a:r>
          </a:p>
        </p:txBody>
      </p:sp>
      <p:sp>
        <p:nvSpPr>
          <p:cNvPr id="5" name="">
            <a:extLst xmlns:a="http://schemas.openxmlformats.org/drawingml/2006/main">
              <a:ext uri="{FF2B5EF4-FFF2-40B4-BE49-F238E27FC236}">
                <a16:creationId xmlns:a16="http://schemas.microsoft.com/office/drawing/2014/main" id="{92EF345F-9D80-4FC0-B736-C87012C688D6}"/>
              </a:ext>
            </a:extLst>
          </p:cNvPr>
          <p:cNvSpPr>
            <a:spLocks xmlns:a="http://schemas.openxmlformats.org/drawingml/2006/main" noGrp="1"/>
          </p:cNvSpPr>
          <p:nvPr/>
        </p:nvSpPr>
        <p:spPr>
          <a:xfrm xmlns:a="http://schemas.openxmlformats.org/drawingml/2006/main">
            <a:off x="685800" y="16383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The schema must preserve coach ownership, player context, match rallies, shot notation and training repetitions.</a:t>
            </a:r>
          </a:p>
        </p:txBody>
      </p:sp>
      <p:sp>
        <p:nvSpPr>
          <p:cNvPr id="6" name="">
            <a:extLst xmlns:a="http://schemas.openxmlformats.org/drawingml/2006/main">
              <a:ext uri="{FF2B5EF4-FFF2-40B4-BE49-F238E27FC236}">
                <a16:creationId xmlns:a16="http://schemas.microsoft.com/office/drawing/2014/main" id="{8CD95192-C752-4F93-9419-EED85BE6FCCC}"/>
              </a:ext>
            </a:extLst>
          </p:cNvPr>
          <p:cNvSpPr>
            <a:spLocks xmlns:a="http://schemas.openxmlformats.org/drawingml/2006/main" noGrp="1"/>
          </p:cNvSpPr>
          <p:nvPr/>
        </p:nvSpPr>
        <p:spPr>
          <a:xfrm xmlns:a="http://schemas.openxmlformats.org/drawingml/2006/main">
            <a:off x="685800" y="24574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7" name="">
            <a:extLst xmlns:a="http://schemas.openxmlformats.org/drawingml/2006/main">
              <a:ext uri="{FF2B5EF4-FFF2-40B4-BE49-F238E27FC236}">
                <a16:creationId xmlns:a16="http://schemas.microsoft.com/office/drawing/2014/main" id="{305FBA05-0E83-426F-B1D1-15EA8004F36E}"/>
              </a:ext>
            </a:extLst>
          </p:cNvPr>
          <p:cNvSpPr>
            <a:spLocks xmlns:a="http://schemas.openxmlformats.org/drawingml/2006/main" noGrp="1"/>
          </p:cNvSpPr>
          <p:nvPr/>
        </p:nvSpPr>
        <p:spPr>
          <a:xfrm xmlns:a="http://schemas.openxmlformats.org/drawingml/2006/main">
            <a:off x="685800" y="2457450"/>
            <a:ext cx="47625" cy="1219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8" name="">
            <a:extLst xmlns:a="http://schemas.openxmlformats.org/drawingml/2006/main">
              <a:ext uri="{FF2B5EF4-FFF2-40B4-BE49-F238E27FC236}">
                <a16:creationId xmlns:a16="http://schemas.microsoft.com/office/drawing/2014/main" id="{A15BF7E5-3571-45EB-958F-DC336925C7A6}"/>
              </a:ext>
            </a:extLst>
          </p:cNvPr>
          <p:cNvSpPr>
            <a:spLocks xmlns:a="http://schemas.openxmlformats.org/drawingml/2006/main" noGrp="1"/>
          </p:cNvSpPr>
          <p:nvPr/>
        </p:nvSpPr>
        <p:spPr>
          <a:xfrm xmlns:a="http://schemas.openxmlformats.org/drawingml/2006/main">
            <a:off x="895350" y="26289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Ownership chain</a:t>
            </a:r>
          </a:p>
        </p:txBody>
      </p:sp>
      <p:sp>
        <p:nvSpPr>
          <p:cNvPr id="9" name="">
            <a:extLst xmlns:a="http://schemas.openxmlformats.org/drawingml/2006/main">
              <a:ext uri="{FF2B5EF4-FFF2-40B4-BE49-F238E27FC236}">
                <a16:creationId xmlns:a16="http://schemas.microsoft.com/office/drawing/2014/main" id="{7E5FA8A7-830C-40C7-8958-0F2B17A6A7A4}"/>
              </a:ext>
            </a:extLst>
          </p:cNvPr>
          <p:cNvSpPr>
            <a:spLocks xmlns:a="http://schemas.openxmlformats.org/drawingml/2006/main" noGrp="1"/>
          </p:cNvSpPr>
          <p:nvPr/>
        </p:nvSpPr>
        <p:spPr>
          <a:xfrm xmlns:a="http://schemas.openxmlformats.org/drawingml/2006/main">
            <a:off x="895350" y="29908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User &gt; CoachProfile &gt; Player</a:t>
            </a:r>
          </a:p>
          <a:p xmlns:a="http://schemas.openxmlformats.org/drawingml/2006/main">
            <a:pPr>
              <a:defRPr sz="1050" b="0">
                <a:solidFill>
                  <a:srgbClr val="B8BECF"/>
                </a:solidFill>
              </a:defRPr>
            </a:pPr>
            <a:r>
              <a:rPr sz="1050" b="0">
                <a:solidFill>
                  <a:srgbClr val="B8BECF"/>
                </a:solidFill>
              </a:rPr>
              <a:t>Each coach owns their player records and session context.</a:t>
            </a:r>
          </a:p>
        </p:txBody>
      </p:sp>
      <p:sp>
        <p:nvSpPr>
          <p:cNvPr id="10" name="">
            <a:extLst xmlns:a="http://schemas.openxmlformats.org/drawingml/2006/main">
              <a:ext uri="{FF2B5EF4-FFF2-40B4-BE49-F238E27FC236}">
                <a16:creationId xmlns:a16="http://schemas.microsoft.com/office/drawing/2014/main" id="{E416518D-11CA-45AB-9CCF-1BB70DA4D6BC}"/>
              </a:ext>
            </a:extLst>
          </p:cNvPr>
          <p:cNvSpPr>
            <a:spLocks xmlns:a="http://schemas.openxmlformats.org/drawingml/2006/main" noGrp="1"/>
          </p:cNvSpPr>
          <p:nvPr/>
        </p:nvSpPr>
        <p:spPr>
          <a:xfrm xmlns:a="http://schemas.openxmlformats.org/drawingml/2006/main">
            <a:off x="4438650" y="24574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11" name="">
            <a:extLst xmlns:a="http://schemas.openxmlformats.org/drawingml/2006/main">
              <a:ext uri="{FF2B5EF4-FFF2-40B4-BE49-F238E27FC236}">
                <a16:creationId xmlns:a16="http://schemas.microsoft.com/office/drawing/2014/main" id="{F8D2C981-8B72-4325-9DC8-EE7176CB7F3C}"/>
              </a:ext>
            </a:extLst>
          </p:cNvPr>
          <p:cNvSpPr>
            <a:spLocks xmlns:a="http://schemas.openxmlformats.org/drawingml/2006/main" noGrp="1"/>
          </p:cNvSpPr>
          <p:nvPr/>
        </p:nvSpPr>
        <p:spPr>
          <a:xfrm xmlns:a="http://schemas.openxmlformats.org/drawingml/2006/main">
            <a:off x="4438650" y="2457450"/>
            <a:ext cx="47625" cy="1219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2" name="">
            <a:extLst xmlns:a="http://schemas.openxmlformats.org/drawingml/2006/main">
              <a:ext uri="{FF2B5EF4-FFF2-40B4-BE49-F238E27FC236}">
                <a16:creationId xmlns:a16="http://schemas.microsoft.com/office/drawing/2014/main" id="{2A417338-6B0B-4664-8976-89D92FC52B9F}"/>
              </a:ext>
            </a:extLst>
          </p:cNvPr>
          <p:cNvSpPr>
            <a:spLocks xmlns:a="http://schemas.openxmlformats.org/drawingml/2006/main" noGrp="1"/>
          </p:cNvSpPr>
          <p:nvPr/>
        </p:nvSpPr>
        <p:spPr>
          <a:xfrm xmlns:a="http://schemas.openxmlformats.org/drawingml/2006/main">
            <a:off x="4648200" y="26289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Match structure</a:t>
            </a:r>
          </a:p>
        </p:txBody>
      </p:sp>
      <p:sp>
        <p:nvSpPr>
          <p:cNvPr id="13" name="">
            <a:extLst xmlns:a="http://schemas.openxmlformats.org/drawingml/2006/main">
              <a:ext uri="{FF2B5EF4-FFF2-40B4-BE49-F238E27FC236}">
                <a16:creationId xmlns:a16="http://schemas.microsoft.com/office/drawing/2014/main" id="{DE0B589C-3BAA-4051-A226-61CD4946334C}"/>
              </a:ext>
            </a:extLst>
          </p:cNvPr>
          <p:cNvSpPr>
            <a:spLocks xmlns:a="http://schemas.openxmlformats.org/drawingml/2006/main" noGrp="1"/>
          </p:cNvSpPr>
          <p:nvPr/>
        </p:nvSpPr>
        <p:spPr>
          <a:xfrm xmlns:a="http://schemas.openxmlformats.org/drawingml/2006/main">
            <a:off x="4648200" y="29908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Match &gt; MatchSet &gt; Rally &gt; ShotRecord</a:t>
            </a:r>
          </a:p>
          <a:p xmlns:a="http://schemas.openxmlformats.org/drawingml/2006/main">
            <a:pPr>
              <a:defRPr sz="1050" b="0">
                <a:solidFill>
                  <a:srgbClr val="B8BECF"/>
                </a:solidFill>
              </a:defRPr>
            </a:pPr>
            <a:r>
              <a:rPr sz="1050" b="0">
                <a:solidFill>
                  <a:srgbClr val="B8BECF"/>
                </a:solidFill>
              </a:rPr>
              <a:t>Every point sequence stays connected to the match and player.</a:t>
            </a:r>
          </a:p>
        </p:txBody>
      </p:sp>
      <p:sp>
        <p:nvSpPr>
          <p:cNvPr id="14" name="">
            <a:extLst xmlns:a="http://schemas.openxmlformats.org/drawingml/2006/main">
              <a:ext uri="{FF2B5EF4-FFF2-40B4-BE49-F238E27FC236}">
                <a16:creationId xmlns:a16="http://schemas.microsoft.com/office/drawing/2014/main" id="{2F03A2A4-901B-4872-AE04-192D57E68467}"/>
              </a:ext>
            </a:extLst>
          </p:cNvPr>
          <p:cNvSpPr>
            <a:spLocks xmlns:a="http://schemas.openxmlformats.org/drawingml/2006/main" noGrp="1"/>
          </p:cNvSpPr>
          <p:nvPr/>
        </p:nvSpPr>
        <p:spPr>
          <a:xfrm xmlns:a="http://schemas.openxmlformats.org/drawingml/2006/main">
            <a:off x="8191500" y="24574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15" name="">
            <a:extLst xmlns:a="http://schemas.openxmlformats.org/drawingml/2006/main">
              <a:ext uri="{FF2B5EF4-FFF2-40B4-BE49-F238E27FC236}">
                <a16:creationId xmlns:a16="http://schemas.microsoft.com/office/drawing/2014/main" id="{AF824D35-C173-460F-8EB6-543EA152A2CC}"/>
              </a:ext>
            </a:extLst>
          </p:cNvPr>
          <p:cNvSpPr>
            <a:spLocks xmlns:a="http://schemas.openxmlformats.org/drawingml/2006/main" noGrp="1"/>
          </p:cNvSpPr>
          <p:nvPr/>
        </p:nvSpPr>
        <p:spPr>
          <a:xfrm xmlns:a="http://schemas.openxmlformats.org/drawingml/2006/main">
            <a:off x="8191500" y="2457450"/>
            <a:ext cx="47625" cy="1219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6" name="">
            <a:extLst xmlns:a="http://schemas.openxmlformats.org/drawingml/2006/main">
              <a:ext uri="{FF2B5EF4-FFF2-40B4-BE49-F238E27FC236}">
                <a16:creationId xmlns:a16="http://schemas.microsoft.com/office/drawing/2014/main" id="{DFD16708-44F2-4967-A438-207057C98032}"/>
              </a:ext>
            </a:extLst>
          </p:cNvPr>
          <p:cNvSpPr>
            <a:spLocks xmlns:a="http://schemas.openxmlformats.org/drawingml/2006/main" noGrp="1"/>
          </p:cNvSpPr>
          <p:nvPr/>
        </p:nvSpPr>
        <p:spPr>
          <a:xfrm xmlns:a="http://schemas.openxmlformats.org/drawingml/2006/main">
            <a:off x="8401050" y="26289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Training structure</a:t>
            </a:r>
          </a:p>
        </p:txBody>
      </p:sp>
      <p:sp>
        <p:nvSpPr>
          <p:cNvPr id="17" name="">
            <a:extLst xmlns:a="http://schemas.openxmlformats.org/drawingml/2006/main">
              <a:ext uri="{FF2B5EF4-FFF2-40B4-BE49-F238E27FC236}">
                <a16:creationId xmlns:a16="http://schemas.microsoft.com/office/drawing/2014/main" id="{DE78A3D2-AE1C-47E1-B123-D482B4AF36A8}"/>
              </a:ext>
            </a:extLst>
          </p:cNvPr>
          <p:cNvSpPr>
            <a:spLocks xmlns:a="http://schemas.openxmlformats.org/drawingml/2006/main" noGrp="1"/>
          </p:cNvSpPr>
          <p:nvPr/>
        </p:nvSpPr>
        <p:spPr>
          <a:xfrm xmlns:a="http://schemas.openxmlformats.org/drawingml/2006/main">
            <a:off x="8401050" y="29908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TrainingSession &gt; TrainingRep</a:t>
            </a:r>
          </a:p>
          <a:p xmlns:a="http://schemas.openxmlformats.org/drawingml/2006/main">
            <a:pPr>
              <a:defRPr sz="1050" b="0">
                <a:solidFill>
                  <a:srgbClr val="B8BECF"/>
                </a:solidFill>
              </a:defRPr>
            </a:pPr>
            <a:r>
              <a:rPr sz="1050" b="0">
                <a:solidFill>
                  <a:srgbClr val="B8BECF"/>
                </a:solidFill>
              </a:rPr>
              <a:t>Drill target, player, shot focus and repetition result are saved together.</a:t>
            </a:r>
          </a:p>
        </p:txBody>
      </p:sp>
      <p:sp>
        <p:nvSpPr>
          <p:cNvPr id="18" name="">
            <a:extLst xmlns:a="http://schemas.openxmlformats.org/drawingml/2006/main">
              <a:ext uri="{FF2B5EF4-FFF2-40B4-BE49-F238E27FC236}">
                <a16:creationId xmlns:a16="http://schemas.microsoft.com/office/drawing/2014/main" id="{8C420FAE-4C84-4398-A032-84131DF36E9E}"/>
              </a:ext>
            </a:extLst>
          </p:cNvPr>
          <p:cNvSpPr>
            <a:spLocks xmlns:a="http://schemas.openxmlformats.org/drawingml/2006/main" noGrp="1"/>
          </p:cNvSpPr>
          <p:nvPr/>
        </p:nvSpPr>
        <p:spPr>
          <a:xfrm xmlns:a="http://schemas.openxmlformats.org/drawingml/2006/main">
            <a:off x="685800" y="40576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19" name="">
            <a:extLst xmlns:a="http://schemas.openxmlformats.org/drawingml/2006/main">
              <a:ext uri="{FF2B5EF4-FFF2-40B4-BE49-F238E27FC236}">
                <a16:creationId xmlns:a16="http://schemas.microsoft.com/office/drawing/2014/main" id="{5A36CFFF-9407-4A48-98EF-257134E426D6}"/>
              </a:ext>
            </a:extLst>
          </p:cNvPr>
          <p:cNvSpPr>
            <a:spLocks xmlns:a="http://schemas.openxmlformats.org/drawingml/2006/main" noGrp="1"/>
          </p:cNvSpPr>
          <p:nvPr/>
        </p:nvSpPr>
        <p:spPr>
          <a:xfrm xmlns:a="http://schemas.openxmlformats.org/drawingml/2006/main">
            <a:off x="685800" y="4057650"/>
            <a:ext cx="47625" cy="1219200"/>
          </a:xfrm>
          <a:prstGeom xmlns:a="http://schemas.openxmlformats.org/drawingml/2006/main" prst="rect">
            <a:avLst/>
          </a:prstGeom>
          <a:solidFill xmlns:a="http://schemas.openxmlformats.org/drawingml/2006/main">
            <a:srgbClr val="FF3B42"/>
          </a:solidFill>
          <a:ln xmlns:a="http://schemas.openxmlformats.org/drawingml/2006/main" w="0">
            <a:solidFill>
              <a:srgbClr val="FF3B42"/>
            </a:solidFill>
            <a:prstDash val="solid"/>
          </a:ln>
        </p:spPr>
      </p:sp>
      <p:sp>
        <p:nvSpPr>
          <p:cNvPr id="20" name="">
            <a:extLst xmlns:a="http://schemas.openxmlformats.org/drawingml/2006/main">
              <a:ext uri="{FF2B5EF4-FFF2-40B4-BE49-F238E27FC236}">
                <a16:creationId xmlns:a16="http://schemas.microsoft.com/office/drawing/2014/main" id="{06065600-C8E2-4801-A091-4786F0A79063}"/>
              </a:ext>
            </a:extLst>
          </p:cNvPr>
          <p:cNvSpPr>
            <a:spLocks xmlns:a="http://schemas.openxmlformats.org/drawingml/2006/main" noGrp="1"/>
          </p:cNvSpPr>
          <p:nvPr/>
        </p:nvSpPr>
        <p:spPr>
          <a:xfrm xmlns:a="http://schemas.openxmlformats.org/drawingml/2006/main">
            <a:off x="895350" y="42291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Reference data</a:t>
            </a:r>
          </a:p>
        </p:txBody>
      </p:sp>
      <p:sp>
        <p:nvSpPr>
          <p:cNvPr id="21" name="">
            <a:extLst xmlns:a="http://schemas.openxmlformats.org/drawingml/2006/main">
              <a:ext uri="{FF2B5EF4-FFF2-40B4-BE49-F238E27FC236}">
                <a16:creationId xmlns:a16="http://schemas.microsoft.com/office/drawing/2014/main" id="{C128B338-91CF-4C1A-B584-D6767D74C414}"/>
              </a:ext>
            </a:extLst>
          </p:cNvPr>
          <p:cNvSpPr>
            <a:spLocks xmlns:a="http://schemas.openxmlformats.org/drawingml/2006/main" noGrp="1"/>
          </p:cNvSpPr>
          <p:nvPr/>
        </p:nvSpPr>
        <p:spPr>
          <a:xfrm xmlns:a="http://schemas.openxmlformats.org/drawingml/2006/main">
            <a:off x="895350" y="45910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ShotType links live shots and training reps so analysis uses a consistent badminton vocabulary.</a:t>
            </a:r>
          </a:p>
        </p:txBody>
      </p:sp>
      <p:sp>
        <p:nvSpPr>
          <p:cNvPr id="22" name="">
            <a:extLst xmlns:a="http://schemas.openxmlformats.org/drawingml/2006/main">
              <a:ext uri="{FF2B5EF4-FFF2-40B4-BE49-F238E27FC236}">
                <a16:creationId xmlns:a16="http://schemas.microsoft.com/office/drawing/2014/main" id="{EE7625AA-DC62-4113-AA0F-8A41290E2CD1}"/>
              </a:ext>
            </a:extLst>
          </p:cNvPr>
          <p:cNvSpPr>
            <a:spLocks xmlns:a="http://schemas.openxmlformats.org/drawingml/2006/main" noGrp="1"/>
          </p:cNvSpPr>
          <p:nvPr/>
        </p:nvSpPr>
        <p:spPr>
          <a:xfrm xmlns:a="http://schemas.openxmlformats.org/drawingml/2006/main">
            <a:off x="4438650" y="40576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23" name="">
            <a:extLst xmlns:a="http://schemas.openxmlformats.org/drawingml/2006/main">
              <a:ext uri="{FF2B5EF4-FFF2-40B4-BE49-F238E27FC236}">
                <a16:creationId xmlns:a16="http://schemas.microsoft.com/office/drawing/2014/main" id="{8A9A6C7A-28CD-4311-B2E2-3E29B85977B2}"/>
              </a:ext>
            </a:extLst>
          </p:cNvPr>
          <p:cNvSpPr>
            <a:spLocks xmlns:a="http://schemas.openxmlformats.org/drawingml/2006/main" noGrp="1"/>
          </p:cNvSpPr>
          <p:nvPr/>
        </p:nvSpPr>
        <p:spPr>
          <a:xfrm xmlns:a="http://schemas.openxmlformats.org/drawingml/2006/main">
            <a:off x="4438650" y="4057650"/>
            <a:ext cx="47625" cy="1219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4" name="">
            <a:extLst xmlns:a="http://schemas.openxmlformats.org/drawingml/2006/main">
              <a:ext uri="{FF2B5EF4-FFF2-40B4-BE49-F238E27FC236}">
                <a16:creationId xmlns:a16="http://schemas.microsoft.com/office/drawing/2014/main" id="{853F508C-B8AB-4698-9A63-494BA42351A2}"/>
              </a:ext>
            </a:extLst>
          </p:cNvPr>
          <p:cNvSpPr>
            <a:spLocks xmlns:a="http://schemas.openxmlformats.org/drawingml/2006/main" noGrp="1"/>
          </p:cNvSpPr>
          <p:nvPr/>
        </p:nvSpPr>
        <p:spPr>
          <a:xfrm xmlns:a="http://schemas.openxmlformats.org/drawingml/2006/main">
            <a:off x="4648200" y="42291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History behavior</a:t>
            </a:r>
          </a:p>
        </p:txBody>
      </p:sp>
      <p:sp>
        <p:nvSpPr>
          <p:cNvPr id="25" name="">
            <a:extLst xmlns:a="http://schemas.openxmlformats.org/drawingml/2006/main">
              <a:ext uri="{FF2B5EF4-FFF2-40B4-BE49-F238E27FC236}">
                <a16:creationId xmlns:a16="http://schemas.microsoft.com/office/drawing/2014/main" id="{4B07580D-29C8-41CF-8560-37F85171F4F2}"/>
              </a:ext>
            </a:extLst>
          </p:cNvPr>
          <p:cNvSpPr>
            <a:spLocks xmlns:a="http://schemas.openxmlformats.org/drawingml/2006/main" noGrp="1"/>
          </p:cNvSpPr>
          <p:nvPr/>
        </p:nvSpPr>
        <p:spPr>
          <a:xfrm xmlns:a="http://schemas.openxmlformats.org/drawingml/2006/main">
            <a:off x="4648200" y="45910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Match and training records support soft delete so coach history can be hidden without losing data integrity.</a:t>
            </a:r>
          </a:p>
        </p:txBody>
      </p:sp>
      <p:sp>
        <p:nvSpPr>
          <p:cNvPr id="26" name="">
            <a:extLst xmlns:a="http://schemas.openxmlformats.org/drawingml/2006/main">
              <a:ext uri="{FF2B5EF4-FFF2-40B4-BE49-F238E27FC236}">
                <a16:creationId xmlns:a16="http://schemas.microsoft.com/office/drawing/2014/main" id="{5264D339-7281-4199-B0E0-D46F8A66BA09}"/>
              </a:ext>
            </a:extLst>
          </p:cNvPr>
          <p:cNvSpPr>
            <a:spLocks xmlns:a="http://schemas.openxmlformats.org/drawingml/2006/main" noGrp="1"/>
          </p:cNvSpPr>
          <p:nvPr/>
        </p:nvSpPr>
        <p:spPr>
          <a:xfrm xmlns:a="http://schemas.openxmlformats.org/drawingml/2006/main">
            <a:off x="8191500" y="4057650"/>
            <a:ext cx="3295650" cy="1219200"/>
          </a:xfrm>
          <a:prstGeom xmlns:a="http://schemas.openxmlformats.org/drawingml/2006/main" prst="roundRect">
            <a:avLst>
              <a:gd name="adj" fmla="val 7813"/>
            </a:avLst>
          </a:prstGeom>
          <a:solidFill xmlns:a="http://schemas.openxmlformats.org/drawingml/2006/main">
            <a:srgbClr val="15161A"/>
          </a:solidFill>
          <a:ln xmlns:a="http://schemas.openxmlformats.org/drawingml/2006/main" w="9525">
            <a:solidFill>
              <a:srgbClr val="34363D"/>
            </a:solidFill>
            <a:prstDash val="solid"/>
          </a:ln>
        </p:spPr>
      </p:sp>
      <p:sp>
        <p:nvSpPr>
          <p:cNvPr id="27" name="">
            <a:extLst xmlns:a="http://schemas.openxmlformats.org/drawingml/2006/main">
              <a:ext uri="{FF2B5EF4-FFF2-40B4-BE49-F238E27FC236}">
                <a16:creationId xmlns:a16="http://schemas.microsoft.com/office/drawing/2014/main" id="{45867F03-8DC7-49B0-855A-7F075BDD830B}"/>
              </a:ext>
            </a:extLst>
          </p:cNvPr>
          <p:cNvSpPr>
            <a:spLocks xmlns:a="http://schemas.openxmlformats.org/drawingml/2006/main" noGrp="1"/>
          </p:cNvSpPr>
          <p:nvPr/>
        </p:nvSpPr>
        <p:spPr>
          <a:xfrm xmlns:a="http://schemas.openxmlformats.org/drawingml/2006/main">
            <a:off x="8191500" y="4057650"/>
            <a:ext cx="47625" cy="12192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8" name="">
            <a:extLst xmlns:a="http://schemas.openxmlformats.org/drawingml/2006/main">
              <a:ext uri="{FF2B5EF4-FFF2-40B4-BE49-F238E27FC236}">
                <a16:creationId xmlns:a16="http://schemas.microsoft.com/office/drawing/2014/main" id="{FD5A5336-9A5D-42C1-9DA5-FFD2D24551B2}"/>
              </a:ext>
            </a:extLst>
          </p:cNvPr>
          <p:cNvSpPr>
            <a:spLocks xmlns:a="http://schemas.openxmlformats.org/drawingml/2006/main" noGrp="1"/>
          </p:cNvSpPr>
          <p:nvPr/>
        </p:nvSpPr>
        <p:spPr>
          <a:xfrm xmlns:a="http://schemas.openxmlformats.org/drawingml/2006/main">
            <a:off x="8401050" y="422910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Reporting base</a:t>
            </a:r>
          </a:p>
        </p:txBody>
      </p:sp>
      <p:sp>
        <p:nvSpPr>
          <p:cNvPr id="29" name="">
            <a:extLst xmlns:a="http://schemas.openxmlformats.org/drawingml/2006/main">
              <a:ext uri="{FF2B5EF4-FFF2-40B4-BE49-F238E27FC236}">
                <a16:creationId xmlns:a16="http://schemas.microsoft.com/office/drawing/2014/main" id="{B4FE036A-E7D5-4849-BB43-420C855BC1CF}"/>
              </a:ext>
            </a:extLst>
          </p:cNvPr>
          <p:cNvSpPr>
            <a:spLocks xmlns:a="http://schemas.openxmlformats.org/drawingml/2006/main" noGrp="1"/>
          </p:cNvSpPr>
          <p:nvPr/>
        </p:nvSpPr>
        <p:spPr>
          <a:xfrm xmlns:a="http://schemas.openxmlformats.org/drawingml/2006/main">
            <a:off x="8401050" y="459105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Dashboard and export reports pull from Match, Rally, ShotRecord, TrainingSession and TrainingRep.</a:t>
            </a:r>
          </a:p>
        </p:txBody>
      </p:sp>
      <p:sp>
        <p:nvSpPr>
          <p:cNvPr id="30" name="">
            <a:extLst xmlns:a="http://schemas.openxmlformats.org/drawingml/2006/main">
              <a:ext uri="{FF2B5EF4-FFF2-40B4-BE49-F238E27FC236}">
                <a16:creationId xmlns:a16="http://schemas.microsoft.com/office/drawing/2014/main" id="{BFCD51F8-B9FC-47A3-A81A-6272A166F5CD}"/>
              </a:ext>
            </a:extLst>
          </p:cNvPr>
          <p:cNvSpPr>
            <a:spLocks xmlns:a="http://schemas.openxmlformats.org/drawingml/2006/main" noGrp="1"/>
          </p:cNvSpPr>
          <p:nvPr/>
        </p:nvSpPr>
        <p:spPr>
          <a:xfrm xmlns:a="http://schemas.openxmlformats.org/drawingml/2006/main">
            <a:off x="685800" y="5676900"/>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B8BECF"/>
                </a:solidFill>
              </a:defRPr>
            </a:pPr>
            <a:r>
              <a:rPr sz="1200" b="0">
                <a:solidFill>
                  <a:srgbClr val="B8BECF"/>
                </a:solidFill>
              </a:rPr>
              <a:t>Key tables: User, AuthSession, CoachProfile, Player, Match, MatchSet, Rally, ShotRecord, ShotType, TrainingSession and TrainingRep.</a:t>
            </a:r>
          </a:p>
        </p:txBody>
      </p:sp>
      <p:sp>
        <p:nvSpPr>
          <p:cNvPr id="31" name="">
            <a:extLst xmlns:a="http://schemas.openxmlformats.org/drawingml/2006/main">
              <a:ext uri="{FF2B5EF4-FFF2-40B4-BE49-F238E27FC236}">
                <a16:creationId xmlns:a16="http://schemas.microsoft.com/office/drawing/2014/main" id="{8B0EEE6C-79DA-4769-B48B-B4D40C1B00DA}"/>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05</a:t>
            </a:r>
          </a:p>
        </p:txBody>
      </p:sp>
      <p:sp>
        <p:nvSpPr>
          <p:cNvPr id="32" name="">
            <a:extLst xmlns:a="http://schemas.openxmlformats.org/drawingml/2006/main">
              <a:ext uri="{FF2B5EF4-FFF2-40B4-BE49-F238E27FC236}">
                <a16:creationId xmlns:a16="http://schemas.microsoft.com/office/drawing/2014/main" id="{9A92027F-B596-4D2F-A565-9777FFA3E4AE}"/>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1454204302"/>
      </p:ext>
    </p:extLst>
  </p:cSld>
</p:sld>
</file>

<file path=ppt/slides/slide17.xml><?xml version="1.0" encoding="utf-8"?>
<p:sld xmlns:p="http://schemas.openxmlformats.org/presentationml/2006/main">
  <p:cSld>
    <p:bg>
      <p:bgPr>
        <a:solidFill xmlns:a="http://schemas.openxmlformats.org/drawingml/2006/main">
          <a:srgbClr val="07080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7D78784-C9F0-4D5B-B22B-61753695E0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080B"/>
          </a:solidFill>
          <a:ln xmlns:a="http://schemas.openxmlformats.org/drawingml/2006/main" w="0">
            <a:solidFill>
              <a:srgbClr val="07080B"/>
            </a:solidFill>
            <a:prstDash val="solid"/>
          </a:ln>
        </p:spPr>
      </p:sp>
      <p:sp>
        <p:nvSpPr>
          <p:cNvPr id="2" name="">
            <a:extLst xmlns:a="http://schemas.openxmlformats.org/drawingml/2006/main">
              <a:ext uri="{FF2B5EF4-FFF2-40B4-BE49-F238E27FC236}">
                <a16:creationId xmlns:a16="http://schemas.microsoft.com/office/drawing/2014/main" id="{60A6D0D0-D605-45E3-897C-3B881DAE5D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3" name="">
            <a:extLst xmlns:a="http://schemas.openxmlformats.org/drawingml/2006/main">
              <a:ext uri="{FF2B5EF4-FFF2-40B4-BE49-F238E27FC236}">
                <a16:creationId xmlns:a16="http://schemas.microsoft.com/office/drawing/2014/main" id="{C1A9D9C0-95D6-46D4-A010-597AD5AD90DC}"/>
              </a:ext>
            </a:extLst>
          </p:cNvPr>
          <p:cNvSpPr>
            <a:spLocks xmlns:a="http://schemas.openxmlformats.org/drawingml/2006/main" noGrp="1"/>
          </p:cNvSpPr>
          <p:nvPr/>
        </p:nvSpPr>
        <p:spPr>
          <a:xfrm xmlns:a="http://schemas.openxmlformats.org/drawingml/2006/main">
            <a:off x="6858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D7FF00"/>
                </a:solidFill>
              </a:defRPr>
            </a:pPr>
            <a:r>
              <a:rPr sz="900" b="1">
                <a:solidFill>
                  <a:srgbClr val="D7FF00"/>
                </a:solidFill>
              </a:rPr>
              <a:t>API AND QUALITY REQUIREMENTS</a:t>
            </a:r>
          </a:p>
        </p:txBody>
      </p:sp>
      <p:sp>
        <p:nvSpPr>
          <p:cNvPr id="4" name="">
            <a:extLst xmlns:a="http://schemas.openxmlformats.org/drawingml/2006/main">
              <a:ext uri="{FF2B5EF4-FFF2-40B4-BE49-F238E27FC236}">
                <a16:creationId xmlns:a16="http://schemas.microsoft.com/office/drawing/2014/main" id="{6BB4A515-B707-48A2-9DC6-FD86C04505F7}"/>
              </a:ext>
            </a:extLst>
          </p:cNvPr>
          <p:cNvSpPr>
            <a:spLocks xmlns:a="http://schemas.openxmlformats.org/drawingml/2006/main" noGrp="1"/>
          </p:cNvSpPr>
          <p:nvPr/>
        </p:nvSpPr>
        <p:spPr>
          <a:xfrm xmlns:a="http://schemas.openxmlformats.org/drawingml/2006/main">
            <a:off x="666750" y="876300"/>
            <a:ext cx="857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REST endpoints and quality rules make the prototype production-ready</a:t>
            </a:r>
          </a:p>
        </p:txBody>
      </p:sp>
      <p:sp>
        <p:nvSpPr>
          <p:cNvPr id="5" name="">
            <a:extLst xmlns:a="http://schemas.openxmlformats.org/drawingml/2006/main">
              <a:ext uri="{FF2B5EF4-FFF2-40B4-BE49-F238E27FC236}">
                <a16:creationId xmlns:a16="http://schemas.microsoft.com/office/drawing/2014/main" id="{4BCDC55A-26AB-4F3A-BED3-E733A8E8C1C1}"/>
              </a:ext>
            </a:extLst>
          </p:cNvPr>
          <p:cNvSpPr>
            <a:spLocks xmlns:a="http://schemas.openxmlformats.org/drawingml/2006/main" noGrp="1"/>
          </p:cNvSpPr>
          <p:nvPr/>
        </p:nvSpPr>
        <p:spPr>
          <a:xfrm xmlns:a="http://schemas.openxmlformats.org/drawingml/2006/main">
            <a:off x="685800" y="16383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B8BECF"/>
                </a:solidFill>
              </a:defRPr>
            </a:pPr>
            <a:r>
              <a:rPr sz="1350" b="0">
                <a:solidFill>
                  <a:srgbClr val="B8BECF"/>
                </a:solidFill>
              </a:rPr>
              <a:t>The backend API is grouped by auth, players, matches, training and system health checks.</a:t>
            </a:r>
          </a:p>
        </p:txBody>
      </p:sp>
      <p:sp>
        <p:nvSpPr>
          <p:cNvPr id="6" name="">
            <a:extLst xmlns:a="http://schemas.openxmlformats.org/drawingml/2006/main">
              <a:ext uri="{FF2B5EF4-FFF2-40B4-BE49-F238E27FC236}">
                <a16:creationId xmlns:a16="http://schemas.microsoft.com/office/drawing/2014/main" id="{149FDBB3-2A03-4066-AF2D-C3A6FE2FFCB0}"/>
              </a:ext>
            </a:extLst>
          </p:cNvPr>
          <p:cNvSpPr>
            <a:spLocks xmlns:a="http://schemas.openxmlformats.org/drawingml/2006/main" noGrp="1"/>
          </p:cNvSpPr>
          <p:nvPr/>
        </p:nvSpPr>
        <p:spPr>
          <a:xfrm xmlns:a="http://schemas.openxmlformats.org/drawingml/2006/main">
            <a:off x="685800" y="2400300"/>
            <a:ext cx="3143250" cy="1466850"/>
          </a:xfrm>
          <a:prstGeom xmlns:a="http://schemas.openxmlformats.org/drawingml/2006/main" prst="roundRect">
            <a:avLst>
              <a:gd name="adj" fmla="val 6494"/>
            </a:avLst>
          </a:prstGeom>
          <a:solidFill xmlns:a="http://schemas.openxmlformats.org/drawingml/2006/main">
            <a:srgbClr val="15161A"/>
          </a:solidFill>
          <a:ln xmlns:a="http://schemas.openxmlformats.org/drawingml/2006/main" w="9525">
            <a:solidFill>
              <a:srgbClr val="34363D"/>
            </a:solidFill>
            <a:prstDash val="solid"/>
          </a:ln>
        </p:spPr>
      </p:sp>
      <p:sp>
        <p:nvSpPr>
          <p:cNvPr id="7" name="">
            <a:extLst xmlns:a="http://schemas.openxmlformats.org/drawingml/2006/main">
              <a:ext uri="{FF2B5EF4-FFF2-40B4-BE49-F238E27FC236}">
                <a16:creationId xmlns:a16="http://schemas.microsoft.com/office/drawing/2014/main" id="{28255170-63BD-48B8-B7BE-1E8DF54040A4}"/>
              </a:ext>
            </a:extLst>
          </p:cNvPr>
          <p:cNvSpPr>
            <a:spLocks xmlns:a="http://schemas.openxmlformats.org/drawingml/2006/main" noGrp="1"/>
          </p:cNvSpPr>
          <p:nvPr/>
        </p:nvSpPr>
        <p:spPr>
          <a:xfrm xmlns:a="http://schemas.openxmlformats.org/drawingml/2006/main">
            <a:off x="685800" y="2400300"/>
            <a:ext cx="47625" cy="14668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8" name="">
            <a:extLst xmlns:a="http://schemas.openxmlformats.org/drawingml/2006/main">
              <a:ext uri="{FF2B5EF4-FFF2-40B4-BE49-F238E27FC236}">
                <a16:creationId xmlns:a16="http://schemas.microsoft.com/office/drawing/2014/main" id="{EDE56266-7352-4A45-9E0D-328FD7FF30FE}"/>
              </a:ext>
            </a:extLst>
          </p:cNvPr>
          <p:cNvSpPr>
            <a:spLocks xmlns:a="http://schemas.openxmlformats.org/drawingml/2006/main" noGrp="1"/>
          </p:cNvSpPr>
          <p:nvPr/>
        </p:nvSpPr>
        <p:spPr>
          <a:xfrm xmlns:a="http://schemas.openxmlformats.org/drawingml/2006/main">
            <a:off x="895350" y="25717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Auth</a:t>
            </a:r>
          </a:p>
        </p:txBody>
      </p:sp>
      <p:sp>
        <p:nvSpPr>
          <p:cNvPr id="9" name="">
            <a:extLst xmlns:a="http://schemas.openxmlformats.org/drawingml/2006/main">
              <a:ext uri="{FF2B5EF4-FFF2-40B4-BE49-F238E27FC236}">
                <a16:creationId xmlns:a16="http://schemas.microsoft.com/office/drawing/2014/main" id="{33BBEB04-979E-41B8-BFF0-29D727A064ED}"/>
              </a:ext>
            </a:extLst>
          </p:cNvPr>
          <p:cNvSpPr>
            <a:spLocks xmlns:a="http://schemas.openxmlformats.org/drawingml/2006/main" noGrp="1"/>
          </p:cNvSpPr>
          <p:nvPr/>
        </p:nvSpPr>
        <p:spPr>
          <a:xfrm xmlns:a="http://schemas.openxmlformats.org/drawingml/2006/main">
            <a:off x="895350" y="2933700"/>
            <a:ext cx="272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POST /auth/register</a:t>
            </a:r>
          </a:p>
          <a:p xmlns:a="http://schemas.openxmlformats.org/drawingml/2006/main">
            <a:pPr>
              <a:defRPr sz="1050" b="0">
                <a:solidFill>
                  <a:srgbClr val="B8BECF"/>
                </a:solidFill>
              </a:defRPr>
            </a:pPr>
            <a:r>
              <a:rPr sz="1050" b="0">
                <a:solidFill>
                  <a:srgbClr val="B8BECF"/>
                </a:solidFill>
              </a:rPr>
              <a:t>POST /auth/login</a:t>
            </a:r>
          </a:p>
          <a:p xmlns:a="http://schemas.openxmlformats.org/drawingml/2006/main">
            <a:pPr>
              <a:defRPr sz="1050" b="0">
                <a:solidFill>
                  <a:srgbClr val="B8BECF"/>
                </a:solidFill>
              </a:defRPr>
            </a:pPr>
            <a:r>
              <a:rPr sz="1050" b="0">
                <a:solidFill>
                  <a:srgbClr val="B8BECF"/>
                </a:solidFill>
              </a:rPr>
              <a:t>GET /auth/me</a:t>
            </a:r>
          </a:p>
          <a:p xmlns:a="http://schemas.openxmlformats.org/drawingml/2006/main">
            <a:pPr>
              <a:defRPr sz="1050" b="0">
                <a:solidFill>
                  <a:srgbClr val="B8BECF"/>
                </a:solidFill>
              </a:defRPr>
            </a:pPr>
            <a:r>
              <a:rPr sz="1050" b="0">
                <a:solidFill>
                  <a:srgbClr val="B8BECF"/>
                </a:solidFill>
              </a:rPr>
              <a:t>POST /auth/logout</a:t>
            </a:r>
          </a:p>
        </p:txBody>
      </p:sp>
      <p:sp>
        <p:nvSpPr>
          <p:cNvPr id="10" name="">
            <a:extLst xmlns:a="http://schemas.openxmlformats.org/drawingml/2006/main">
              <a:ext uri="{FF2B5EF4-FFF2-40B4-BE49-F238E27FC236}">
                <a16:creationId xmlns:a16="http://schemas.microsoft.com/office/drawing/2014/main" id="{9266A910-BC07-4F6E-B3C8-6B2450552F3A}"/>
              </a:ext>
            </a:extLst>
          </p:cNvPr>
          <p:cNvSpPr>
            <a:spLocks xmlns:a="http://schemas.openxmlformats.org/drawingml/2006/main" noGrp="1"/>
          </p:cNvSpPr>
          <p:nvPr/>
        </p:nvSpPr>
        <p:spPr>
          <a:xfrm xmlns:a="http://schemas.openxmlformats.org/drawingml/2006/main">
            <a:off x="4324350" y="2400300"/>
            <a:ext cx="3143250" cy="1466850"/>
          </a:xfrm>
          <a:prstGeom xmlns:a="http://schemas.openxmlformats.org/drawingml/2006/main" prst="roundRect">
            <a:avLst>
              <a:gd name="adj" fmla="val 6494"/>
            </a:avLst>
          </a:prstGeom>
          <a:solidFill xmlns:a="http://schemas.openxmlformats.org/drawingml/2006/main">
            <a:srgbClr val="15161A"/>
          </a:solidFill>
          <a:ln xmlns:a="http://schemas.openxmlformats.org/drawingml/2006/main" w="9525">
            <a:solidFill>
              <a:srgbClr val="34363D"/>
            </a:solidFill>
            <a:prstDash val="solid"/>
          </a:ln>
        </p:spPr>
      </p:sp>
      <p:sp>
        <p:nvSpPr>
          <p:cNvPr id="11" name="">
            <a:extLst xmlns:a="http://schemas.openxmlformats.org/drawingml/2006/main">
              <a:ext uri="{FF2B5EF4-FFF2-40B4-BE49-F238E27FC236}">
                <a16:creationId xmlns:a16="http://schemas.microsoft.com/office/drawing/2014/main" id="{A6718A29-4564-4365-8F42-F2E9A795774F}"/>
              </a:ext>
            </a:extLst>
          </p:cNvPr>
          <p:cNvSpPr>
            <a:spLocks xmlns:a="http://schemas.openxmlformats.org/drawingml/2006/main" noGrp="1"/>
          </p:cNvSpPr>
          <p:nvPr/>
        </p:nvSpPr>
        <p:spPr>
          <a:xfrm xmlns:a="http://schemas.openxmlformats.org/drawingml/2006/main">
            <a:off x="4324350" y="2400300"/>
            <a:ext cx="47625" cy="14668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2" name="">
            <a:extLst xmlns:a="http://schemas.openxmlformats.org/drawingml/2006/main">
              <a:ext uri="{FF2B5EF4-FFF2-40B4-BE49-F238E27FC236}">
                <a16:creationId xmlns:a16="http://schemas.microsoft.com/office/drawing/2014/main" id="{36912042-5C5C-4796-B08B-97F111A76563}"/>
              </a:ext>
            </a:extLst>
          </p:cNvPr>
          <p:cNvSpPr>
            <a:spLocks xmlns:a="http://schemas.openxmlformats.org/drawingml/2006/main" noGrp="1"/>
          </p:cNvSpPr>
          <p:nvPr/>
        </p:nvSpPr>
        <p:spPr>
          <a:xfrm xmlns:a="http://schemas.openxmlformats.org/drawingml/2006/main">
            <a:off x="4533900" y="25717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Players</a:t>
            </a:r>
          </a:p>
        </p:txBody>
      </p:sp>
      <p:sp>
        <p:nvSpPr>
          <p:cNvPr id="13" name="">
            <a:extLst xmlns:a="http://schemas.openxmlformats.org/drawingml/2006/main">
              <a:ext uri="{FF2B5EF4-FFF2-40B4-BE49-F238E27FC236}">
                <a16:creationId xmlns:a16="http://schemas.microsoft.com/office/drawing/2014/main" id="{A4E73D72-7E0F-4BA9-8A94-21B385336606}"/>
              </a:ext>
            </a:extLst>
          </p:cNvPr>
          <p:cNvSpPr>
            <a:spLocks xmlns:a="http://schemas.openxmlformats.org/drawingml/2006/main" noGrp="1"/>
          </p:cNvSpPr>
          <p:nvPr/>
        </p:nvSpPr>
        <p:spPr>
          <a:xfrm xmlns:a="http://schemas.openxmlformats.org/drawingml/2006/main">
            <a:off x="4533900" y="2933700"/>
            <a:ext cx="272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GET /players</a:t>
            </a:r>
          </a:p>
          <a:p xmlns:a="http://schemas.openxmlformats.org/drawingml/2006/main">
            <a:pPr>
              <a:defRPr sz="1050" b="0">
                <a:solidFill>
                  <a:srgbClr val="B8BECF"/>
                </a:solidFill>
              </a:defRPr>
            </a:pPr>
            <a:r>
              <a:rPr sz="1050" b="0">
                <a:solidFill>
                  <a:srgbClr val="B8BECF"/>
                </a:solidFill>
              </a:rPr>
              <a:t>GET /players/:id</a:t>
            </a:r>
          </a:p>
          <a:p xmlns:a="http://schemas.openxmlformats.org/drawingml/2006/main">
            <a:pPr>
              <a:defRPr sz="1050" b="0">
                <a:solidFill>
                  <a:srgbClr val="B8BECF"/>
                </a:solidFill>
              </a:defRPr>
            </a:pPr>
            <a:r>
              <a:rPr sz="1050" b="0">
                <a:solidFill>
                  <a:srgbClr val="B8BECF"/>
                </a:solidFill>
              </a:rPr>
              <a:t>POST /players</a:t>
            </a:r>
          </a:p>
          <a:p xmlns:a="http://schemas.openxmlformats.org/drawingml/2006/main">
            <a:pPr>
              <a:defRPr sz="1050" b="0">
                <a:solidFill>
                  <a:srgbClr val="B8BECF"/>
                </a:solidFill>
              </a:defRPr>
            </a:pPr>
            <a:r>
              <a:rPr sz="1050" b="0">
                <a:solidFill>
                  <a:srgbClr val="B8BECF"/>
                </a:solidFill>
              </a:rPr>
              <a:t>PUT /players/:id</a:t>
            </a:r>
          </a:p>
          <a:p xmlns:a="http://schemas.openxmlformats.org/drawingml/2006/main">
            <a:pPr>
              <a:defRPr sz="1050" b="0">
                <a:solidFill>
                  <a:srgbClr val="B8BECF"/>
                </a:solidFill>
              </a:defRPr>
            </a:pPr>
            <a:r>
              <a:rPr sz="1050" b="0">
                <a:solidFill>
                  <a:srgbClr val="B8BECF"/>
                </a:solidFill>
              </a:rPr>
              <a:t>DELETE /players/:id</a:t>
            </a:r>
          </a:p>
        </p:txBody>
      </p:sp>
      <p:sp>
        <p:nvSpPr>
          <p:cNvPr id="14" name="">
            <a:extLst xmlns:a="http://schemas.openxmlformats.org/drawingml/2006/main">
              <a:ext uri="{FF2B5EF4-FFF2-40B4-BE49-F238E27FC236}">
                <a16:creationId xmlns:a16="http://schemas.microsoft.com/office/drawing/2014/main" id="{0861B694-3025-4C68-A988-A974DCD9B6FA}"/>
              </a:ext>
            </a:extLst>
          </p:cNvPr>
          <p:cNvSpPr>
            <a:spLocks xmlns:a="http://schemas.openxmlformats.org/drawingml/2006/main" noGrp="1"/>
          </p:cNvSpPr>
          <p:nvPr/>
        </p:nvSpPr>
        <p:spPr>
          <a:xfrm xmlns:a="http://schemas.openxmlformats.org/drawingml/2006/main">
            <a:off x="7962900" y="2400300"/>
            <a:ext cx="3143250" cy="1638300"/>
          </a:xfrm>
          <a:prstGeom xmlns:a="http://schemas.openxmlformats.org/drawingml/2006/main" prst="roundRect">
            <a:avLst>
              <a:gd name="adj" fmla="val 5814"/>
            </a:avLst>
          </a:prstGeom>
          <a:solidFill xmlns:a="http://schemas.openxmlformats.org/drawingml/2006/main">
            <a:srgbClr val="15161A"/>
          </a:solidFill>
          <a:ln xmlns:a="http://schemas.openxmlformats.org/drawingml/2006/main" w="9525">
            <a:solidFill>
              <a:srgbClr val="34363D"/>
            </a:solidFill>
            <a:prstDash val="solid"/>
          </a:ln>
        </p:spPr>
      </p:sp>
      <p:sp>
        <p:nvSpPr>
          <p:cNvPr id="15" name="">
            <a:extLst xmlns:a="http://schemas.openxmlformats.org/drawingml/2006/main">
              <a:ext uri="{FF2B5EF4-FFF2-40B4-BE49-F238E27FC236}">
                <a16:creationId xmlns:a16="http://schemas.microsoft.com/office/drawing/2014/main" id="{F8C2748B-E6EC-403C-8430-5F2A73577329}"/>
              </a:ext>
            </a:extLst>
          </p:cNvPr>
          <p:cNvSpPr>
            <a:spLocks xmlns:a="http://schemas.openxmlformats.org/drawingml/2006/main" noGrp="1"/>
          </p:cNvSpPr>
          <p:nvPr/>
        </p:nvSpPr>
        <p:spPr>
          <a:xfrm xmlns:a="http://schemas.openxmlformats.org/drawingml/2006/main">
            <a:off x="7962900" y="2400300"/>
            <a:ext cx="47625" cy="163830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16" name="">
            <a:extLst xmlns:a="http://schemas.openxmlformats.org/drawingml/2006/main">
              <a:ext uri="{FF2B5EF4-FFF2-40B4-BE49-F238E27FC236}">
                <a16:creationId xmlns:a16="http://schemas.microsoft.com/office/drawing/2014/main" id="{1219920C-8059-49FF-AAF5-EC8B7F8516C8}"/>
              </a:ext>
            </a:extLst>
          </p:cNvPr>
          <p:cNvSpPr>
            <a:spLocks xmlns:a="http://schemas.openxmlformats.org/drawingml/2006/main" noGrp="1"/>
          </p:cNvSpPr>
          <p:nvPr/>
        </p:nvSpPr>
        <p:spPr>
          <a:xfrm xmlns:a="http://schemas.openxmlformats.org/drawingml/2006/main">
            <a:off x="8172450" y="25717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Matches</a:t>
            </a:r>
          </a:p>
        </p:txBody>
      </p:sp>
      <p:sp>
        <p:nvSpPr>
          <p:cNvPr id="17" name="">
            <a:extLst xmlns:a="http://schemas.openxmlformats.org/drawingml/2006/main">
              <a:ext uri="{FF2B5EF4-FFF2-40B4-BE49-F238E27FC236}">
                <a16:creationId xmlns:a16="http://schemas.microsoft.com/office/drawing/2014/main" id="{894DCA69-85E5-4049-BE03-4E53F54EF0DC}"/>
              </a:ext>
            </a:extLst>
          </p:cNvPr>
          <p:cNvSpPr>
            <a:spLocks xmlns:a="http://schemas.openxmlformats.org/drawingml/2006/main" noGrp="1"/>
          </p:cNvSpPr>
          <p:nvPr/>
        </p:nvSpPr>
        <p:spPr>
          <a:xfrm xmlns:a="http://schemas.openxmlformats.org/drawingml/2006/main">
            <a:off x="8172450" y="2933700"/>
            <a:ext cx="27241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GET /matches</a:t>
            </a:r>
          </a:p>
          <a:p xmlns:a="http://schemas.openxmlformats.org/drawingml/2006/main">
            <a:pPr>
              <a:defRPr sz="1050" b="0">
                <a:solidFill>
                  <a:srgbClr val="B8BECF"/>
                </a:solidFill>
              </a:defRPr>
            </a:pPr>
            <a:r>
              <a:rPr sz="1050" b="0">
                <a:solidFill>
                  <a:srgbClr val="B8BECF"/>
                </a:solidFill>
              </a:rPr>
              <a:t>GET /matches/:id</a:t>
            </a:r>
          </a:p>
          <a:p xmlns:a="http://schemas.openxmlformats.org/drawingml/2006/main">
            <a:pPr>
              <a:defRPr sz="1050" b="0">
                <a:solidFill>
                  <a:srgbClr val="B8BECF"/>
                </a:solidFill>
              </a:defRPr>
            </a:pPr>
            <a:r>
              <a:rPr sz="1050" b="0">
                <a:solidFill>
                  <a:srgbClr val="B8BECF"/>
                </a:solidFill>
              </a:rPr>
              <a:t>POST /matches</a:t>
            </a:r>
          </a:p>
          <a:p xmlns:a="http://schemas.openxmlformats.org/drawingml/2006/main">
            <a:pPr>
              <a:defRPr sz="1050" b="0">
                <a:solidFill>
                  <a:srgbClr val="B8BECF"/>
                </a:solidFill>
              </a:defRPr>
            </a:pPr>
            <a:r>
              <a:rPr sz="1050" b="0">
                <a:solidFill>
                  <a:srgbClr val="B8BECF"/>
                </a:solidFill>
              </a:rPr>
              <a:t>POST /matches/reports</a:t>
            </a:r>
          </a:p>
          <a:p xmlns:a="http://schemas.openxmlformats.org/drawingml/2006/main">
            <a:pPr>
              <a:defRPr sz="1050" b="0">
                <a:solidFill>
                  <a:srgbClr val="B8BECF"/>
                </a:solidFill>
              </a:defRPr>
            </a:pPr>
            <a:r>
              <a:rPr sz="1050" b="0">
                <a:solidFill>
                  <a:srgbClr val="B8BECF"/>
                </a:solidFill>
              </a:rPr>
              <a:t>POST /matches/:id/rallies</a:t>
            </a:r>
          </a:p>
          <a:p xmlns:a="http://schemas.openxmlformats.org/drawingml/2006/main">
            <a:pPr>
              <a:defRPr sz="1050" b="0">
                <a:solidFill>
                  <a:srgbClr val="B8BECF"/>
                </a:solidFill>
              </a:defRPr>
            </a:pPr>
            <a:r>
              <a:rPr sz="1050" b="0">
                <a:solidFill>
                  <a:srgbClr val="B8BECF"/>
                </a:solidFill>
              </a:rPr>
              <a:t>POST /matches/:id/shots</a:t>
            </a:r>
          </a:p>
          <a:p xmlns:a="http://schemas.openxmlformats.org/drawingml/2006/main">
            <a:pPr>
              <a:defRPr sz="1050" b="0">
                <a:solidFill>
                  <a:srgbClr val="B8BECF"/>
                </a:solidFill>
              </a:defRPr>
            </a:pPr>
            <a:r>
              <a:rPr sz="1050" b="0">
                <a:solidFill>
                  <a:srgbClr val="B8BECF"/>
                </a:solidFill>
              </a:rPr>
              <a:t>DELETE /matches/:id</a:t>
            </a:r>
          </a:p>
        </p:txBody>
      </p:sp>
      <p:sp>
        <p:nvSpPr>
          <p:cNvPr id="18" name="">
            <a:extLst xmlns:a="http://schemas.openxmlformats.org/drawingml/2006/main">
              <a:ext uri="{FF2B5EF4-FFF2-40B4-BE49-F238E27FC236}">
                <a16:creationId xmlns:a16="http://schemas.microsoft.com/office/drawing/2014/main" id="{E45DF809-5CF0-4FB2-83B2-16EDC27232AF}"/>
              </a:ext>
            </a:extLst>
          </p:cNvPr>
          <p:cNvSpPr>
            <a:spLocks xmlns:a="http://schemas.openxmlformats.org/drawingml/2006/main" noGrp="1"/>
          </p:cNvSpPr>
          <p:nvPr/>
        </p:nvSpPr>
        <p:spPr>
          <a:xfrm xmlns:a="http://schemas.openxmlformats.org/drawingml/2006/main">
            <a:off x="685800" y="4476750"/>
            <a:ext cx="3143250" cy="1466850"/>
          </a:xfrm>
          <a:prstGeom xmlns:a="http://schemas.openxmlformats.org/drawingml/2006/main" prst="roundRect">
            <a:avLst>
              <a:gd name="adj" fmla="val 6494"/>
            </a:avLst>
          </a:prstGeom>
          <a:solidFill xmlns:a="http://schemas.openxmlformats.org/drawingml/2006/main">
            <a:srgbClr val="15161A"/>
          </a:solidFill>
          <a:ln xmlns:a="http://schemas.openxmlformats.org/drawingml/2006/main" w="9525">
            <a:solidFill>
              <a:srgbClr val="34363D"/>
            </a:solidFill>
            <a:prstDash val="solid"/>
          </a:ln>
        </p:spPr>
      </p:sp>
      <p:sp>
        <p:nvSpPr>
          <p:cNvPr id="19" name="">
            <a:extLst xmlns:a="http://schemas.openxmlformats.org/drawingml/2006/main">
              <a:ext uri="{FF2B5EF4-FFF2-40B4-BE49-F238E27FC236}">
                <a16:creationId xmlns:a16="http://schemas.microsoft.com/office/drawing/2014/main" id="{624553E7-9010-40F3-AD00-8E4BF5928DF1}"/>
              </a:ext>
            </a:extLst>
          </p:cNvPr>
          <p:cNvSpPr>
            <a:spLocks xmlns:a="http://schemas.openxmlformats.org/drawingml/2006/main" noGrp="1"/>
          </p:cNvSpPr>
          <p:nvPr/>
        </p:nvSpPr>
        <p:spPr>
          <a:xfrm xmlns:a="http://schemas.openxmlformats.org/drawingml/2006/main">
            <a:off x="685800" y="4476750"/>
            <a:ext cx="47625" cy="1466850"/>
          </a:xfrm>
          <a:prstGeom xmlns:a="http://schemas.openxmlformats.org/drawingml/2006/main" prst="rect">
            <a:avLst/>
          </a:prstGeom>
          <a:solidFill xmlns:a="http://schemas.openxmlformats.org/drawingml/2006/main">
            <a:srgbClr val="D7FF00"/>
          </a:solidFill>
          <a:ln xmlns:a="http://schemas.openxmlformats.org/drawingml/2006/main" w="0">
            <a:solidFill>
              <a:srgbClr val="D7FF00"/>
            </a:solidFill>
            <a:prstDash val="solid"/>
          </a:ln>
        </p:spPr>
      </p:sp>
      <p:sp>
        <p:nvSpPr>
          <p:cNvPr id="20" name="">
            <a:extLst xmlns:a="http://schemas.openxmlformats.org/drawingml/2006/main">
              <a:ext uri="{FF2B5EF4-FFF2-40B4-BE49-F238E27FC236}">
                <a16:creationId xmlns:a16="http://schemas.microsoft.com/office/drawing/2014/main" id="{075A8591-851C-46C9-916B-981D91D0DAF2}"/>
              </a:ext>
            </a:extLst>
          </p:cNvPr>
          <p:cNvSpPr>
            <a:spLocks xmlns:a="http://schemas.openxmlformats.org/drawingml/2006/main" noGrp="1"/>
          </p:cNvSpPr>
          <p:nvPr/>
        </p:nvSpPr>
        <p:spPr>
          <a:xfrm xmlns:a="http://schemas.openxmlformats.org/drawingml/2006/main">
            <a:off x="895350" y="46482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Training</a:t>
            </a:r>
          </a:p>
        </p:txBody>
      </p:sp>
      <p:sp>
        <p:nvSpPr>
          <p:cNvPr id="21" name="">
            <a:extLst xmlns:a="http://schemas.openxmlformats.org/drawingml/2006/main">
              <a:ext uri="{FF2B5EF4-FFF2-40B4-BE49-F238E27FC236}">
                <a16:creationId xmlns:a16="http://schemas.microsoft.com/office/drawing/2014/main" id="{A94F74E5-44DC-4CB2-9117-CE759F6B4CA0}"/>
              </a:ext>
            </a:extLst>
          </p:cNvPr>
          <p:cNvSpPr>
            <a:spLocks xmlns:a="http://schemas.openxmlformats.org/drawingml/2006/main" noGrp="1"/>
          </p:cNvSpPr>
          <p:nvPr/>
        </p:nvSpPr>
        <p:spPr>
          <a:xfrm xmlns:a="http://schemas.openxmlformats.org/drawingml/2006/main">
            <a:off x="895350" y="5010150"/>
            <a:ext cx="272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GET /training</a:t>
            </a:r>
          </a:p>
          <a:p xmlns:a="http://schemas.openxmlformats.org/drawingml/2006/main">
            <a:pPr>
              <a:defRPr sz="1050" b="0">
                <a:solidFill>
                  <a:srgbClr val="B8BECF"/>
                </a:solidFill>
              </a:defRPr>
            </a:pPr>
            <a:r>
              <a:rPr sz="1050" b="0">
                <a:solidFill>
                  <a:srgbClr val="B8BECF"/>
                </a:solidFill>
              </a:rPr>
              <a:t>GET /training/player/:playerId</a:t>
            </a:r>
          </a:p>
          <a:p xmlns:a="http://schemas.openxmlformats.org/drawingml/2006/main">
            <a:pPr>
              <a:defRPr sz="1050" b="0">
                <a:solidFill>
                  <a:srgbClr val="B8BECF"/>
                </a:solidFill>
              </a:defRPr>
            </a:pPr>
            <a:r>
              <a:rPr sz="1050" b="0">
                <a:solidFill>
                  <a:srgbClr val="B8BECF"/>
                </a:solidFill>
              </a:rPr>
              <a:t>POST /training</a:t>
            </a:r>
          </a:p>
          <a:p xmlns:a="http://schemas.openxmlformats.org/drawingml/2006/main">
            <a:pPr>
              <a:defRPr sz="1050" b="0">
                <a:solidFill>
                  <a:srgbClr val="B8BECF"/>
                </a:solidFill>
              </a:defRPr>
            </a:pPr>
            <a:r>
              <a:rPr sz="1050" b="0">
                <a:solidFill>
                  <a:srgbClr val="B8BECF"/>
                </a:solidFill>
              </a:rPr>
              <a:t>DELETE /training/:id</a:t>
            </a:r>
          </a:p>
        </p:txBody>
      </p:sp>
      <p:sp>
        <p:nvSpPr>
          <p:cNvPr id="22" name="">
            <a:extLst xmlns:a="http://schemas.openxmlformats.org/drawingml/2006/main">
              <a:ext uri="{FF2B5EF4-FFF2-40B4-BE49-F238E27FC236}">
                <a16:creationId xmlns:a16="http://schemas.microsoft.com/office/drawing/2014/main" id="{76AF54AC-4E3A-4462-9B8C-5F10F87F3C68}"/>
              </a:ext>
            </a:extLst>
          </p:cNvPr>
          <p:cNvSpPr>
            <a:spLocks xmlns:a="http://schemas.openxmlformats.org/drawingml/2006/main" noGrp="1"/>
          </p:cNvSpPr>
          <p:nvPr/>
        </p:nvSpPr>
        <p:spPr>
          <a:xfrm xmlns:a="http://schemas.openxmlformats.org/drawingml/2006/main">
            <a:off x="4324350" y="4476750"/>
            <a:ext cx="3143250" cy="1466850"/>
          </a:xfrm>
          <a:prstGeom xmlns:a="http://schemas.openxmlformats.org/drawingml/2006/main" prst="roundRect">
            <a:avLst>
              <a:gd name="adj" fmla="val 6494"/>
            </a:avLst>
          </a:prstGeom>
          <a:solidFill xmlns:a="http://schemas.openxmlformats.org/drawingml/2006/main">
            <a:srgbClr val="15161A"/>
          </a:solidFill>
          <a:ln xmlns:a="http://schemas.openxmlformats.org/drawingml/2006/main" w="9525">
            <a:solidFill>
              <a:srgbClr val="34363D"/>
            </a:solidFill>
            <a:prstDash val="solid"/>
          </a:ln>
        </p:spPr>
      </p:sp>
      <p:sp>
        <p:nvSpPr>
          <p:cNvPr id="23" name="">
            <a:extLst xmlns:a="http://schemas.openxmlformats.org/drawingml/2006/main">
              <a:ext uri="{FF2B5EF4-FFF2-40B4-BE49-F238E27FC236}">
                <a16:creationId xmlns:a16="http://schemas.microsoft.com/office/drawing/2014/main" id="{922A280E-BDF3-4EED-8168-0F65AFB26C2E}"/>
              </a:ext>
            </a:extLst>
          </p:cNvPr>
          <p:cNvSpPr>
            <a:spLocks xmlns:a="http://schemas.openxmlformats.org/drawingml/2006/main" noGrp="1"/>
          </p:cNvSpPr>
          <p:nvPr/>
        </p:nvSpPr>
        <p:spPr>
          <a:xfrm xmlns:a="http://schemas.openxmlformats.org/drawingml/2006/main">
            <a:off x="4324350" y="4476750"/>
            <a:ext cx="47625" cy="1466850"/>
          </a:xfrm>
          <a:prstGeom xmlns:a="http://schemas.openxmlformats.org/drawingml/2006/main" prst="rect">
            <a:avLst/>
          </a:prstGeom>
          <a:solidFill xmlns:a="http://schemas.openxmlformats.org/drawingml/2006/main">
            <a:srgbClr val="FF3B42"/>
          </a:solidFill>
          <a:ln xmlns:a="http://schemas.openxmlformats.org/drawingml/2006/main" w="0">
            <a:solidFill>
              <a:srgbClr val="FF3B42"/>
            </a:solidFill>
            <a:prstDash val="solid"/>
          </a:ln>
        </p:spPr>
      </p:sp>
      <p:sp>
        <p:nvSpPr>
          <p:cNvPr id="24" name="">
            <a:extLst xmlns:a="http://schemas.openxmlformats.org/drawingml/2006/main">
              <a:ext uri="{FF2B5EF4-FFF2-40B4-BE49-F238E27FC236}">
                <a16:creationId xmlns:a16="http://schemas.microsoft.com/office/drawing/2014/main" id="{ED073006-EBF5-44C2-A3EB-7B5A3856366F}"/>
              </a:ext>
            </a:extLst>
          </p:cNvPr>
          <p:cNvSpPr>
            <a:spLocks xmlns:a="http://schemas.openxmlformats.org/drawingml/2006/main" noGrp="1"/>
          </p:cNvSpPr>
          <p:nvPr/>
        </p:nvSpPr>
        <p:spPr>
          <a:xfrm xmlns:a="http://schemas.openxmlformats.org/drawingml/2006/main">
            <a:off x="4533900" y="46482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System</a:t>
            </a:r>
          </a:p>
        </p:txBody>
      </p:sp>
      <p:sp>
        <p:nvSpPr>
          <p:cNvPr id="25" name="">
            <a:extLst xmlns:a="http://schemas.openxmlformats.org/drawingml/2006/main">
              <a:ext uri="{FF2B5EF4-FFF2-40B4-BE49-F238E27FC236}">
                <a16:creationId xmlns:a16="http://schemas.microsoft.com/office/drawing/2014/main" id="{F1030D16-AFE7-48C8-960B-7081BD55D440}"/>
              </a:ext>
            </a:extLst>
          </p:cNvPr>
          <p:cNvSpPr>
            <a:spLocks xmlns:a="http://schemas.openxmlformats.org/drawingml/2006/main" noGrp="1"/>
          </p:cNvSpPr>
          <p:nvPr/>
        </p:nvSpPr>
        <p:spPr>
          <a:xfrm xmlns:a="http://schemas.openxmlformats.org/drawingml/2006/main">
            <a:off x="4533900" y="5010150"/>
            <a:ext cx="272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B8BECF"/>
                </a:solidFill>
              </a:defRPr>
            </a:pPr>
            <a:r>
              <a:rPr sz="1050" b="0">
                <a:solidFill>
                  <a:srgbClr val="B8BECF"/>
                </a:solidFill>
              </a:rPr>
              <a:t>GET /</a:t>
            </a:r>
          </a:p>
          <a:p xmlns:a="http://schemas.openxmlformats.org/drawingml/2006/main">
            <a:pPr>
              <a:defRPr sz="1050" b="0">
                <a:solidFill>
                  <a:srgbClr val="B8BECF"/>
                </a:solidFill>
              </a:defRPr>
            </a:pPr>
            <a:r>
              <a:rPr sz="1050" b="0">
                <a:solidFill>
                  <a:srgbClr val="B8BECF"/>
                </a:solidFill>
              </a:rPr>
              <a:t>GET /health</a:t>
            </a:r>
          </a:p>
        </p:txBody>
      </p:sp>
      <p:sp>
        <p:nvSpPr>
          <p:cNvPr id="26" name="">
            <a:extLst xmlns:a="http://schemas.openxmlformats.org/drawingml/2006/main">
              <a:ext uri="{FF2B5EF4-FFF2-40B4-BE49-F238E27FC236}">
                <a16:creationId xmlns:a16="http://schemas.microsoft.com/office/drawing/2014/main" id="{EEEC8885-CFE2-4392-B34D-3414179E8958}"/>
              </a:ext>
            </a:extLst>
          </p:cNvPr>
          <p:cNvSpPr>
            <a:spLocks xmlns:a="http://schemas.openxmlformats.org/drawingml/2006/main" noGrp="1"/>
          </p:cNvSpPr>
          <p:nvPr/>
        </p:nvSpPr>
        <p:spPr>
          <a:xfrm xmlns:a="http://schemas.openxmlformats.org/drawingml/2006/main">
            <a:off x="685800" y="59436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B8BECF"/>
                </a:solidFill>
              </a:defRPr>
            </a:pPr>
            <a:r>
              <a:rPr sz="1125" b="0">
                <a:solidFill>
                  <a:srgbClr val="B8BECF"/>
                </a:solidFill>
              </a:rPr>
              <a:t>Non-functional: responsive UI, backend validation, user/coach data ownership, soft delete, fast live-notation interaction and LocalStorage fallback.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5863419337544b34"/>
          <a:srcRect xmlns:a="http://schemas.openxmlformats.org/drawingml/2006/main" l="9799" t="0" r="9799" b="0"/>
          <a:stretch xmlns:a="http://schemas.openxmlformats.org/drawingml/2006/main">
            <a:fillRect l="0" t="0" r="0" b="0"/>
          </a:stretch>
        </p:blipFill>
        <p:spPr>
          <a:xfrm xmlns:a="http://schemas.openxmlformats.org/drawingml/2006/main">
            <a:off x="8782050" y="666750"/>
            <a:ext cx="2705100" cy="1524000"/>
          </a:xfrm>
          <a:prstGeom xmlns:a="http://schemas.openxmlformats.org/drawingml/2006/main" prst="roundRect">
            <a:avLst>
              <a:gd name="adj" fmla="val 5000"/>
            </a:avLst>
          </a:prstGeom>
        </p:spPr>
      </p:pic>
      <p:sp>
        <p:nvSpPr>
          <p:cNvPr id="28" name="">
            <a:extLst xmlns:a="http://schemas.openxmlformats.org/drawingml/2006/main">
              <a:ext uri="{FF2B5EF4-FFF2-40B4-BE49-F238E27FC236}">
                <a16:creationId xmlns:a16="http://schemas.microsoft.com/office/drawing/2014/main" id="{CDCED039-FADB-4EF4-95B8-52995CA214B1}"/>
              </a:ext>
            </a:extLst>
          </p:cNvPr>
          <p:cNvSpPr>
            <a:spLocks xmlns:a="http://schemas.openxmlformats.org/drawingml/2006/main" noGrp="1"/>
          </p:cNvSpPr>
          <p:nvPr/>
        </p:nvSpPr>
        <p:spPr>
          <a:xfrm xmlns:a="http://schemas.openxmlformats.org/drawingml/2006/main">
            <a:off x="685800" y="63436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0">
                <a:solidFill>
                  <a:srgbClr val="7E8494"/>
                </a:solidFill>
              </a:defRPr>
            </a:pPr>
            <a:r>
              <a:rPr sz="750" b="0">
                <a:solidFill>
                  <a:srgbClr val="7E8494"/>
                </a:solidFill>
              </a:rPr>
              <a:t>PROJECT SPECIFICATION  /  06</a:t>
            </a:r>
          </a:p>
        </p:txBody>
      </p:sp>
      <p:sp>
        <p:nvSpPr>
          <p:cNvPr id="29" name="">
            <a:extLst xmlns:a="http://schemas.openxmlformats.org/drawingml/2006/main">
              <a:ext uri="{FF2B5EF4-FFF2-40B4-BE49-F238E27FC236}">
                <a16:creationId xmlns:a16="http://schemas.microsoft.com/office/drawing/2014/main" id="{8740CAC7-0214-4D79-8E63-C549EC046863}"/>
              </a:ext>
            </a:extLst>
          </p:cNvPr>
          <p:cNvSpPr>
            <a:spLocks xmlns:a="http://schemas.openxmlformats.org/drawingml/2006/main" noGrp="1"/>
          </p:cNvSpPr>
          <p:nvPr/>
        </p:nvSpPr>
        <p:spPr>
          <a:xfrm xmlns:a="http://schemas.openxmlformats.org/drawingml/2006/main">
            <a:off x="9925050" y="6343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7E8494"/>
                </a:solidFill>
              </a:defRPr>
            </a:pPr>
            <a:r>
              <a:rPr sz="750" b="1">
                <a:solidFill>
                  <a:srgbClr val="7E8494"/>
                </a:solidFill>
              </a:rPr>
              <a:t>AKP SHUTTLETRACE</a:t>
            </a:r>
          </a:p>
        </p:txBody>
      </p:sp>
    </p:spTree>
    <p:extLst>
      <p:ext uri="{BB962C8B-B14F-4D97-AF65-F5344CB8AC3E}">
        <p14:creationId xmlns:p14="http://schemas.microsoft.com/office/powerpoint/2010/main" val="20677786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2026-08-26T14:11:05.0660000Z</dcterms:created>
  <dcterms:modified xsi:type="dcterms:W3CDTF">2026-08-26T14:11:05.0660000Z</dcterms:modified>
</coreProperties>
</file>